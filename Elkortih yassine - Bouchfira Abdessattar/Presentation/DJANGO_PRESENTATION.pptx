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83" r:id="rId3"/>
    <p:sldId id="286" r:id="rId4"/>
    <p:sldId id="325" r:id="rId5"/>
    <p:sldId id="326" r:id="rId6"/>
    <p:sldId id="329" r:id="rId7"/>
    <p:sldId id="330" r:id="rId8"/>
    <p:sldId id="331" r:id="rId9"/>
    <p:sldId id="314" r:id="rId10"/>
    <p:sldId id="260" r:id="rId11"/>
    <p:sldId id="327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23" r:id="rId20"/>
    <p:sldId id="328" r:id="rId21"/>
    <p:sldId id="324" r:id="rId22"/>
  </p:sldIdLst>
  <p:sldSz cx="18288000" cy="10287000"/>
  <p:notesSz cx="6858000" cy="9144000"/>
  <p:embeddedFontLst>
    <p:embeddedFont>
      <p:font typeface="Baskerville Old Face" panose="02020602080505020303" pitchFamily="18" charset="0"/>
      <p:regular r:id="rId24"/>
    </p:embeddedFont>
    <p:embeddedFont>
      <p:font typeface="Canva Sans" panose="020B0604020202020204" charset="0"/>
      <p:regular r:id="rId25"/>
    </p:embeddedFont>
    <p:embeddedFont>
      <p:font typeface="Canva Sans Bold" panose="020B0604020202020204" charset="0"/>
      <p:regular r:id="rId26"/>
    </p:embeddedFont>
    <p:embeddedFont>
      <p:font typeface="Canva Sans Bold Italics" panose="020B0604020202020204" charset="0"/>
      <p:regular r:id="rId27"/>
    </p:embeddedFont>
    <p:embeddedFont>
      <p:font typeface="Century Gothic Paneuropean Bold" panose="020B0604020202020204" charset="0"/>
      <p:regular r:id="rId28"/>
    </p:embeddedFont>
    <p:embeddedFont>
      <p:font typeface="Open Sauce Bold" panose="020B0604020202020204" charset="0"/>
      <p:regular r:id="rId29"/>
    </p:embeddedFon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Poppins Bold" panose="00000800000000000000" charset="0"/>
      <p:bold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89401752-97A6-4847-BAC6-8EDD30B37D88}">
          <p14:sldIdLst>
            <p14:sldId id="256"/>
            <p14:sldId id="283"/>
          </p14:sldIdLst>
        </p14:section>
        <p14:section name="introduction" id="{9C952E88-64A8-449A-A078-9C71678F376B}">
          <p14:sldIdLst>
            <p14:sldId id="286"/>
            <p14:sldId id="325"/>
            <p14:sldId id="326"/>
            <p14:sldId id="329"/>
            <p14:sldId id="330"/>
            <p14:sldId id="331"/>
          </p14:sldIdLst>
        </p14:section>
        <p14:section name="presentation" id="{6AD06B41-B5B4-45B6-A082-0978568DAA54}">
          <p14:sldIdLst>
            <p14:sldId id="314"/>
            <p14:sldId id="260"/>
            <p14:sldId id="327"/>
            <p14:sldId id="332"/>
            <p14:sldId id="333"/>
            <p14:sldId id="334"/>
            <p14:sldId id="335"/>
            <p14:sldId id="336"/>
            <p14:sldId id="337"/>
            <p14:sldId id="338"/>
            <p14:sldId id="323"/>
            <p14:sldId id="328"/>
            <p14:sldId id="324"/>
          </p14:sldIdLst>
        </p14:section>
        <p14:section name="technologies" id="{48F9DCB4-4E68-4A67-8C2C-CEF0BEF99681}">
          <p14:sldIdLst/>
        </p14:section>
        <p14:section name="uml" id="{474C0471-0815-448C-AFA3-19ECD0A312B1}">
          <p14:sldIdLst/>
        </p14:section>
        <p14:section name="Realisation" id="{055A5B58-2CEF-4A8A-AF93-05151825CD3B}">
          <p14:sldIdLst/>
        </p14:section>
        <p14:section name="Conclusion" id="{06CC4AF9-C482-4589-AE3B-3CF3AD4EF19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C583"/>
    <a:srgbClr val="4E88E7"/>
    <a:srgbClr val="DE58A9"/>
    <a:srgbClr val="7F64EA"/>
    <a:srgbClr val="1EABDA"/>
    <a:srgbClr val="92BD39"/>
    <a:srgbClr val="A1D3D3"/>
    <a:srgbClr val="5CA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162" autoAdjust="0"/>
    <p:restoredTop sz="94622" autoAdjust="0"/>
  </p:normalViewPr>
  <p:slideViewPr>
    <p:cSldViewPr>
      <p:cViewPr>
        <p:scale>
          <a:sx n="75" d="100"/>
          <a:sy n="75" d="100"/>
        </p:scale>
        <p:origin x="-1920" y="-5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2:17:09.5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DF7236-B2E6-4440-A233-FE0D6DEBC2D6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76754-E37A-4457-A47C-86AFD429A7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8584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76754-E37A-4457-A47C-86AFD429A749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9030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796AD-5F8A-66FF-5244-51BE23765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3D006-0A33-B978-E07B-CD7CDC8CA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FFCBD-280C-05BD-9FE3-D17BCB676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8CCB5-2B7E-B8EB-0580-0AEEAA213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76754-E37A-4457-A47C-86AFD429A749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5215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svg"/><Relationship Id="rId7" Type="http://schemas.openxmlformats.org/officeDocument/2006/relationships/image" Target="../media/image1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8.svg"/><Relationship Id="rId4" Type="http://schemas.openxmlformats.org/officeDocument/2006/relationships/image" Target="../media/image5.png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7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9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0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3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8A666676-81A9-DCBE-394C-B11A89710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78052" y="2552700"/>
            <a:ext cx="12514748" cy="658144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1295334">
            <a:off x="12347034" y="-3973192"/>
            <a:ext cx="7330889" cy="6609232"/>
            <a:chOff x="0" y="0"/>
            <a:chExt cx="812800" cy="7327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46" name="Hexagon 45">
            <a:extLst>
              <a:ext uri="{FF2B5EF4-FFF2-40B4-BE49-F238E27FC236}">
                <a16:creationId xmlns:a16="http://schemas.microsoft.com/office/drawing/2014/main" id="{7E9C4E6B-4E3B-F6F0-2F5D-DFB88EDC9BCF}"/>
              </a:ext>
            </a:extLst>
          </p:cNvPr>
          <p:cNvSpPr/>
          <p:nvPr/>
        </p:nvSpPr>
        <p:spPr>
          <a:xfrm>
            <a:off x="15177905" y="1137108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5A6D44B-D00E-68A1-3035-D676D4E90E46}"/>
              </a:ext>
            </a:extLst>
          </p:cNvPr>
          <p:cNvGrpSpPr>
            <a:grpSpLocks/>
          </p:cNvGrpSpPr>
          <p:nvPr/>
        </p:nvGrpSpPr>
        <p:grpSpPr>
          <a:xfrm>
            <a:off x="9077853" y="3647423"/>
            <a:ext cx="6508015" cy="3334539"/>
            <a:chOff x="0" y="0"/>
            <a:chExt cx="3885565" cy="2131695"/>
          </a:xfrm>
        </p:grpSpPr>
        <p:sp>
          <p:nvSpPr>
            <p:cNvPr id="56" name="Graphic 18">
              <a:extLst>
                <a:ext uri="{FF2B5EF4-FFF2-40B4-BE49-F238E27FC236}">
                  <a16:creationId xmlns:a16="http://schemas.microsoft.com/office/drawing/2014/main" id="{D1D754A5-B520-02CF-33C7-70CE729B06F1}"/>
                </a:ext>
              </a:extLst>
            </p:cNvPr>
            <p:cNvSpPr/>
            <p:nvPr/>
          </p:nvSpPr>
          <p:spPr>
            <a:xfrm>
              <a:off x="8255" y="8595"/>
              <a:ext cx="3877310" cy="123189"/>
            </a:xfrm>
            <a:custGeom>
              <a:avLst/>
              <a:gdLst/>
              <a:ahLst/>
              <a:cxnLst/>
              <a:rect l="l" t="t" r="r" b="b"/>
              <a:pathLst>
                <a:path w="3877310" h="123189">
                  <a:moveTo>
                    <a:pt x="3877164" y="122779"/>
                  </a:moveTo>
                  <a:lnTo>
                    <a:pt x="0" y="122779"/>
                  </a:lnTo>
                  <a:lnTo>
                    <a:pt x="0" y="83523"/>
                  </a:lnTo>
                  <a:lnTo>
                    <a:pt x="6590" y="51093"/>
                  </a:lnTo>
                  <a:lnTo>
                    <a:pt x="24535" y="24535"/>
                  </a:lnTo>
                  <a:lnTo>
                    <a:pt x="51092" y="6590"/>
                  </a:lnTo>
                  <a:lnTo>
                    <a:pt x="83523" y="0"/>
                  </a:lnTo>
                  <a:lnTo>
                    <a:pt x="3793641" y="0"/>
                  </a:lnTo>
                  <a:lnTo>
                    <a:pt x="3826072" y="6590"/>
                  </a:lnTo>
                  <a:lnTo>
                    <a:pt x="3852629" y="24535"/>
                  </a:lnTo>
                  <a:lnTo>
                    <a:pt x="3870574" y="51093"/>
                  </a:lnTo>
                  <a:lnTo>
                    <a:pt x="3877164" y="83523"/>
                  </a:lnTo>
                  <a:lnTo>
                    <a:pt x="3877164" y="122779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fr-MA" dirty="0"/>
            </a:p>
          </p:txBody>
        </p:sp>
        <p:pic>
          <p:nvPicPr>
            <p:cNvPr id="57" name="Image 19">
              <a:extLst>
                <a:ext uri="{FF2B5EF4-FFF2-40B4-BE49-F238E27FC236}">
                  <a16:creationId xmlns:a16="http://schemas.microsoft.com/office/drawing/2014/main" id="{4492156F-17CF-7C6F-343C-932D7F0591E3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749" y="153544"/>
              <a:ext cx="3845296" cy="1971974"/>
            </a:xfrm>
            <a:prstGeom prst="rect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80000">
                  <a:schemeClr val="tx2">
                    <a:lumMod val="60000"/>
                    <a:lumOff val="4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</a:gradFill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</p:pic>
        <p:sp>
          <p:nvSpPr>
            <p:cNvPr id="58" name="Graphic 20">
              <a:extLst>
                <a:ext uri="{FF2B5EF4-FFF2-40B4-BE49-F238E27FC236}">
                  <a16:creationId xmlns:a16="http://schemas.microsoft.com/office/drawing/2014/main" id="{F946DF30-35C5-8D1F-C6B0-AE8F47E2EB35}"/>
                </a:ext>
              </a:extLst>
            </p:cNvPr>
            <p:cNvSpPr/>
            <p:nvPr/>
          </p:nvSpPr>
          <p:spPr>
            <a:xfrm>
              <a:off x="0" y="0"/>
              <a:ext cx="3885565" cy="2131695"/>
            </a:xfrm>
            <a:custGeom>
              <a:avLst/>
              <a:gdLst/>
              <a:ahLst/>
              <a:cxnLst/>
              <a:rect l="l" t="t" r="r" b="b"/>
              <a:pathLst>
                <a:path w="3885565" h="2131695">
                  <a:moveTo>
                    <a:pt x="3797817" y="2131521"/>
                  </a:moveTo>
                  <a:lnTo>
                    <a:pt x="87699" y="2131521"/>
                  </a:lnTo>
                  <a:lnTo>
                    <a:pt x="53559" y="2124631"/>
                  </a:lnTo>
                  <a:lnTo>
                    <a:pt x="25683" y="2105838"/>
                  </a:lnTo>
                  <a:lnTo>
                    <a:pt x="6890" y="2077962"/>
                  </a:lnTo>
                  <a:lnTo>
                    <a:pt x="0" y="2043822"/>
                  </a:lnTo>
                  <a:lnTo>
                    <a:pt x="0" y="87699"/>
                  </a:lnTo>
                  <a:lnTo>
                    <a:pt x="6890" y="53559"/>
                  </a:lnTo>
                  <a:lnTo>
                    <a:pt x="25683" y="25683"/>
                  </a:lnTo>
                  <a:lnTo>
                    <a:pt x="53559" y="6890"/>
                  </a:lnTo>
                  <a:lnTo>
                    <a:pt x="87699" y="0"/>
                  </a:lnTo>
                  <a:lnTo>
                    <a:pt x="3797817" y="0"/>
                  </a:lnTo>
                  <a:lnTo>
                    <a:pt x="3831957" y="6890"/>
                  </a:lnTo>
                  <a:lnTo>
                    <a:pt x="3834125" y="8352"/>
                  </a:lnTo>
                  <a:lnTo>
                    <a:pt x="87699" y="8352"/>
                  </a:lnTo>
                  <a:lnTo>
                    <a:pt x="56978" y="14642"/>
                  </a:lnTo>
                  <a:lnTo>
                    <a:pt x="31738" y="31738"/>
                  </a:lnTo>
                  <a:lnTo>
                    <a:pt x="14642" y="56978"/>
                  </a:lnTo>
                  <a:lnTo>
                    <a:pt x="8352" y="87699"/>
                  </a:lnTo>
                  <a:lnTo>
                    <a:pt x="8352" y="122779"/>
                  </a:lnTo>
                  <a:lnTo>
                    <a:pt x="3885517" y="122779"/>
                  </a:lnTo>
                  <a:lnTo>
                    <a:pt x="3885517" y="131132"/>
                  </a:lnTo>
                  <a:lnTo>
                    <a:pt x="8352" y="131132"/>
                  </a:lnTo>
                  <a:lnTo>
                    <a:pt x="8352" y="2043822"/>
                  </a:lnTo>
                  <a:lnTo>
                    <a:pt x="14642" y="2074543"/>
                  </a:lnTo>
                  <a:lnTo>
                    <a:pt x="31738" y="2099783"/>
                  </a:lnTo>
                  <a:lnTo>
                    <a:pt x="57152" y="2116996"/>
                  </a:lnTo>
                  <a:lnTo>
                    <a:pt x="57552" y="2116996"/>
                  </a:lnTo>
                  <a:lnTo>
                    <a:pt x="87699" y="2123169"/>
                  </a:lnTo>
                  <a:lnTo>
                    <a:pt x="3834125" y="2123169"/>
                  </a:lnTo>
                  <a:lnTo>
                    <a:pt x="3831957" y="2124631"/>
                  </a:lnTo>
                  <a:lnTo>
                    <a:pt x="3797817" y="2131521"/>
                  </a:lnTo>
                  <a:close/>
                </a:path>
                <a:path w="3885565" h="2131695">
                  <a:moveTo>
                    <a:pt x="3885517" y="122779"/>
                  </a:moveTo>
                  <a:lnTo>
                    <a:pt x="3877164" y="122779"/>
                  </a:lnTo>
                  <a:lnTo>
                    <a:pt x="3877164" y="87699"/>
                  </a:lnTo>
                  <a:lnTo>
                    <a:pt x="3870874" y="56978"/>
                  </a:lnTo>
                  <a:lnTo>
                    <a:pt x="3853778" y="31738"/>
                  </a:lnTo>
                  <a:lnTo>
                    <a:pt x="3828538" y="14642"/>
                  </a:lnTo>
                  <a:lnTo>
                    <a:pt x="3797817" y="8352"/>
                  </a:lnTo>
                  <a:lnTo>
                    <a:pt x="3834125" y="8352"/>
                  </a:lnTo>
                  <a:lnTo>
                    <a:pt x="3859833" y="25683"/>
                  </a:lnTo>
                  <a:lnTo>
                    <a:pt x="3878626" y="53559"/>
                  </a:lnTo>
                  <a:lnTo>
                    <a:pt x="3885517" y="87699"/>
                  </a:lnTo>
                  <a:lnTo>
                    <a:pt x="3885517" y="122779"/>
                  </a:lnTo>
                  <a:close/>
                </a:path>
                <a:path w="3885565" h="2131695">
                  <a:moveTo>
                    <a:pt x="3834125" y="2123169"/>
                  </a:moveTo>
                  <a:lnTo>
                    <a:pt x="3797817" y="2123169"/>
                  </a:lnTo>
                  <a:lnTo>
                    <a:pt x="3828890" y="2116996"/>
                  </a:lnTo>
                  <a:lnTo>
                    <a:pt x="3854091" y="2100096"/>
                  </a:lnTo>
                  <a:lnTo>
                    <a:pt x="3870992" y="2074895"/>
                  </a:lnTo>
                  <a:lnTo>
                    <a:pt x="3877164" y="2043822"/>
                  </a:lnTo>
                  <a:lnTo>
                    <a:pt x="3877164" y="131132"/>
                  </a:lnTo>
                  <a:lnTo>
                    <a:pt x="3885517" y="131132"/>
                  </a:lnTo>
                  <a:lnTo>
                    <a:pt x="3885517" y="2043822"/>
                  </a:lnTo>
                  <a:lnTo>
                    <a:pt x="3878626" y="2077962"/>
                  </a:lnTo>
                  <a:lnTo>
                    <a:pt x="3859833" y="2105838"/>
                  </a:lnTo>
                  <a:lnTo>
                    <a:pt x="3834125" y="2123169"/>
                  </a:lnTo>
                  <a:close/>
                </a:path>
              </a:pathLst>
            </a:cu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80000">
                  <a:schemeClr val="tx2">
                    <a:lumMod val="60000"/>
                    <a:lumOff val="4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</a:gradFill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fr-MA"/>
            </a:p>
          </p:txBody>
        </p:sp>
        <p:sp>
          <p:nvSpPr>
            <p:cNvPr id="59" name="Graphic 21">
              <a:extLst>
                <a:ext uri="{FF2B5EF4-FFF2-40B4-BE49-F238E27FC236}">
                  <a16:creationId xmlns:a16="http://schemas.microsoft.com/office/drawing/2014/main" id="{3EB83D3E-98D0-9B5B-2C67-8CCF8F94D525}"/>
                </a:ext>
              </a:extLst>
            </p:cNvPr>
            <p:cNvSpPr/>
            <p:nvPr/>
          </p:nvSpPr>
          <p:spPr>
            <a:xfrm>
              <a:off x="98557" y="48443"/>
              <a:ext cx="197485" cy="41910"/>
            </a:xfrm>
            <a:custGeom>
              <a:avLst/>
              <a:gdLst/>
              <a:ahLst/>
              <a:cxnLst/>
              <a:rect l="l" t="t" r="r" b="b"/>
              <a:pathLst>
                <a:path w="197485" h="41910">
                  <a:moveTo>
                    <a:pt x="119438" y="41761"/>
                  </a:moveTo>
                  <a:lnTo>
                    <a:pt x="77676" y="41761"/>
                  </a:lnTo>
                  <a:lnTo>
                    <a:pt x="77676" y="0"/>
                  </a:lnTo>
                  <a:lnTo>
                    <a:pt x="119438" y="0"/>
                  </a:lnTo>
                  <a:lnTo>
                    <a:pt x="119438" y="41761"/>
                  </a:lnTo>
                  <a:close/>
                </a:path>
                <a:path w="197485" h="41910">
                  <a:moveTo>
                    <a:pt x="20880" y="41761"/>
                  </a:moveTo>
                  <a:lnTo>
                    <a:pt x="12685" y="40143"/>
                  </a:lnTo>
                  <a:lnTo>
                    <a:pt x="6055" y="35706"/>
                  </a:lnTo>
                  <a:lnTo>
                    <a:pt x="1618" y="29076"/>
                  </a:lnTo>
                  <a:lnTo>
                    <a:pt x="0" y="20880"/>
                  </a:lnTo>
                  <a:lnTo>
                    <a:pt x="1618" y="12685"/>
                  </a:lnTo>
                  <a:lnTo>
                    <a:pt x="6055" y="6055"/>
                  </a:lnTo>
                  <a:lnTo>
                    <a:pt x="12685" y="1618"/>
                  </a:lnTo>
                  <a:lnTo>
                    <a:pt x="20880" y="0"/>
                  </a:lnTo>
                  <a:lnTo>
                    <a:pt x="29076" y="1618"/>
                  </a:lnTo>
                  <a:lnTo>
                    <a:pt x="35706" y="6055"/>
                  </a:lnTo>
                  <a:lnTo>
                    <a:pt x="40143" y="12685"/>
                  </a:lnTo>
                  <a:lnTo>
                    <a:pt x="41761" y="20880"/>
                  </a:lnTo>
                  <a:lnTo>
                    <a:pt x="40143" y="29076"/>
                  </a:lnTo>
                  <a:lnTo>
                    <a:pt x="35706" y="35706"/>
                  </a:lnTo>
                  <a:lnTo>
                    <a:pt x="29076" y="40143"/>
                  </a:lnTo>
                  <a:lnTo>
                    <a:pt x="20880" y="41761"/>
                  </a:lnTo>
                  <a:close/>
                </a:path>
                <a:path w="197485" h="41910">
                  <a:moveTo>
                    <a:pt x="197115" y="41761"/>
                  </a:moveTo>
                  <a:lnTo>
                    <a:pt x="155353" y="41761"/>
                  </a:lnTo>
                  <a:lnTo>
                    <a:pt x="176234" y="0"/>
                  </a:lnTo>
                  <a:lnTo>
                    <a:pt x="197115" y="41761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fr-MA" dirty="0"/>
            </a:p>
          </p:txBody>
        </p:sp>
        <p:sp>
          <p:nvSpPr>
            <p:cNvPr id="60" name="Graphic 22">
              <a:extLst>
                <a:ext uri="{FF2B5EF4-FFF2-40B4-BE49-F238E27FC236}">
                  <a16:creationId xmlns:a16="http://schemas.microsoft.com/office/drawing/2014/main" id="{370F6238-C6CA-0BD9-F239-76A35BC06FF2}"/>
                </a:ext>
              </a:extLst>
            </p:cNvPr>
            <p:cNvSpPr/>
            <p:nvPr/>
          </p:nvSpPr>
          <p:spPr>
            <a:xfrm>
              <a:off x="389220" y="58466"/>
              <a:ext cx="3403600" cy="22225"/>
            </a:xfrm>
            <a:custGeom>
              <a:avLst/>
              <a:gdLst/>
              <a:ahLst/>
              <a:cxnLst/>
              <a:rect l="l" t="t" r="r" b="b"/>
              <a:pathLst>
                <a:path w="3403600" h="22225">
                  <a:moveTo>
                    <a:pt x="3398574" y="21716"/>
                  </a:moveTo>
                  <a:lnTo>
                    <a:pt x="5011" y="21716"/>
                  </a:lnTo>
                  <a:lnTo>
                    <a:pt x="0" y="16704"/>
                  </a:lnTo>
                  <a:lnTo>
                    <a:pt x="0" y="5011"/>
                  </a:lnTo>
                  <a:lnTo>
                    <a:pt x="5011" y="0"/>
                  </a:lnTo>
                  <a:lnTo>
                    <a:pt x="3398574" y="0"/>
                  </a:lnTo>
                  <a:lnTo>
                    <a:pt x="3403586" y="5011"/>
                  </a:lnTo>
                  <a:lnTo>
                    <a:pt x="3403586" y="10857"/>
                  </a:lnTo>
                  <a:lnTo>
                    <a:pt x="3402750" y="16704"/>
                  </a:lnTo>
                  <a:lnTo>
                    <a:pt x="3398574" y="21716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fr-MA"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4606563" y="8842970"/>
            <a:ext cx="230643" cy="245404"/>
            <a:chOff x="966290" y="-2219199"/>
            <a:chExt cx="812800" cy="711200"/>
          </a:xfrm>
          <a:solidFill>
            <a:srgbClr val="00B050"/>
          </a:solidFill>
        </p:grpSpPr>
        <p:sp>
          <p:nvSpPr>
            <p:cNvPr id="10" name="Freeform 10"/>
            <p:cNvSpPr/>
            <p:nvPr/>
          </p:nvSpPr>
          <p:spPr>
            <a:xfrm>
              <a:off x="966290" y="-2219199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pFill/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fr-M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5237" y="-1743550"/>
              <a:ext cx="726475" cy="230394"/>
            </a:xfrm>
            <a:prstGeom prst="rect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47351" tIns="47351" rIns="47351" bIns="47351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solidFill>
                  <a:srgbClr val="00B050"/>
                </a:solidFill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1028700" y="730007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sp>
        <p:nvSpPr>
          <p:cNvPr id="32" name="TextBox 32"/>
          <p:cNvSpPr txBox="1"/>
          <p:nvPr/>
        </p:nvSpPr>
        <p:spPr>
          <a:xfrm>
            <a:off x="1028700" y="1728020"/>
            <a:ext cx="8714808" cy="171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 spc="162" dirty="0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Presentation </a:t>
            </a:r>
          </a:p>
          <a:p>
            <a:pPr algn="l">
              <a:lnSpc>
                <a:spcPts val="6720"/>
              </a:lnSpc>
            </a:pPr>
            <a:r>
              <a:rPr lang="en-US" sz="5600" b="1" spc="162" dirty="0" err="1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Projet</a:t>
            </a:r>
            <a:r>
              <a:rPr lang="en-US" sz="5600" b="1" spc="162" dirty="0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5600" b="1" spc="162" dirty="0" err="1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d’examen</a:t>
            </a:r>
            <a:endParaRPr lang="en-US" sz="5600" b="1" spc="162" dirty="0">
              <a:solidFill>
                <a:srgbClr val="00B05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22890" y="4141015"/>
            <a:ext cx="7623452" cy="3475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14"/>
              </a:lnSpc>
            </a:pPr>
            <a:r>
              <a:rPr lang="fr-FR" sz="5400" b="1" dirty="0">
                <a:latin typeface="Canva Sans Bold" panose="020B0604020202020204" charset="0"/>
              </a:rPr>
              <a:t>Plateforme de Validation d'Idées de Startups</a:t>
            </a:r>
          </a:p>
          <a:p>
            <a:pPr>
              <a:lnSpc>
                <a:spcPts val="7114"/>
              </a:lnSpc>
            </a:pPr>
            <a:endParaRPr lang="fr-FR" dirty="0"/>
          </a:p>
        </p:txBody>
      </p:sp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94044B59-1C1F-554E-CB75-355F5E3C19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81C8C3D0-5BAC-DC87-D75F-01849E3951B4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66" name="Picture 65" descr="A star with a white center&#10;&#10;AI-generated content may be incorrect.">
            <a:extLst>
              <a:ext uri="{FF2B5EF4-FFF2-40B4-BE49-F238E27FC236}">
                <a16:creationId xmlns:a16="http://schemas.microsoft.com/office/drawing/2014/main" id="{C9251ACB-CC42-0930-D9FC-A30AB9DBF88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8" y="1912000"/>
            <a:ext cx="324015" cy="324015"/>
          </a:xfrm>
          <a:prstGeom prst="rect">
            <a:avLst/>
          </a:prstGeom>
        </p:spPr>
      </p:pic>
      <p:pic>
        <p:nvPicPr>
          <p:cNvPr id="67" name="Picture 6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7D62448F-DE51-EF4C-14DE-CAEA3A3748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91" y="2504811"/>
            <a:ext cx="324015" cy="324015"/>
          </a:xfrm>
          <a:prstGeom prst="rect">
            <a:avLst/>
          </a:prstGeom>
        </p:spPr>
      </p:pic>
      <p:pic>
        <p:nvPicPr>
          <p:cNvPr id="68" name="Picture 6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17F6ED8F-B6A0-4C04-CB52-0352EB80AE0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7" y="3079901"/>
            <a:ext cx="324015" cy="324015"/>
          </a:xfrm>
          <a:prstGeom prst="rect">
            <a:avLst/>
          </a:prstGeom>
        </p:spPr>
      </p:pic>
      <p:pic>
        <p:nvPicPr>
          <p:cNvPr id="69" name="Picture 68" descr="A star with a white center&#10;&#10;AI-generated content may be incorrect.">
            <a:extLst>
              <a:ext uri="{FF2B5EF4-FFF2-40B4-BE49-F238E27FC236}">
                <a16:creationId xmlns:a16="http://schemas.microsoft.com/office/drawing/2014/main" id="{AE62177A-F862-E1C1-0D1E-CDF15448040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320" y="1895295"/>
            <a:ext cx="324015" cy="324015"/>
          </a:xfrm>
          <a:prstGeom prst="rect">
            <a:avLst/>
          </a:prstGeom>
        </p:spPr>
      </p:pic>
      <p:pic>
        <p:nvPicPr>
          <p:cNvPr id="70" name="Picture 69" descr="A star with a white center&#10;&#10;AI-generated content may be incorrect.">
            <a:extLst>
              <a:ext uri="{FF2B5EF4-FFF2-40B4-BE49-F238E27FC236}">
                <a16:creationId xmlns:a16="http://schemas.microsoft.com/office/drawing/2014/main" id="{D9475CE3-9B80-9BE5-AC54-5F4CE7248F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691" y="2384490"/>
            <a:ext cx="324015" cy="324015"/>
          </a:xfrm>
          <a:prstGeom prst="rect">
            <a:avLst/>
          </a:prstGeom>
        </p:spPr>
      </p:pic>
      <p:pic>
        <p:nvPicPr>
          <p:cNvPr id="71" name="Picture 70" descr="A star with a white center&#10;&#10;AI-generated content may be incorrect.">
            <a:extLst>
              <a:ext uri="{FF2B5EF4-FFF2-40B4-BE49-F238E27FC236}">
                <a16:creationId xmlns:a16="http://schemas.microsoft.com/office/drawing/2014/main" id="{C22ABDB9-668A-C985-1970-585AB155CD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321" y="2913886"/>
            <a:ext cx="324015" cy="324015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92FB2ED1-21A5-1B80-C5A9-D54EB7962F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5962" y="89591"/>
            <a:ext cx="1718419" cy="12836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A286DD-B0E3-B090-3678-62486647A093}"/>
              </a:ext>
            </a:extLst>
          </p:cNvPr>
          <p:cNvSpPr txBox="1"/>
          <p:nvPr/>
        </p:nvSpPr>
        <p:spPr>
          <a:xfrm>
            <a:off x="4843987" y="8781007"/>
            <a:ext cx="3447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000"/>
                </a:solidFill>
                <a:latin typeface="Canva Sans"/>
                <a:ea typeface="Canva Sans Bold Italics"/>
                <a:cs typeface="Canva Sans Bold Italics"/>
                <a:sym typeface="Canva Sans"/>
              </a:rPr>
              <a:t>ELKORTIH YASSINE</a:t>
            </a:r>
            <a:endParaRPr lang="fr-M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37C567-DBF7-A545-E1EA-0D7AF6330A95}"/>
              </a:ext>
            </a:extLst>
          </p:cNvPr>
          <p:cNvSpPr txBox="1"/>
          <p:nvPr/>
        </p:nvSpPr>
        <p:spPr>
          <a:xfrm>
            <a:off x="4899059" y="9272539"/>
            <a:ext cx="3447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 err="1">
                <a:solidFill>
                  <a:srgbClr val="000000"/>
                </a:solidFill>
                <a:latin typeface="Canva Sans"/>
                <a:ea typeface="Canva Sans Bold Italics"/>
                <a:cs typeface="Canva Sans Bold Italics"/>
                <a:sym typeface="Canva Sans"/>
              </a:rPr>
              <a:t>BOUCHFIRA</a:t>
            </a:r>
            <a:r>
              <a:rPr lang="en-US" b="1" i="1" dirty="0">
                <a:solidFill>
                  <a:srgbClr val="000000"/>
                </a:solidFill>
                <a:latin typeface="Canva Sans"/>
                <a:ea typeface="Canva Sans Bold Italics"/>
                <a:cs typeface="Canva Sans Bold Italics"/>
                <a:sym typeface="Canva Sans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Canva Sans"/>
                <a:ea typeface="Canva Sans Bold Italics"/>
                <a:cs typeface="Canva Sans Bold Italics"/>
                <a:sym typeface="Canva Sans"/>
              </a:rPr>
              <a:t>ABDESSATTAR</a:t>
            </a:r>
            <a:endParaRPr lang="fr-MA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D2C22483-C803-DB0B-CC48-3AF0494662BD}"/>
              </a:ext>
            </a:extLst>
          </p:cNvPr>
          <p:cNvSpPr/>
          <p:nvPr/>
        </p:nvSpPr>
        <p:spPr>
          <a:xfrm>
            <a:off x="15347103" y="7395401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8CD48311-8C87-E30B-CB69-BC91A031800E}"/>
              </a:ext>
            </a:extLst>
          </p:cNvPr>
          <p:cNvSpPr/>
          <p:nvPr/>
        </p:nvSpPr>
        <p:spPr>
          <a:xfrm>
            <a:off x="-2177270" y="7524301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8" name="TextBox 38"/>
          <p:cNvSpPr txBox="1"/>
          <p:nvPr/>
        </p:nvSpPr>
        <p:spPr>
          <a:xfrm>
            <a:off x="3209638" y="8290559"/>
            <a:ext cx="2172836" cy="429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800" b="1" i="1" dirty="0" err="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Réalisé</a:t>
            </a:r>
            <a:r>
              <a:rPr lang="en-US" sz="2800" b="1" i="1" dirty="0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par : </a:t>
            </a: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A4342E34-55A1-1658-DFC5-8CE5637DD96B}"/>
              </a:ext>
            </a:extLst>
          </p:cNvPr>
          <p:cNvSpPr/>
          <p:nvPr/>
        </p:nvSpPr>
        <p:spPr>
          <a:xfrm>
            <a:off x="16543332" y="8781007"/>
            <a:ext cx="762000" cy="810864"/>
          </a:xfrm>
          <a:prstGeom prst="flowChartDecisi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23" name="Rectangle: Single Corner Snipped 22">
            <a:extLst>
              <a:ext uri="{FF2B5EF4-FFF2-40B4-BE49-F238E27FC236}">
                <a16:creationId xmlns:a16="http://schemas.microsoft.com/office/drawing/2014/main" id="{FD2E95A7-79E5-092D-9CED-6ACC11BC293F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6B2AEEBD-9E87-1293-3270-8D200E811F36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01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25A68B5-2BE8-245B-6959-36D558EC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6690" y="1315160"/>
            <a:ext cx="11421547" cy="1504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MA"/>
          </a:p>
        </p:txBody>
      </p:sp>
      <p:pic>
        <p:nvPicPr>
          <p:cNvPr id="16" name="Graphic 13" descr="Lights On outline">
            <a:extLst>
              <a:ext uri="{FF2B5EF4-FFF2-40B4-BE49-F238E27FC236}">
                <a16:creationId xmlns:a16="http://schemas.microsoft.com/office/drawing/2014/main" id="{E596C4BA-AA4A-6901-1FF4-31FFBFC473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02833" y="2462514"/>
            <a:ext cx="819676" cy="819676"/>
          </a:xfrm>
          <a:prstGeom prst="rect">
            <a:avLst/>
          </a:prstGeom>
        </p:spPr>
      </p:pic>
      <p:sp>
        <p:nvSpPr>
          <p:cNvPr id="24" name="Rectangle 3">
            <a:extLst>
              <a:ext uri="{FF2B5EF4-FFF2-40B4-BE49-F238E27FC236}">
                <a16:creationId xmlns:a16="http://schemas.microsoft.com/office/drawing/2014/main" id="{D5618A38-DB6A-6B03-73D2-B15C18069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04230" y="2506731"/>
            <a:ext cx="25478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48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Baskerville Old Face" panose="02020602080505020303" pitchFamily="18" charset="0"/>
                <a:ea typeface="Arial" panose="020B0604020202020204" pitchFamily="34" charset="0"/>
              </a:rPr>
              <a:t>IdeaLab</a:t>
            </a:r>
            <a:endParaRPr kumimoji="0" lang="en-US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5" name="Group 9">
            <a:extLst>
              <a:ext uri="{FF2B5EF4-FFF2-40B4-BE49-F238E27FC236}">
                <a16:creationId xmlns:a16="http://schemas.microsoft.com/office/drawing/2014/main" id="{E6EAC2A7-65D9-B92F-1707-BA1A110384E9}"/>
              </a:ext>
            </a:extLst>
          </p:cNvPr>
          <p:cNvGrpSpPr/>
          <p:nvPr/>
        </p:nvGrpSpPr>
        <p:grpSpPr>
          <a:xfrm rot="5400000">
            <a:off x="4626399" y="9323093"/>
            <a:ext cx="230643" cy="245404"/>
            <a:chOff x="966290" y="-2219199"/>
            <a:chExt cx="812800" cy="711200"/>
          </a:xfrm>
          <a:solidFill>
            <a:srgbClr val="00B050"/>
          </a:solidFill>
        </p:grpSpPr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0D6259F-0A99-EE23-AF8A-3D1994AEED68}"/>
                </a:ext>
              </a:extLst>
            </p:cNvPr>
            <p:cNvSpPr/>
            <p:nvPr/>
          </p:nvSpPr>
          <p:spPr>
            <a:xfrm>
              <a:off x="966290" y="-2219199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pFill/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fr-MA"/>
            </a:p>
          </p:txBody>
        </p:sp>
        <p:sp>
          <p:nvSpPr>
            <p:cNvPr id="27" name="TextBox 11">
              <a:extLst>
                <a:ext uri="{FF2B5EF4-FFF2-40B4-BE49-F238E27FC236}">
                  <a16:creationId xmlns:a16="http://schemas.microsoft.com/office/drawing/2014/main" id="{C69C4CB8-8CC8-48E5-C555-039783BE37EF}"/>
                </a:ext>
              </a:extLst>
            </p:cNvPr>
            <p:cNvSpPr txBox="1"/>
            <p:nvPr/>
          </p:nvSpPr>
          <p:spPr>
            <a:xfrm>
              <a:off x="985237" y="-1743550"/>
              <a:ext cx="726475" cy="230394"/>
            </a:xfrm>
            <a:prstGeom prst="rect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47351" tIns="47351" rIns="47351" bIns="47351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solidFill>
                  <a:srgbClr val="00B050"/>
                </a:solidFill>
              </a:endParaRPr>
            </a:p>
          </p:txBody>
        </p:sp>
      </p:grpSp>
      <p:pic>
        <p:nvPicPr>
          <p:cNvPr id="37" name="Graphic 36" descr="Good Idea outline">
            <a:extLst>
              <a:ext uri="{FF2B5EF4-FFF2-40B4-BE49-F238E27FC236}">
                <a16:creationId xmlns:a16="http://schemas.microsoft.com/office/drawing/2014/main" id="{55F37122-EB33-70DA-76F6-034E6F971F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62625" y="852579"/>
            <a:ext cx="804387" cy="647251"/>
          </a:xfrm>
          <a:prstGeom prst="rect">
            <a:avLst/>
          </a:prstGeom>
        </p:spPr>
      </p:pic>
      <p:sp>
        <p:nvSpPr>
          <p:cNvPr id="6" name="Freeform 3">
            <a:extLst>
              <a:ext uri="{FF2B5EF4-FFF2-40B4-BE49-F238E27FC236}">
                <a16:creationId xmlns:a16="http://schemas.microsoft.com/office/drawing/2014/main" id="{D65D998F-CD07-7F39-33C8-1829ECD07BAD}"/>
              </a:ext>
            </a:extLst>
          </p:cNvPr>
          <p:cNvSpPr/>
          <p:nvPr/>
        </p:nvSpPr>
        <p:spPr>
          <a:xfrm>
            <a:off x="16198686" y="8195994"/>
            <a:ext cx="4065551" cy="3924212"/>
          </a:xfrm>
          <a:custGeom>
            <a:avLst/>
            <a:gdLst/>
            <a:ahLst/>
            <a:cxnLst/>
            <a:rect l="l" t="t" r="r" b="b"/>
            <a:pathLst>
              <a:path w="628154" h="812800">
                <a:moveTo>
                  <a:pt x="314077" y="0"/>
                </a:moveTo>
                <a:cubicBezTo>
                  <a:pt x="140617" y="0"/>
                  <a:pt x="0" y="181951"/>
                  <a:pt x="0" y="406400"/>
                </a:cubicBezTo>
                <a:cubicBezTo>
                  <a:pt x="0" y="630849"/>
                  <a:pt x="140617" y="812800"/>
                  <a:pt x="314077" y="812800"/>
                </a:cubicBezTo>
                <a:cubicBezTo>
                  <a:pt x="487537" y="812800"/>
                  <a:pt x="628154" y="630849"/>
                  <a:pt x="628154" y="406400"/>
                </a:cubicBezTo>
                <a:cubicBezTo>
                  <a:pt x="628154" y="181951"/>
                  <a:pt x="487537" y="0"/>
                  <a:pt x="314077" y="0"/>
                </a:cubicBezTo>
                <a:close/>
              </a:path>
            </a:pathLst>
          </a:custGeom>
          <a:solidFill>
            <a:srgbClr val="00B050"/>
          </a:solidFill>
          <a:ln w="38100" cap="sq">
            <a:solidFill>
              <a:srgbClr val="00B050"/>
            </a:solidFill>
            <a:prstDash val="solid"/>
            <a:miter/>
          </a:ln>
        </p:spPr>
        <p:txBody>
          <a:bodyPr/>
          <a:lstStyle/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BD68B-07F1-9318-5401-03BA9493D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Hexagon 54">
            <a:extLst>
              <a:ext uri="{FF2B5EF4-FFF2-40B4-BE49-F238E27FC236}">
                <a16:creationId xmlns:a16="http://schemas.microsoft.com/office/drawing/2014/main" id="{1ADB2B3C-4AC9-9A0B-E855-71514D49C453}"/>
              </a:ext>
            </a:extLst>
          </p:cNvPr>
          <p:cNvSpPr/>
          <p:nvPr/>
        </p:nvSpPr>
        <p:spPr>
          <a:xfrm>
            <a:off x="15122502" y="959202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3C138F5-6FE8-BD82-0170-254351D9EC1D}"/>
              </a:ext>
            </a:extLst>
          </p:cNvPr>
          <p:cNvSpPr txBox="1"/>
          <p:nvPr/>
        </p:nvSpPr>
        <p:spPr>
          <a:xfrm rot="1295334">
            <a:off x="13097523" y="-3685157"/>
            <a:ext cx="5956347" cy="571364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B4FCD5F2-18F1-B909-9FA3-978656ABE237}"/>
              </a:ext>
            </a:extLst>
          </p:cNvPr>
          <p:cNvSpPr/>
          <p:nvPr/>
        </p:nvSpPr>
        <p:spPr>
          <a:xfrm>
            <a:off x="1028700" y="730007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4D7B3678-7BB6-E8B3-5444-3DD411061D29}"/>
              </a:ext>
            </a:extLst>
          </p:cNvPr>
          <p:cNvSpPr txBox="1"/>
          <p:nvPr/>
        </p:nvSpPr>
        <p:spPr>
          <a:xfrm>
            <a:off x="1348101" y="1995774"/>
            <a:ext cx="9929497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 spc="162" dirty="0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Presentation du </a:t>
            </a:r>
            <a:r>
              <a:rPr lang="en-US" sz="5600" b="1" spc="162" dirty="0" err="1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projet</a:t>
            </a:r>
            <a:r>
              <a:rPr lang="en-US" sz="5600" b="1" spc="162" dirty="0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</a:t>
            </a:r>
          </a:p>
        </p:txBody>
      </p:sp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ECF8E748-614D-3ABB-12BB-35085885A9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pic>
        <p:nvPicPr>
          <p:cNvPr id="66" name="Picture 65" descr="A star with a white center&#10;&#10;AI-generated content may be incorrect.">
            <a:extLst>
              <a:ext uri="{FF2B5EF4-FFF2-40B4-BE49-F238E27FC236}">
                <a16:creationId xmlns:a16="http://schemas.microsoft.com/office/drawing/2014/main" id="{7AB6C920-13B5-33BE-7B23-4D0B597C09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610" y="1955891"/>
            <a:ext cx="324015" cy="324015"/>
          </a:xfrm>
          <a:prstGeom prst="rect">
            <a:avLst/>
          </a:prstGeom>
        </p:spPr>
      </p:pic>
      <p:pic>
        <p:nvPicPr>
          <p:cNvPr id="67" name="Picture 6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01FAC2C2-CF7B-F0FA-ADFB-F7154F2495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4" y="2188928"/>
            <a:ext cx="324015" cy="324015"/>
          </a:xfrm>
          <a:prstGeom prst="rect">
            <a:avLst/>
          </a:prstGeom>
        </p:spPr>
      </p:pic>
      <p:pic>
        <p:nvPicPr>
          <p:cNvPr id="68" name="Picture 6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90A62481-F457-7ADD-C548-27384DA7BC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60" y="2534440"/>
            <a:ext cx="324015" cy="324015"/>
          </a:xfrm>
          <a:prstGeom prst="rect">
            <a:avLst/>
          </a:prstGeom>
        </p:spPr>
      </p:pic>
      <p:pic>
        <p:nvPicPr>
          <p:cNvPr id="69" name="Picture 68" descr="A star with a white center&#10;&#10;AI-generated content may be incorrect.">
            <a:extLst>
              <a:ext uri="{FF2B5EF4-FFF2-40B4-BE49-F238E27FC236}">
                <a16:creationId xmlns:a16="http://schemas.microsoft.com/office/drawing/2014/main" id="{D0099043-FE1C-0264-0ECD-37FC6CD66F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815" y="1976246"/>
            <a:ext cx="324015" cy="324015"/>
          </a:xfrm>
          <a:prstGeom prst="rect">
            <a:avLst/>
          </a:prstGeom>
        </p:spPr>
      </p:pic>
      <p:pic>
        <p:nvPicPr>
          <p:cNvPr id="70" name="Picture 69" descr="A star with a white center&#10;&#10;AI-generated content may be incorrect.">
            <a:extLst>
              <a:ext uri="{FF2B5EF4-FFF2-40B4-BE49-F238E27FC236}">
                <a16:creationId xmlns:a16="http://schemas.microsoft.com/office/drawing/2014/main" id="{DD76C418-A303-2CA4-EFBE-201BC17A9E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649" y="2216206"/>
            <a:ext cx="324015" cy="324015"/>
          </a:xfrm>
          <a:prstGeom prst="rect">
            <a:avLst/>
          </a:prstGeom>
        </p:spPr>
      </p:pic>
      <p:pic>
        <p:nvPicPr>
          <p:cNvPr id="2" name="Picture 1" descr="A star with a white center&#10;&#10;AI-generated content may be incorrect.">
            <a:extLst>
              <a:ext uri="{FF2B5EF4-FFF2-40B4-BE49-F238E27FC236}">
                <a16:creationId xmlns:a16="http://schemas.microsoft.com/office/drawing/2014/main" id="{3C961A2D-3645-0A58-54CC-59E0CE7E30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785" y="2534440"/>
            <a:ext cx="324015" cy="3240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B45CB7-CF2E-891A-5E0C-3BFD684E4B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2430" y="8808689"/>
            <a:ext cx="1657581" cy="362001"/>
          </a:xfrm>
          <a:prstGeom prst="rect">
            <a:avLst/>
          </a:prstGeom>
        </p:spPr>
      </p:pic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17422108-CD65-F725-E0FB-11B73B2944D1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E297E46F-4CE4-B238-A78A-CCDE1271386B}"/>
              </a:ext>
            </a:extLst>
          </p:cNvPr>
          <p:cNvSpPr/>
          <p:nvPr/>
        </p:nvSpPr>
        <p:spPr>
          <a:xfrm>
            <a:off x="-2177270" y="7524301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grpSp>
        <p:nvGrpSpPr>
          <p:cNvPr id="56" name="Group 3">
            <a:extLst>
              <a:ext uri="{FF2B5EF4-FFF2-40B4-BE49-F238E27FC236}">
                <a16:creationId xmlns:a16="http://schemas.microsoft.com/office/drawing/2014/main" id="{A6A851DF-931F-3982-0DA3-C2FAA0AF9918}"/>
              </a:ext>
            </a:extLst>
          </p:cNvPr>
          <p:cNvGrpSpPr/>
          <p:nvPr/>
        </p:nvGrpSpPr>
        <p:grpSpPr>
          <a:xfrm rot="1295334">
            <a:off x="12236374" y="-3798046"/>
            <a:ext cx="7330889" cy="6609232"/>
            <a:chOff x="0" y="0"/>
            <a:chExt cx="812800" cy="732787"/>
          </a:xfrm>
        </p:grpSpPr>
        <p:sp>
          <p:nvSpPr>
            <p:cNvPr id="57" name="Freeform 4">
              <a:extLst>
                <a:ext uri="{FF2B5EF4-FFF2-40B4-BE49-F238E27FC236}">
                  <a16:creationId xmlns:a16="http://schemas.microsoft.com/office/drawing/2014/main" id="{E6825C1D-682E-9E95-F3BF-11484D7F1E34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8" name="TextBox 5">
              <a:extLst>
                <a:ext uri="{FF2B5EF4-FFF2-40B4-BE49-F238E27FC236}">
                  <a16:creationId xmlns:a16="http://schemas.microsoft.com/office/drawing/2014/main" id="{5D25F27C-5E6D-A1D0-1D5A-07BDA968A741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2959012B-E176-8DF5-E134-97457D9FBBDE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71" name="Rectangle: Single Corner Snipped 70">
            <a:extLst>
              <a:ext uri="{FF2B5EF4-FFF2-40B4-BE49-F238E27FC236}">
                <a16:creationId xmlns:a16="http://schemas.microsoft.com/office/drawing/2014/main" id="{9B2C0F05-6450-FF54-A197-0701670E18D9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72" name="TextBox 8">
            <a:extLst>
              <a:ext uri="{FF2B5EF4-FFF2-40B4-BE49-F238E27FC236}">
                <a16:creationId xmlns:a16="http://schemas.microsoft.com/office/drawing/2014/main" id="{FAA37523-E106-D88C-FA76-D71532D932CB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02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EE4FFDE-003C-E61F-ED7E-B8C748918ABD}"/>
              </a:ext>
            </a:extLst>
          </p:cNvPr>
          <p:cNvSpPr txBox="1"/>
          <p:nvPr/>
        </p:nvSpPr>
        <p:spPr>
          <a:xfrm>
            <a:off x="1572240" y="3301149"/>
            <a:ext cx="13601700" cy="3122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IdeaLab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est </a:t>
            </a: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web </a:t>
            </a: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communautaire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dédiée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à la validation des </a:t>
            </a: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idées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startups. Elle </a:t>
            </a: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permet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aux entrepreneurs de </a:t>
            </a: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soumettre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leur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concept, de </a:t>
            </a: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recueillir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des feedbacks </a:t>
            </a: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structurés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d'obtenir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 Score Global de Validation (SGV) avant tout </a:t>
            </a: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600" dirty="0"/>
          </a:p>
        </p:txBody>
      </p:sp>
      <p:pic>
        <p:nvPicPr>
          <p:cNvPr id="7" name="Graphic 6" descr="Good Idea outline">
            <a:extLst>
              <a:ext uri="{FF2B5EF4-FFF2-40B4-BE49-F238E27FC236}">
                <a16:creationId xmlns:a16="http://schemas.microsoft.com/office/drawing/2014/main" id="{2D60C886-4C59-698A-CD3A-3FE70AFF8C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62625" y="852579"/>
            <a:ext cx="804387" cy="647251"/>
          </a:xfrm>
          <a:prstGeom prst="rect">
            <a:avLst/>
          </a:prstGeom>
        </p:spPr>
      </p:pic>
      <p:grpSp>
        <p:nvGrpSpPr>
          <p:cNvPr id="8" name="Group 2">
            <a:extLst>
              <a:ext uri="{FF2B5EF4-FFF2-40B4-BE49-F238E27FC236}">
                <a16:creationId xmlns:a16="http://schemas.microsoft.com/office/drawing/2014/main" id="{2A88324C-D890-8191-F42B-35F4934B1143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9DE39F8A-1E8E-F98C-EAE3-EDE13B49A81C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5F5A7B97-12FD-452F-891C-3315BE3996C6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9183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32487-DC13-1AC3-3FF0-343A4782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24A2163D-54FB-5EDF-DB78-B0C0D51F6716}"/>
              </a:ext>
            </a:extLst>
          </p:cNvPr>
          <p:cNvSpPr/>
          <p:nvPr/>
        </p:nvSpPr>
        <p:spPr>
          <a:xfrm>
            <a:off x="1028700" y="730007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712D8BBD-0EC2-4621-A7A5-D0DC6B0BFA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pic>
        <p:nvPicPr>
          <p:cNvPr id="26" name="Graphic 25" descr="Laptop outline">
            <a:extLst>
              <a:ext uri="{FF2B5EF4-FFF2-40B4-BE49-F238E27FC236}">
                <a16:creationId xmlns:a16="http://schemas.microsoft.com/office/drawing/2014/main" id="{82A25595-024C-3390-CB50-C820C2849C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C9550A53-2F86-3DAB-60FD-26C49B1DAD4D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571A5C5E-1BDB-0D6C-7090-D7A5F94371E6}"/>
              </a:ext>
            </a:extLst>
          </p:cNvPr>
          <p:cNvSpPr/>
          <p:nvPr/>
        </p:nvSpPr>
        <p:spPr>
          <a:xfrm>
            <a:off x="-2177270" y="7524301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B3541F-A9AA-325F-1F91-404086C2CED1}"/>
              </a:ext>
            </a:extLst>
          </p:cNvPr>
          <p:cNvSpPr txBox="1"/>
          <p:nvPr/>
        </p:nvSpPr>
        <p:spPr>
          <a:xfrm>
            <a:off x="3433763" y="4196395"/>
            <a:ext cx="1142047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fr-FR" sz="2800" dirty="0"/>
              <a:t> </a:t>
            </a:r>
            <a:r>
              <a:rPr lang="fr-FR" sz="2800" b="1" dirty="0"/>
              <a:t>FONCTONNELS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800" dirty="0"/>
              <a:t>Soumettre et gérer des idées de startup (CRUD complet)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800" dirty="0"/>
              <a:t> Recevoir des évaluations objectives de </a:t>
            </a:r>
            <a:r>
              <a:rPr lang="fr-FR" sz="2800" dirty="0" err="1"/>
              <a:t>reviewers</a:t>
            </a:r>
            <a:r>
              <a:rPr lang="fr-FR" sz="2800" dirty="0"/>
              <a:t> experts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800" dirty="0"/>
              <a:t>Calculer un SGV fiable avec pondération par réputation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800" dirty="0"/>
              <a:t> Fournir des </a:t>
            </a:r>
            <a:r>
              <a:rPr lang="fr-FR" sz="2800" dirty="0" err="1"/>
              <a:t>analytics</a:t>
            </a:r>
            <a:r>
              <a:rPr lang="fr-FR" sz="2800" dirty="0"/>
              <a:t> </a:t>
            </a:r>
            <a:r>
              <a:rPr lang="fr-FR" sz="2800" dirty="0" err="1"/>
              <a:t>dashboards</a:t>
            </a:r>
            <a:r>
              <a:rPr lang="fr-FR" sz="2800" dirty="0"/>
              <a:t> par rôle utilisateur</a:t>
            </a:r>
          </a:p>
          <a:p>
            <a:pPr fontAlgn="base"/>
            <a:endParaRPr lang="fr-FR" sz="2800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fr-FR" sz="2800" b="1" dirty="0"/>
              <a:t>TECHNIQUES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800" dirty="0"/>
              <a:t> Architecture REST API scalable (Django + </a:t>
            </a:r>
            <a:r>
              <a:rPr lang="fr-FR" sz="2800" dirty="0" err="1"/>
              <a:t>React</a:t>
            </a:r>
            <a:r>
              <a:rPr lang="fr-FR" sz="2800" dirty="0"/>
              <a:t>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800" dirty="0"/>
              <a:t> Authentification JWT sécurisée (RBAC)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800" dirty="0"/>
              <a:t> Tâches asynchrones pour calculs lourds (</a:t>
            </a:r>
            <a:r>
              <a:rPr lang="fr-FR" sz="2800" dirty="0" err="1"/>
              <a:t>Celery</a:t>
            </a:r>
            <a:r>
              <a:rPr lang="fr-FR" sz="2800" dirty="0"/>
              <a:t>)</a:t>
            </a:r>
          </a:p>
        </p:txBody>
      </p:sp>
      <p:sp>
        <p:nvSpPr>
          <p:cNvPr id="43" name="Rectangle: Single Corner Snipped 42">
            <a:extLst>
              <a:ext uri="{FF2B5EF4-FFF2-40B4-BE49-F238E27FC236}">
                <a16:creationId xmlns:a16="http://schemas.microsoft.com/office/drawing/2014/main" id="{9B5DAC6B-F46A-CF79-5DE4-84D88446D134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56C3689E-32B7-4D31-81A5-9EE49968E7D4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03</a:t>
            </a:r>
          </a:p>
        </p:txBody>
      </p:sp>
      <p:grpSp>
        <p:nvGrpSpPr>
          <p:cNvPr id="12" name="Group 3">
            <a:extLst>
              <a:ext uri="{FF2B5EF4-FFF2-40B4-BE49-F238E27FC236}">
                <a16:creationId xmlns:a16="http://schemas.microsoft.com/office/drawing/2014/main" id="{52197E18-BC6A-31BC-932F-0362CEBC5C18}"/>
              </a:ext>
            </a:extLst>
          </p:cNvPr>
          <p:cNvGrpSpPr/>
          <p:nvPr/>
        </p:nvGrpSpPr>
        <p:grpSpPr>
          <a:xfrm rot="1295334">
            <a:off x="12410251" y="-3695156"/>
            <a:ext cx="7330889" cy="6609232"/>
            <a:chOff x="0" y="0"/>
            <a:chExt cx="812800" cy="732787"/>
          </a:xfrm>
        </p:grpSpPr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2048A870-C61A-FBC6-4FE6-CE9C5E9AAF3A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4" name="TextBox 5">
              <a:extLst>
                <a:ext uri="{FF2B5EF4-FFF2-40B4-BE49-F238E27FC236}">
                  <a16:creationId xmlns:a16="http://schemas.microsoft.com/office/drawing/2014/main" id="{AAE0F535-5869-5C00-797A-42B3A0A0F82A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pic>
        <p:nvPicPr>
          <p:cNvPr id="15" name="Graphic 14" descr="Good Idea outline">
            <a:extLst>
              <a:ext uri="{FF2B5EF4-FFF2-40B4-BE49-F238E27FC236}">
                <a16:creationId xmlns:a16="http://schemas.microsoft.com/office/drawing/2014/main" id="{58BBBE52-283D-C0D8-A34F-E533A9AF10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62625" y="852579"/>
            <a:ext cx="804387" cy="647251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92B0FDD8-EB29-6E70-DDB5-83AA94DE37A9}"/>
              </a:ext>
            </a:extLst>
          </p:cNvPr>
          <p:cNvSpPr/>
          <p:nvPr/>
        </p:nvSpPr>
        <p:spPr>
          <a:xfrm>
            <a:off x="12808365" y="844987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18" name="Graphic 17" descr="Good Idea outline">
            <a:extLst>
              <a:ext uri="{FF2B5EF4-FFF2-40B4-BE49-F238E27FC236}">
                <a16:creationId xmlns:a16="http://schemas.microsoft.com/office/drawing/2014/main" id="{EB338568-9453-3A48-42D6-83ABCAD971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15025" y="1004979"/>
            <a:ext cx="804387" cy="647251"/>
          </a:xfrm>
          <a:prstGeom prst="rect">
            <a:avLst/>
          </a:prstGeom>
        </p:spPr>
      </p:pic>
      <p:sp>
        <p:nvSpPr>
          <p:cNvPr id="19" name="Hexagon 18">
            <a:extLst>
              <a:ext uri="{FF2B5EF4-FFF2-40B4-BE49-F238E27FC236}">
                <a16:creationId xmlns:a16="http://schemas.microsoft.com/office/drawing/2014/main" id="{75740AB7-8780-AADB-17DB-56D61CF92B35}"/>
              </a:ext>
            </a:extLst>
          </p:cNvPr>
          <p:cNvSpPr/>
          <p:nvPr/>
        </p:nvSpPr>
        <p:spPr>
          <a:xfrm>
            <a:off x="15234443" y="1224982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20" name="Graphic 19" descr="Laptop outline">
            <a:extLst>
              <a:ext uri="{FF2B5EF4-FFF2-40B4-BE49-F238E27FC236}">
                <a16:creationId xmlns:a16="http://schemas.microsoft.com/office/drawing/2014/main" id="{97288F77-F82A-F769-2B57-F42FB73577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33562" y="1864187"/>
            <a:ext cx="1136238" cy="1136238"/>
          </a:xfrm>
          <a:prstGeom prst="rect">
            <a:avLst/>
          </a:prstGeom>
        </p:spPr>
      </p:pic>
      <p:sp>
        <p:nvSpPr>
          <p:cNvPr id="48" name="TextBox 32">
            <a:extLst>
              <a:ext uri="{FF2B5EF4-FFF2-40B4-BE49-F238E27FC236}">
                <a16:creationId xmlns:a16="http://schemas.microsoft.com/office/drawing/2014/main" id="{E08BB395-5071-6499-435B-BE872912C8DF}"/>
              </a:ext>
            </a:extLst>
          </p:cNvPr>
          <p:cNvSpPr txBox="1"/>
          <p:nvPr/>
        </p:nvSpPr>
        <p:spPr>
          <a:xfrm>
            <a:off x="1348101" y="1995774"/>
            <a:ext cx="6424299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 spc="162" dirty="0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Objectif</a:t>
            </a:r>
          </a:p>
        </p:txBody>
      </p:sp>
      <p:pic>
        <p:nvPicPr>
          <p:cNvPr id="49" name="Picture 48" descr="A star with a white center&#10;&#10;AI-generated content may be incorrect.">
            <a:extLst>
              <a:ext uri="{FF2B5EF4-FFF2-40B4-BE49-F238E27FC236}">
                <a16:creationId xmlns:a16="http://schemas.microsoft.com/office/drawing/2014/main" id="{9238E4AA-56E2-374F-F1E2-12E2FBEC4D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610" y="1955891"/>
            <a:ext cx="324015" cy="324015"/>
          </a:xfrm>
          <a:prstGeom prst="rect">
            <a:avLst/>
          </a:prstGeom>
        </p:spPr>
      </p:pic>
      <p:pic>
        <p:nvPicPr>
          <p:cNvPr id="50" name="Picture 49" descr="A star with a white center&#10;&#10;AI-generated content may be incorrect.">
            <a:extLst>
              <a:ext uri="{FF2B5EF4-FFF2-40B4-BE49-F238E27FC236}">
                <a16:creationId xmlns:a16="http://schemas.microsoft.com/office/drawing/2014/main" id="{55697742-F547-3569-CDAB-40537F93B9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4" y="2188928"/>
            <a:ext cx="324015" cy="324015"/>
          </a:xfrm>
          <a:prstGeom prst="rect">
            <a:avLst/>
          </a:prstGeom>
        </p:spPr>
      </p:pic>
      <p:pic>
        <p:nvPicPr>
          <p:cNvPr id="51" name="Picture 50" descr="A star with a white center&#10;&#10;AI-generated content may be incorrect.">
            <a:extLst>
              <a:ext uri="{FF2B5EF4-FFF2-40B4-BE49-F238E27FC236}">
                <a16:creationId xmlns:a16="http://schemas.microsoft.com/office/drawing/2014/main" id="{77C37059-94D5-85F5-D3C7-C4C20FAB8E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60" y="2534440"/>
            <a:ext cx="324015" cy="324015"/>
          </a:xfrm>
          <a:prstGeom prst="rect">
            <a:avLst/>
          </a:prstGeom>
        </p:spPr>
      </p:pic>
      <p:pic>
        <p:nvPicPr>
          <p:cNvPr id="53" name="Picture 52" descr="A star with a white center&#10;&#10;AI-generated content may be incorrect.">
            <a:extLst>
              <a:ext uri="{FF2B5EF4-FFF2-40B4-BE49-F238E27FC236}">
                <a16:creationId xmlns:a16="http://schemas.microsoft.com/office/drawing/2014/main" id="{E6947E10-BDA9-2936-85B3-170DE971A2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866" y="1970465"/>
            <a:ext cx="324015" cy="324015"/>
          </a:xfrm>
          <a:prstGeom prst="rect">
            <a:avLst/>
          </a:prstGeom>
        </p:spPr>
      </p:pic>
      <p:pic>
        <p:nvPicPr>
          <p:cNvPr id="54" name="Picture 53" descr="A star with a white center&#10;&#10;AI-generated content may be incorrect.">
            <a:extLst>
              <a:ext uri="{FF2B5EF4-FFF2-40B4-BE49-F238E27FC236}">
                <a16:creationId xmlns:a16="http://schemas.microsoft.com/office/drawing/2014/main" id="{1938BCF3-08B9-C56E-955A-7E3EE28AD3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700" y="2210425"/>
            <a:ext cx="324015" cy="324015"/>
          </a:xfrm>
          <a:prstGeom prst="rect">
            <a:avLst/>
          </a:prstGeom>
        </p:spPr>
      </p:pic>
      <p:pic>
        <p:nvPicPr>
          <p:cNvPr id="55" name="Picture 54" descr="A star with a white center&#10;&#10;AI-generated content may be incorrect.">
            <a:extLst>
              <a:ext uri="{FF2B5EF4-FFF2-40B4-BE49-F238E27FC236}">
                <a16:creationId xmlns:a16="http://schemas.microsoft.com/office/drawing/2014/main" id="{F6F74D0D-2437-D18E-8D29-C734F09585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836" y="2528659"/>
            <a:ext cx="324015" cy="324015"/>
          </a:xfrm>
          <a:prstGeom prst="rect">
            <a:avLst/>
          </a:prstGeom>
        </p:spPr>
      </p:pic>
      <p:grpSp>
        <p:nvGrpSpPr>
          <p:cNvPr id="56" name="Group 2">
            <a:extLst>
              <a:ext uri="{FF2B5EF4-FFF2-40B4-BE49-F238E27FC236}">
                <a16:creationId xmlns:a16="http://schemas.microsoft.com/office/drawing/2014/main" id="{8DFF331A-59BB-4623-BE28-BF384A161D95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57" name="Freeform 3">
              <a:extLst>
                <a:ext uri="{FF2B5EF4-FFF2-40B4-BE49-F238E27FC236}">
                  <a16:creationId xmlns:a16="http://schemas.microsoft.com/office/drawing/2014/main" id="{84244022-DB85-36CF-829B-111D0B278D2E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8" name="TextBox 4">
              <a:extLst>
                <a:ext uri="{FF2B5EF4-FFF2-40B4-BE49-F238E27FC236}">
                  <a16:creationId xmlns:a16="http://schemas.microsoft.com/office/drawing/2014/main" id="{F3F6EABA-E13F-85F5-C7D6-4F415CDB5C2F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4935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C1FCC-4172-75F0-2E36-B6860CB87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D8EA4C03-96CE-362F-0A13-A714E6A98D24}"/>
              </a:ext>
            </a:extLst>
          </p:cNvPr>
          <p:cNvSpPr/>
          <p:nvPr/>
        </p:nvSpPr>
        <p:spPr>
          <a:xfrm>
            <a:off x="1028700" y="730007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B487FCE5-3826-5764-AF33-A6287BA05F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grpSp>
        <p:nvGrpSpPr>
          <p:cNvPr id="22" name="Group 3">
            <a:extLst>
              <a:ext uri="{FF2B5EF4-FFF2-40B4-BE49-F238E27FC236}">
                <a16:creationId xmlns:a16="http://schemas.microsoft.com/office/drawing/2014/main" id="{6FD4DACE-B8EA-0943-A502-61731E5745F8}"/>
              </a:ext>
            </a:extLst>
          </p:cNvPr>
          <p:cNvGrpSpPr/>
          <p:nvPr/>
        </p:nvGrpSpPr>
        <p:grpSpPr>
          <a:xfrm rot="1295334">
            <a:off x="12410251" y="-3695156"/>
            <a:ext cx="7330889" cy="6609232"/>
            <a:chOff x="0" y="0"/>
            <a:chExt cx="812800" cy="732787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214927F3-FB9B-721C-2E13-A713985791E6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4A794511-F62A-E764-C5F0-1CD8E65F166F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5" name="Hexagon 24">
            <a:extLst>
              <a:ext uri="{FF2B5EF4-FFF2-40B4-BE49-F238E27FC236}">
                <a16:creationId xmlns:a16="http://schemas.microsoft.com/office/drawing/2014/main" id="{89E3A729-DBC6-03D7-CBE6-450DABDE572B}"/>
              </a:ext>
            </a:extLst>
          </p:cNvPr>
          <p:cNvSpPr/>
          <p:nvPr/>
        </p:nvSpPr>
        <p:spPr>
          <a:xfrm>
            <a:off x="15173940" y="1232149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26" name="Graphic 25" descr="Laptop outline">
            <a:extLst>
              <a:ext uri="{FF2B5EF4-FFF2-40B4-BE49-F238E27FC236}">
                <a16:creationId xmlns:a16="http://schemas.microsoft.com/office/drawing/2014/main" id="{9C32E2DF-E605-0AEE-ACF2-48A5840F85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64B7AEDD-8F88-43D8-2FFE-4E3D8EBBB001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F3641EFA-1855-8412-EA52-10E4C533233F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5B7844FC-FA6F-60D6-A813-90B874ADFAD2}"/>
              </a:ext>
            </a:extLst>
          </p:cNvPr>
          <p:cNvSpPr/>
          <p:nvPr/>
        </p:nvSpPr>
        <p:spPr>
          <a:xfrm>
            <a:off x="-2177270" y="7524301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3" name="Freeform 49">
            <a:extLst>
              <a:ext uri="{FF2B5EF4-FFF2-40B4-BE49-F238E27FC236}">
                <a16:creationId xmlns:a16="http://schemas.microsoft.com/office/drawing/2014/main" id="{6A187955-4540-7963-54CB-E09DD0E417B6}"/>
              </a:ext>
            </a:extLst>
          </p:cNvPr>
          <p:cNvSpPr/>
          <p:nvPr/>
        </p:nvSpPr>
        <p:spPr>
          <a:xfrm rot="19788342">
            <a:off x="15879363" y="8228659"/>
            <a:ext cx="2165139" cy="1704668"/>
          </a:xfrm>
          <a:custGeom>
            <a:avLst/>
            <a:gdLst>
              <a:gd name="connsiteX0" fmla="*/ 0 w 3552598"/>
              <a:gd name="connsiteY0" fmla="*/ 0 h 3552598"/>
              <a:gd name="connsiteX1" fmla="*/ 3552598 w 3552598"/>
              <a:gd name="connsiteY1" fmla="*/ 0 h 3552598"/>
              <a:gd name="connsiteX2" fmla="*/ 2891372 w 3552598"/>
              <a:gd name="connsiteY2" fmla="*/ 2751606 h 3552598"/>
              <a:gd name="connsiteX3" fmla="*/ 0 w 3552598"/>
              <a:gd name="connsiteY3" fmla="*/ 3552598 h 3552598"/>
              <a:gd name="connsiteX4" fmla="*/ 0 w 3552598"/>
              <a:gd name="connsiteY4" fmla="*/ 0 h 3552598"/>
              <a:gd name="connsiteX0" fmla="*/ 0 w 3552598"/>
              <a:gd name="connsiteY0" fmla="*/ 0 h 2751606"/>
              <a:gd name="connsiteX1" fmla="*/ 3552598 w 3552598"/>
              <a:gd name="connsiteY1" fmla="*/ 0 h 2751606"/>
              <a:gd name="connsiteX2" fmla="*/ 2891372 w 3552598"/>
              <a:gd name="connsiteY2" fmla="*/ 2751606 h 2751606"/>
              <a:gd name="connsiteX3" fmla="*/ 823383 w 3552598"/>
              <a:gd name="connsiteY3" fmla="*/ 2644253 h 2751606"/>
              <a:gd name="connsiteX4" fmla="*/ 0 w 3552598"/>
              <a:gd name="connsiteY4" fmla="*/ 0 h 2751606"/>
              <a:gd name="connsiteX0" fmla="*/ 0 w 2891372"/>
              <a:gd name="connsiteY0" fmla="*/ 0 h 2751606"/>
              <a:gd name="connsiteX1" fmla="*/ 2387609 w 2891372"/>
              <a:gd name="connsiteY1" fmla="*/ 1316584 h 2751606"/>
              <a:gd name="connsiteX2" fmla="*/ 2891372 w 2891372"/>
              <a:gd name="connsiteY2" fmla="*/ 2751606 h 2751606"/>
              <a:gd name="connsiteX3" fmla="*/ 823383 w 2891372"/>
              <a:gd name="connsiteY3" fmla="*/ 2644253 h 2751606"/>
              <a:gd name="connsiteX4" fmla="*/ 0 w 2891372"/>
              <a:gd name="connsiteY4" fmla="*/ 0 h 2751606"/>
              <a:gd name="connsiteX0" fmla="*/ 0 w 2165139"/>
              <a:gd name="connsiteY0" fmla="*/ 0 h 1704668"/>
              <a:gd name="connsiteX1" fmla="*/ 1661376 w 2165139"/>
              <a:gd name="connsiteY1" fmla="*/ 269646 h 1704668"/>
              <a:gd name="connsiteX2" fmla="*/ 2165139 w 2165139"/>
              <a:gd name="connsiteY2" fmla="*/ 1704668 h 1704668"/>
              <a:gd name="connsiteX3" fmla="*/ 97150 w 2165139"/>
              <a:gd name="connsiteY3" fmla="*/ 1597315 h 1704668"/>
              <a:gd name="connsiteX4" fmla="*/ 0 w 2165139"/>
              <a:gd name="connsiteY4" fmla="*/ 0 h 170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139" h="1704668">
                <a:moveTo>
                  <a:pt x="0" y="0"/>
                </a:moveTo>
                <a:lnTo>
                  <a:pt x="1661376" y="269646"/>
                </a:lnTo>
                <a:lnTo>
                  <a:pt x="2165139" y="1704668"/>
                </a:lnTo>
                <a:lnTo>
                  <a:pt x="97150" y="159731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6"/>
            </a:outerShdw>
          </a:effectLst>
        </p:spPr>
        <p:txBody>
          <a:bodyPr/>
          <a:lstStyle/>
          <a:p>
            <a:endParaRPr lang="fr-MA" dirty="0">
              <a:solidFill>
                <a:schemeClr val="tx2">
                  <a:lumMod val="60000"/>
                  <a:lumOff val="40000"/>
                  <a:alpha val="71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32BD62-0094-883B-28C3-F2B0D5AFE81A}"/>
              </a:ext>
            </a:extLst>
          </p:cNvPr>
          <p:cNvSpPr txBox="1"/>
          <p:nvPr/>
        </p:nvSpPr>
        <p:spPr>
          <a:xfrm>
            <a:off x="2195345" y="3374264"/>
            <a:ext cx="114204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800" dirty="0"/>
              <a:t> Les entrepreneurs manquent de retours objectifs sur leurs idées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800" dirty="0"/>
              <a:t> Aucune plateforme spécialisée pour la validation précoce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sz="2800" dirty="0"/>
              <a:t> Difficulté à mesurer la viabilité d'une startup avant investissement</a:t>
            </a:r>
          </a:p>
        </p:txBody>
      </p:sp>
      <p:sp>
        <p:nvSpPr>
          <p:cNvPr id="43" name="Rectangle: Single Corner Snipped 42">
            <a:extLst>
              <a:ext uri="{FF2B5EF4-FFF2-40B4-BE49-F238E27FC236}">
                <a16:creationId xmlns:a16="http://schemas.microsoft.com/office/drawing/2014/main" id="{163D9527-7051-B28B-45C9-E7104DCF0DCB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2248F3A6-085A-C0C9-4F11-8E4561560E12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04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55F143AC-5759-9C4B-F0A6-178F249DACFC}"/>
              </a:ext>
            </a:extLst>
          </p:cNvPr>
          <p:cNvSpPr txBox="1"/>
          <p:nvPr/>
        </p:nvSpPr>
        <p:spPr>
          <a:xfrm>
            <a:off x="2195345" y="6227780"/>
            <a:ext cx="114204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fr-FR" sz="2800" dirty="0"/>
              <a:t> Connecte entrepreneurs et </a:t>
            </a:r>
            <a:r>
              <a:rPr lang="fr-FR" sz="2800" dirty="0" err="1"/>
              <a:t>reviewers</a:t>
            </a:r>
            <a:r>
              <a:rPr lang="fr-FR" sz="2800" dirty="0"/>
              <a:t> qualifiés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fr-FR" sz="2800" dirty="0"/>
              <a:t> Évaluation structurée sur 4 dimensions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fr-FR" sz="2800" dirty="0"/>
              <a:t> Score Global de Viabilité (SGV) pondéré par expertise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fr-FR" sz="2800" dirty="0"/>
              <a:t> Tableaux de bord analytiques par rôle</a:t>
            </a:r>
          </a:p>
          <a:p>
            <a:br>
              <a:rPr lang="fr-FR" sz="2800" dirty="0"/>
            </a:br>
            <a:endParaRPr lang="fr-FR" sz="2800" dirty="0"/>
          </a:p>
        </p:txBody>
      </p:sp>
      <p:sp>
        <p:nvSpPr>
          <p:cNvPr id="3" name="Freeform 21">
            <a:extLst>
              <a:ext uri="{FF2B5EF4-FFF2-40B4-BE49-F238E27FC236}">
                <a16:creationId xmlns:a16="http://schemas.microsoft.com/office/drawing/2014/main" id="{7E12095B-E902-0F80-0DB0-61553470BE90}"/>
              </a:ext>
            </a:extLst>
          </p:cNvPr>
          <p:cNvSpPr/>
          <p:nvPr/>
        </p:nvSpPr>
        <p:spPr>
          <a:xfrm>
            <a:off x="1028700" y="730007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sp>
        <p:nvSpPr>
          <p:cNvPr id="4" name="TextBox 32">
            <a:extLst>
              <a:ext uri="{FF2B5EF4-FFF2-40B4-BE49-F238E27FC236}">
                <a16:creationId xmlns:a16="http://schemas.microsoft.com/office/drawing/2014/main" id="{C1C35126-B19D-BEF9-3B51-8C8A8B85B3DB}"/>
              </a:ext>
            </a:extLst>
          </p:cNvPr>
          <p:cNvSpPr txBox="1"/>
          <p:nvPr/>
        </p:nvSpPr>
        <p:spPr>
          <a:xfrm>
            <a:off x="1348101" y="1995774"/>
            <a:ext cx="3376299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 spc="162" dirty="0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Problem</a:t>
            </a:r>
          </a:p>
        </p:txBody>
      </p:sp>
      <p:pic>
        <p:nvPicPr>
          <p:cNvPr id="13" name="Picture 12" descr="A star with a white center&#10;&#10;AI-generated content may be incorrect.">
            <a:extLst>
              <a:ext uri="{FF2B5EF4-FFF2-40B4-BE49-F238E27FC236}">
                <a16:creationId xmlns:a16="http://schemas.microsoft.com/office/drawing/2014/main" id="{97AC4838-BEC7-E084-A951-09C0AFCF26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610" y="1955891"/>
            <a:ext cx="324015" cy="324015"/>
          </a:xfrm>
          <a:prstGeom prst="rect">
            <a:avLst/>
          </a:prstGeom>
        </p:spPr>
      </p:pic>
      <p:pic>
        <p:nvPicPr>
          <p:cNvPr id="14" name="Picture 13" descr="A star with a white center&#10;&#10;AI-generated content may be incorrect.">
            <a:extLst>
              <a:ext uri="{FF2B5EF4-FFF2-40B4-BE49-F238E27FC236}">
                <a16:creationId xmlns:a16="http://schemas.microsoft.com/office/drawing/2014/main" id="{68FAF1AC-73B3-540E-BFF9-4ED24CE7B9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4" y="2188928"/>
            <a:ext cx="324015" cy="324015"/>
          </a:xfrm>
          <a:prstGeom prst="rect">
            <a:avLst/>
          </a:prstGeom>
        </p:spPr>
      </p:pic>
      <p:pic>
        <p:nvPicPr>
          <p:cNvPr id="15" name="Picture 14" descr="A star with a white center&#10;&#10;AI-generated content may be incorrect.">
            <a:extLst>
              <a:ext uri="{FF2B5EF4-FFF2-40B4-BE49-F238E27FC236}">
                <a16:creationId xmlns:a16="http://schemas.microsoft.com/office/drawing/2014/main" id="{0196143C-8BE2-E6E3-09DF-9B23785988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60" y="2534440"/>
            <a:ext cx="324015" cy="324015"/>
          </a:xfrm>
          <a:prstGeom prst="rect">
            <a:avLst/>
          </a:prstGeom>
        </p:spPr>
      </p:pic>
      <p:pic>
        <p:nvPicPr>
          <p:cNvPr id="16" name="Picture 15" descr="A star with a white center&#10;&#10;AI-generated content may be incorrect.">
            <a:extLst>
              <a:ext uri="{FF2B5EF4-FFF2-40B4-BE49-F238E27FC236}">
                <a16:creationId xmlns:a16="http://schemas.microsoft.com/office/drawing/2014/main" id="{7D9A80B3-26A9-39C2-4D35-68C7CE4D06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256" y="2039946"/>
            <a:ext cx="324015" cy="324015"/>
          </a:xfrm>
          <a:prstGeom prst="rect">
            <a:avLst/>
          </a:prstGeom>
        </p:spPr>
      </p:pic>
      <p:pic>
        <p:nvPicPr>
          <p:cNvPr id="17" name="Picture 1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BBE98866-EDE3-4CDB-103A-8C494A3974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090" y="2279906"/>
            <a:ext cx="324015" cy="324015"/>
          </a:xfrm>
          <a:prstGeom prst="rect">
            <a:avLst/>
          </a:prstGeom>
        </p:spPr>
      </p:pic>
      <p:pic>
        <p:nvPicPr>
          <p:cNvPr id="18" name="Picture 1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9A51BD4F-E165-D68A-03C2-718534C198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226" y="2598140"/>
            <a:ext cx="324015" cy="324015"/>
          </a:xfrm>
          <a:prstGeom prst="rect">
            <a:avLst/>
          </a:prstGeom>
        </p:spPr>
      </p:pic>
      <p:sp>
        <p:nvSpPr>
          <p:cNvPr id="19" name="Freeform 21">
            <a:extLst>
              <a:ext uri="{FF2B5EF4-FFF2-40B4-BE49-F238E27FC236}">
                <a16:creationId xmlns:a16="http://schemas.microsoft.com/office/drawing/2014/main" id="{E30E6356-55A3-2346-6E80-A3A18D028372}"/>
              </a:ext>
            </a:extLst>
          </p:cNvPr>
          <p:cNvSpPr/>
          <p:nvPr/>
        </p:nvSpPr>
        <p:spPr>
          <a:xfrm>
            <a:off x="1202577" y="4035599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sp>
        <p:nvSpPr>
          <p:cNvPr id="20" name="TextBox 32">
            <a:extLst>
              <a:ext uri="{FF2B5EF4-FFF2-40B4-BE49-F238E27FC236}">
                <a16:creationId xmlns:a16="http://schemas.microsoft.com/office/drawing/2014/main" id="{CBF90B70-52B5-DAFC-79DC-3C95391679BF}"/>
              </a:ext>
            </a:extLst>
          </p:cNvPr>
          <p:cNvSpPr txBox="1"/>
          <p:nvPr/>
        </p:nvSpPr>
        <p:spPr>
          <a:xfrm>
            <a:off x="1521978" y="5301366"/>
            <a:ext cx="3678293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 spc="162" dirty="0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Solution</a:t>
            </a:r>
          </a:p>
        </p:txBody>
      </p:sp>
      <p:pic>
        <p:nvPicPr>
          <p:cNvPr id="27" name="Picture 2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551D4020-AAEA-E121-B039-C10FB36E75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87" y="5261483"/>
            <a:ext cx="324015" cy="324015"/>
          </a:xfrm>
          <a:prstGeom prst="rect">
            <a:avLst/>
          </a:prstGeom>
        </p:spPr>
      </p:pic>
      <p:pic>
        <p:nvPicPr>
          <p:cNvPr id="28" name="Picture 2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5E3E1DB8-C6E9-0DD4-2266-D817B030E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11" y="5494520"/>
            <a:ext cx="324015" cy="324015"/>
          </a:xfrm>
          <a:prstGeom prst="rect">
            <a:avLst/>
          </a:prstGeom>
        </p:spPr>
      </p:pic>
      <p:pic>
        <p:nvPicPr>
          <p:cNvPr id="34" name="Picture 33" descr="A star with a white center&#10;&#10;AI-generated content may be incorrect.">
            <a:extLst>
              <a:ext uri="{FF2B5EF4-FFF2-40B4-BE49-F238E27FC236}">
                <a16:creationId xmlns:a16="http://schemas.microsoft.com/office/drawing/2014/main" id="{53F7A6E0-81A7-7CE0-BB83-D4CF598418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37" y="5840032"/>
            <a:ext cx="324015" cy="324015"/>
          </a:xfrm>
          <a:prstGeom prst="rect">
            <a:avLst/>
          </a:prstGeom>
        </p:spPr>
      </p:pic>
      <p:pic>
        <p:nvPicPr>
          <p:cNvPr id="35" name="Picture 34" descr="A star with a white center&#10;&#10;AI-generated content may be incorrect.">
            <a:extLst>
              <a:ext uri="{FF2B5EF4-FFF2-40B4-BE49-F238E27FC236}">
                <a16:creationId xmlns:a16="http://schemas.microsoft.com/office/drawing/2014/main" id="{687581AD-1C86-78B2-3231-1FE5D345DD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407" y="5326521"/>
            <a:ext cx="324015" cy="324015"/>
          </a:xfrm>
          <a:prstGeom prst="rect">
            <a:avLst/>
          </a:prstGeom>
        </p:spPr>
      </p:pic>
      <p:pic>
        <p:nvPicPr>
          <p:cNvPr id="45" name="Picture 44" descr="A star with a white center&#10;&#10;AI-generated content may be incorrect.">
            <a:extLst>
              <a:ext uri="{FF2B5EF4-FFF2-40B4-BE49-F238E27FC236}">
                <a16:creationId xmlns:a16="http://schemas.microsoft.com/office/drawing/2014/main" id="{18D1BB01-7864-03DA-82A6-7ACC02B4F0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241" y="5566481"/>
            <a:ext cx="324015" cy="324015"/>
          </a:xfrm>
          <a:prstGeom prst="rect">
            <a:avLst/>
          </a:prstGeom>
        </p:spPr>
      </p:pic>
      <p:pic>
        <p:nvPicPr>
          <p:cNvPr id="46" name="Picture 45" descr="A star with a white center&#10;&#10;AI-generated content may be incorrect.">
            <a:extLst>
              <a:ext uri="{FF2B5EF4-FFF2-40B4-BE49-F238E27FC236}">
                <a16:creationId xmlns:a16="http://schemas.microsoft.com/office/drawing/2014/main" id="{77ADEB57-D66F-50AA-D107-E3165A0E61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377" y="5884715"/>
            <a:ext cx="324015" cy="324015"/>
          </a:xfrm>
          <a:prstGeom prst="rect">
            <a:avLst/>
          </a:prstGeom>
        </p:spPr>
      </p:pic>
      <p:grpSp>
        <p:nvGrpSpPr>
          <p:cNvPr id="47" name="Group 2">
            <a:extLst>
              <a:ext uri="{FF2B5EF4-FFF2-40B4-BE49-F238E27FC236}">
                <a16:creationId xmlns:a16="http://schemas.microsoft.com/office/drawing/2014/main" id="{EA447B22-5FD4-CD69-E423-6E2C81DCB955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48" name="Freeform 3">
              <a:extLst>
                <a:ext uri="{FF2B5EF4-FFF2-40B4-BE49-F238E27FC236}">
                  <a16:creationId xmlns:a16="http://schemas.microsoft.com/office/drawing/2014/main" id="{61D70046-2D1A-26F6-B056-B4A4C4FEF850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9" name="TextBox 4">
              <a:extLst>
                <a:ext uri="{FF2B5EF4-FFF2-40B4-BE49-F238E27FC236}">
                  <a16:creationId xmlns:a16="http://schemas.microsoft.com/office/drawing/2014/main" id="{9D19BBE1-0B8E-28FC-4549-47AB7505CD47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1" name="Graphic 50" descr="Good Idea outline">
            <a:extLst>
              <a:ext uri="{FF2B5EF4-FFF2-40B4-BE49-F238E27FC236}">
                <a16:creationId xmlns:a16="http://schemas.microsoft.com/office/drawing/2014/main" id="{30DC2E5F-9DFD-4A8C-1CC3-08A73E3945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81675" y="896916"/>
            <a:ext cx="804387" cy="647251"/>
          </a:xfrm>
          <a:prstGeom prst="rect">
            <a:avLst/>
          </a:prstGeom>
        </p:spPr>
      </p:pic>
      <p:pic>
        <p:nvPicPr>
          <p:cNvPr id="53" name="Graphic 52" descr="Good Idea outline">
            <a:extLst>
              <a:ext uri="{FF2B5EF4-FFF2-40B4-BE49-F238E27FC236}">
                <a16:creationId xmlns:a16="http://schemas.microsoft.com/office/drawing/2014/main" id="{3F86BD9B-53FC-B8ED-B4C4-F1166CCAA2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05582" y="584898"/>
            <a:ext cx="804387" cy="64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9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F00E-505D-30F4-597D-BD68D76AB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358B5582-1438-B192-64AB-06F26BEEED4C}"/>
              </a:ext>
            </a:extLst>
          </p:cNvPr>
          <p:cNvSpPr/>
          <p:nvPr/>
        </p:nvSpPr>
        <p:spPr>
          <a:xfrm>
            <a:off x="1181549" y="1932605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CB45F273-09B7-78EC-D623-F6C1C688DB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grpSp>
        <p:nvGrpSpPr>
          <p:cNvPr id="22" name="Group 3">
            <a:extLst>
              <a:ext uri="{FF2B5EF4-FFF2-40B4-BE49-F238E27FC236}">
                <a16:creationId xmlns:a16="http://schemas.microsoft.com/office/drawing/2014/main" id="{D2E2D3F4-7894-4FFA-4295-3D33B45923BD}"/>
              </a:ext>
            </a:extLst>
          </p:cNvPr>
          <p:cNvGrpSpPr/>
          <p:nvPr/>
        </p:nvGrpSpPr>
        <p:grpSpPr>
          <a:xfrm rot="1295334">
            <a:off x="12410251" y="-3695156"/>
            <a:ext cx="7330889" cy="6609232"/>
            <a:chOff x="0" y="0"/>
            <a:chExt cx="812800" cy="732787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21B4D00A-7091-8247-A26B-FED928408F27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E1EA4556-C6D4-4451-0778-639EBA4938B5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5" name="Hexagon 24">
            <a:extLst>
              <a:ext uri="{FF2B5EF4-FFF2-40B4-BE49-F238E27FC236}">
                <a16:creationId xmlns:a16="http://schemas.microsoft.com/office/drawing/2014/main" id="{BD90CD4F-F650-67B7-5623-F784400568F7}"/>
              </a:ext>
            </a:extLst>
          </p:cNvPr>
          <p:cNvSpPr/>
          <p:nvPr/>
        </p:nvSpPr>
        <p:spPr>
          <a:xfrm>
            <a:off x="15173940" y="1232149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26" name="Graphic 25" descr="Laptop outline">
            <a:extLst>
              <a:ext uri="{FF2B5EF4-FFF2-40B4-BE49-F238E27FC236}">
                <a16:creationId xmlns:a16="http://schemas.microsoft.com/office/drawing/2014/main" id="{5FFD6D98-7D21-D7F1-C5F7-7878730004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77664D2E-35EF-2FBF-1A74-C6BB40BF0696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FAC9F2F8-DCD6-BAE8-DB31-2A93F09FE7E8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317E3D8B-206C-8379-00DD-CD60A0234A77}"/>
              </a:ext>
            </a:extLst>
          </p:cNvPr>
          <p:cNvSpPr/>
          <p:nvPr/>
        </p:nvSpPr>
        <p:spPr>
          <a:xfrm>
            <a:off x="-1855813" y="7481097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3" name="Freeform 49">
            <a:extLst>
              <a:ext uri="{FF2B5EF4-FFF2-40B4-BE49-F238E27FC236}">
                <a16:creationId xmlns:a16="http://schemas.microsoft.com/office/drawing/2014/main" id="{76972904-A080-CEF9-FA20-DFE738D825EE}"/>
              </a:ext>
            </a:extLst>
          </p:cNvPr>
          <p:cNvSpPr/>
          <p:nvPr/>
        </p:nvSpPr>
        <p:spPr>
          <a:xfrm rot="19788342">
            <a:off x="15879363" y="8228659"/>
            <a:ext cx="2165139" cy="1704668"/>
          </a:xfrm>
          <a:custGeom>
            <a:avLst/>
            <a:gdLst>
              <a:gd name="connsiteX0" fmla="*/ 0 w 3552598"/>
              <a:gd name="connsiteY0" fmla="*/ 0 h 3552598"/>
              <a:gd name="connsiteX1" fmla="*/ 3552598 w 3552598"/>
              <a:gd name="connsiteY1" fmla="*/ 0 h 3552598"/>
              <a:gd name="connsiteX2" fmla="*/ 2891372 w 3552598"/>
              <a:gd name="connsiteY2" fmla="*/ 2751606 h 3552598"/>
              <a:gd name="connsiteX3" fmla="*/ 0 w 3552598"/>
              <a:gd name="connsiteY3" fmla="*/ 3552598 h 3552598"/>
              <a:gd name="connsiteX4" fmla="*/ 0 w 3552598"/>
              <a:gd name="connsiteY4" fmla="*/ 0 h 3552598"/>
              <a:gd name="connsiteX0" fmla="*/ 0 w 3552598"/>
              <a:gd name="connsiteY0" fmla="*/ 0 h 2751606"/>
              <a:gd name="connsiteX1" fmla="*/ 3552598 w 3552598"/>
              <a:gd name="connsiteY1" fmla="*/ 0 h 2751606"/>
              <a:gd name="connsiteX2" fmla="*/ 2891372 w 3552598"/>
              <a:gd name="connsiteY2" fmla="*/ 2751606 h 2751606"/>
              <a:gd name="connsiteX3" fmla="*/ 823383 w 3552598"/>
              <a:gd name="connsiteY3" fmla="*/ 2644253 h 2751606"/>
              <a:gd name="connsiteX4" fmla="*/ 0 w 3552598"/>
              <a:gd name="connsiteY4" fmla="*/ 0 h 2751606"/>
              <a:gd name="connsiteX0" fmla="*/ 0 w 2891372"/>
              <a:gd name="connsiteY0" fmla="*/ 0 h 2751606"/>
              <a:gd name="connsiteX1" fmla="*/ 2387609 w 2891372"/>
              <a:gd name="connsiteY1" fmla="*/ 1316584 h 2751606"/>
              <a:gd name="connsiteX2" fmla="*/ 2891372 w 2891372"/>
              <a:gd name="connsiteY2" fmla="*/ 2751606 h 2751606"/>
              <a:gd name="connsiteX3" fmla="*/ 823383 w 2891372"/>
              <a:gd name="connsiteY3" fmla="*/ 2644253 h 2751606"/>
              <a:gd name="connsiteX4" fmla="*/ 0 w 2891372"/>
              <a:gd name="connsiteY4" fmla="*/ 0 h 2751606"/>
              <a:gd name="connsiteX0" fmla="*/ 0 w 2165139"/>
              <a:gd name="connsiteY0" fmla="*/ 0 h 1704668"/>
              <a:gd name="connsiteX1" fmla="*/ 1661376 w 2165139"/>
              <a:gd name="connsiteY1" fmla="*/ 269646 h 1704668"/>
              <a:gd name="connsiteX2" fmla="*/ 2165139 w 2165139"/>
              <a:gd name="connsiteY2" fmla="*/ 1704668 h 1704668"/>
              <a:gd name="connsiteX3" fmla="*/ 97150 w 2165139"/>
              <a:gd name="connsiteY3" fmla="*/ 1597315 h 1704668"/>
              <a:gd name="connsiteX4" fmla="*/ 0 w 2165139"/>
              <a:gd name="connsiteY4" fmla="*/ 0 h 170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139" h="1704668">
                <a:moveTo>
                  <a:pt x="0" y="0"/>
                </a:moveTo>
                <a:lnTo>
                  <a:pt x="1661376" y="269646"/>
                </a:lnTo>
                <a:lnTo>
                  <a:pt x="2165139" y="1704668"/>
                </a:lnTo>
                <a:lnTo>
                  <a:pt x="97150" y="159731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6"/>
            </a:outerShdw>
          </a:effectLst>
        </p:spPr>
        <p:txBody>
          <a:bodyPr/>
          <a:lstStyle/>
          <a:p>
            <a:endParaRPr lang="fr-MA" dirty="0">
              <a:solidFill>
                <a:schemeClr val="tx2">
                  <a:lumMod val="60000"/>
                  <a:lumOff val="40000"/>
                  <a:alpha val="71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50DEA5-D6FE-1CA6-D411-E4D23D815059}"/>
              </a:ext>
            </a:extLst>
          </p:cNvPr>
          <p:cNvSpPr txBox="1"/>
          <p:nvPr/>
        </p:nvSpPr>
        <p:spPr>
          <a:xfrm>
            <a:off x="1130048" y="2673307"/>
            <a:ext cx="561634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fr-MA" sz="2800" dirty="0"/>
              <a:t>Django 5.2.13 + Django REST Framework 3.14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fr-MA" sz="2800" dirty="0"/>
              <a:t> MySQL 8.4 (utf8mb4)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fr-MA" sz="2800" dirty="0"/>
              <a:t> Redis (cache &amp; broker)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fr-MA" sz="2800" dirty="0"/>
              <a:t> </a:t>
            </a:r>
            <a:r>
              <a:rPr lang="fr-MA" sz="2800" dirty="0" err="1"/>
              <a:t>Celery</a:t>
            </a:r>
            <a:r>
              <a:rPr lang="fr-MA" sz="2800" dirty="0"/>
              <a:t> (tâches asynchrones)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fr-MA" sz="2800" dirty="0"/>
              <a:t> Simple JWT (</a:t>
            </a:r>
            <a:r>
              <a:rPr lang="fr-MA" sz="2800" dirty="0" err="1"/>
              <a:t>auth</a:t>
            </a:r>
            <a:r>
              <a:rPr lang="fr-MA" sz="2800" dirty="0"/>
              <a:t>)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fr-MA" sz="2800" dirty="0"/>
              <a:t> </a:t>
            </a:r>
            <a:r>
              <a:rPr lang="fr-MA" sz="2800" dirty="0" err="1"/>
              <a:t>Reportlab</a:t>
            </a:r>
            <a:r>
              <a:rPr lang="fr-MA" sz="2800" dirty="0"/>
              <a:t> (export PDF)</a:t>
            </a:r>
          </a:p>
        </p:txBody>
      </p:sp>
      <p:sp>
        <p:nvSpPr>
          <p:cNvPr id="43" name="Rectangle: Single Corner Snipped 42">
            <a:extLst>
              <a:ext uri="{FF2B5EF4-FFF2-40B4-BE49-F238E27FC236}">
                <a16:creationId xmlns:a16="http://schemas.microsoft.com/office/drawing/2014/main" id="{AF2CF6C4-2B0B-106C-3501-FA121CF5C1C8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ABB38970-C94D-0C57-379A-D11E3E5A569D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05</a:t>
            </a:r>
          </a:p>
        </p:txBody>
      </p:sp>
      <p:sp>
        <p:nvSpPr>
          <p:cNvPr id="14" name="TextBox 35">
            <a:extLst>
              <a:ext uri="{FF2B5EF4-FFF2-40B4-BE49-F238E27FC236}">
                <a16:creationId xmlns:a16="http://schemas.microsoft.com/office/drawing/2014/main" id="{1EB9D1F7-CF34-0D2B-BE80-A8F252B684B5}"/>
              </a:ext>
            </a:extLst>
          </p:cNvPr>
          <p:cNvSpPr txBox="1"/>
          <p:nvPr/>
        </p:nvSpPr>
        <p:spPr>
          <a:xfrm>
            <a:off x="7829656" y="2692101"/>
            <a:ext cx="50452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MA" sz="2800" dirty="0"/>
              <a:t> </a:t>
            </a:r>
            <a:r>
              <a:rPr lang="fr-MA" sz="2800" dirty="0" err="1"/>
              <a:t>React</a:t>
            </a:r>
            <a:r>
              <a:rPr lang="fr-MA" sz="2800" dirty="0"/>
              <a:t> 18 + Vite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MA" sz="2800" dirty="0"/>
              <a:t> </a:t>
            </a:r>
            <a:r>
              <a:rPr lang="fr-MA" sz="2800" dirty="0" err="1"/>
              <a:t>Tailwind</a:t>
            </a:r>
            <a:r>
              <a:rPr lang="fr-MA" sz="2800" dirty="0"/>
              <a:t> CSS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MA" sz="2800" dirty="0"/>
              <a:t> </a:t>
            </a:r>
            <a:r>
              <a:rPr lang="fr-MA" sz="2800" dirty="0" err="1"/>
              <a:t>Zustand</a:t>
            </a:r>
            <a:r>
              <a:rPr lang="fr-MA" sz="2800" dirty="0"/>
              <a:t> (state management)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MA" sz="2800" dirty="0"/>
              <a:t> Axios (HTTP client)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MA" sz="2800" dirty="0"/>
              <a:t> </a:t>
            </a:r>
            <a:r>
              <a:rPr lang="fr-MA" sz="2800" dirty="0" err="1"/>
              <a:t>React</a:t>
            </a:r>
            <a:r>
              <a:rPr lang="fr-MA" sz="2800" dirty="0"/>
              <a:t> Router</a:t>
            </a:r>
          </a:p>
        </p:txBody>
      </p:sp>
      <p:sp>
        <p:nvSpPr>
          <p:cNvPr id="10" name="TextBox 32">
            <a:extLst>
              <a:ext uri="{FF2B5EF4-FFF2-40B4-BE49-F238E27FC236}">
                <a16:creationId xmlns:a16="http://schemas.microsoft.com/office/drawing/2014/main" id="{25F4F8A6-47CE-C7B3-505B-D668B8228D70}"/>
              </a:ext>
            </a:extLst>
          </p:cNvPr>
          <p:cNvSpPr txBox="1"/>
          <p:nvPr/>
        </p:nvSpPr>
        <p:spPr>
          <a:xfrm>
            <a:off x="1600649" y="1832891"/>
            <a:ext cx="3376299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 spc="162" dirty="0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Backend</a:t>
            </a:r>
          </a:p>
        </p:txBody>
      </p:sp>
      <p:pic>
        <p:nvPicPr>
          <p:cNvPr id="11" name="Picture 10" descr="A star with a white center&#10;&#10;AI-generated content may be incorrect.">
            <a:extLst>
              <a:ext uri="{FF2B5EF4-FFF2-40B4-BE49-F238E27FC236}">
                <a16:creationId xmlns:a16="http://schemas.microsoft.com/office/drawing/2014/main" id="{BF2055A5-392E-8E13-BE6D-38648F60B2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58" y="1793008"/>
            <a:ext cx="324015" cy="324015"/>
          </a:xfrm>
          <a:prstGeom prst="rect">
            <a:avLst/>
          </a:prstGeom>
        </p:spPr>
      </p:pic>
      <p:pic>
        <p:nvPicPr>
          <p:cNvPr id="12" name="Picture 11" descr="A star with a white center&#10;&#10;AI-generated content may be incorrect.">
            <a:extLst>
              <a:ext uri="{FF2B5EF4-FFF2-40B4-BE49-F238E27FC236}">
                <a16:creationId xmlns:a16="http://schemas.microsoft.com/office/drawing/2014/main" id="{ECDFBBDC-D1B4-5362-3C4D-957C4830DE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2" y="2026045"/>
            <a:ext cx="324015" cy="324015"/>
          </a:xfrm>
          <a:prstGeom prst="rect">
            <a:avLst/>
          </a:prstGeom>
        </p:spPr>
      </p:pic>
      <p:pic>
        <p:nvPicPr>
          <p:cNvPr id="13" name="Picture 12" descr="A star with a white center&#10;&#10;AI-generated content may be incorrect.">
            <a:extLst>
              <a:ext uri="{FF2B5EF4-FFF2-40B4-BE49-F238E27FC236}">
                <a16:creationId xmlns:a16="http://schemas.microsoft.com/office/drawing/2014/main" id="{58C51D7E-E4E8-03F4-77A0-1D30A01EFC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08" y="2371557"/>
            <a:ext cx="324015" cy="324015"/>
          </a:xfrm>
          <a:prstGeom prst="rect">
            <a:avLst/>
          </a:prstGeom>
        </p:spPr>
      </p:pic>
      <p:pic>
        <p:nvPicPr>
          <p:cNvPr id="15" name="Picture 14" descr="A star with a white center&#10;&#10;AI-generated content may be incorrect.">
            <a:extLst>
              <a:ext uri="{FF2B5EF4-FFF2-40B4-BE49-F238E27FC236}">
                <a16:creationId xmlns:a16="http://schemas.microsoft.com/office/drawing/2014/main" id="{3D59BAE8-57D6-E8B7-C2F4-0611ED3E22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804" y="1877063"/>
            <a:ext cx="324015" cy="324015"/>
          </a:xfrm>
          <a:prstGeom prst="rect">
            <a:avLst/>
          </a:prstGeom>
        </p:spPr>
      </p:pic>
      <p:pic>
        <p:nvPicPr>
          <p:cNvPr id="16" name="Picture 15" descr="A star with a white center&#10;&#10;AI-generated content may be incorrect.">
            <a:extLst>
              <a:ext uri="{FF2B5EF4-FFF2-40B4-BE49-F238E27FC236}">
                <a16:creationId xmlns:a16="http://schemas.microsoft.com/office/drawing/2014/main" id="{A2271420-72D8-A7D7-F174-43B2354C01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940" y="2117023"/>
            <a:ext cx="324015" cy="324015"/>
          </a:xfrm>
          <a:prstGeom prst="rect">
            <a:avLst/>
          </a:prstGeom>
        </p:spPr>
      </p:pic>
      <p:pic>
        <p:nvPicPr>
          <p:cNvPr id="17" name="Picture 1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FC8757D6-5542-6CEC-CF45-43B92053B0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774" y="2435257"/>
            <a:ext cx="324015" cy="324015"/>
          </a:xfrm>
          <a:prstGeom prst="rect">
            <a:avLst/>
          </a:prstGeom>
        </p:spPr>
      </p:pic>
      <p:sp>
        <p:nvSpPr>
          <p:cNvPr id="18" name="Freeform 21">
            <a:extLst>
              <a:ext uri="{FF2B5EF4-FFF2-40B4-BE49-F238E27FC236}">
                <a16:creationId xmlns:a16="http://schemas.microsoft.com/office/drawing/2014/main" id="{A72D6936-4405-CE5F-4F98-A8EC8D004ED6}"/>
              </a:ext>
            </a:extLst>
          </p:cNvPr>
          <p:cNvSpPr/>
          <p:nvPr/>
        </p:nvSpPr>
        <p:spPr>
          <a:xfrm>
            <a:off x="7656076" y="1932605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sp>
        <p:nvSpPr>
          <p:cNvPr id="19" name="TextBox 32">
            <a:extLst>
              <a:ext uri="{FF2B5EF4-FFF2-40B4-BE49-F238E27FC236}">
                <a16:creationId xmlns:a16="http://schemas.microsoft.com/office/drawing/2014/main" id="{10EBDCBD-85F5-23F7-10F9-29D38A60B938}"/>
              </a:ext>
            </a:extLst>
          </p:cNvPr>
          <p:cNvSpPr txBox="1"/>
          <p:nvPr/>
        </p:nvSpPr>
        <p:spPr>
          <a:xfrm>
            <a:off x="8075176" y="1832891"/>
            <a:ext cx="3376299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 spc="162" dirty="0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Frontend</a:t>
            </a:r>
          </a:p>
        </p:txBody>
      </p:sp>
      <p:pic>
        <p:nvPicPr>
          <p:cNvPr id="20" name="Picture 19" descr="A star with a white center&#10;&#10;AI-generated content may be incorrect.">
            <a:extLst>
              <a:ext uri="{FF2B5EF4-FFF2-40B4-BE49-F238E27FC236}">
                <a16:creationId xmlns:a16="http://schemas.microsoft.com/office/drawing/2014/main" id="{74084E4C-5888-425A-39DC-FDD3AC11D3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685" y="1793008"/>
            <a:ext cx="324015" cy="324015"/>
          </a:xfrm>
          <a:prstGeom prst="rect">
            <a:avLst/>
          </a:prstGeom>
        </p:spPr>
      </p:pic>
      <p:pic>
        <p:nvPicPr>
          <p:cNvPr id="27" name="Picture 2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2FE53389-02CA-B17E-E2A7-6042D38C16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509" y="2026045"/>
            <a:ext cx="324015" cy="324015"/>
          </a:xfrm>
          <a:prstGeom prst="rect">
            <a:avLst/>
          </a:prstGeom>
        </p:spPr>
      </p:pic>
      <p:pic>
        <p:nvPicPr>
          <p:cNvPr id="28" name="Picture 2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9F98DB89-2FF7-02B1-54B0-5D3F80D537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135" y="2371557"/>
            <a:ext cx="324015" cy="324015"/>
          </a:xfrm>
          <a:prstGeom prst="rect">
            <a:avLst/>
          </a:prstGeom>
        </p:spPr>
      </p:pic>
      <p:pic>
        <p:nvPicPr>
          <p:cNvPr id="34" name="Picture 33" descr="A star with a white center&#10;&#10;AI-generated content may be incorrect.">
            <a:extLst>
              <a:ext uri="{FF2B5EF4-FFF2-40B4-BE49-F238E27FC236}">
                <a16:creationId xmlns:a16="http://schemas.microsoft.com/office/drawing/2014/main" id="{6894A591-D449-95AC-9159-B68BBE3DD8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3331" y="1877063"/>
            <a:ext cx="324015" cy="324015"/>
          </a:xfrm>
          <a:prstGeom prst="rect">
            <a:avLst/>
          </a:prstGeom>
        </p:spPr>
      </p:pic>
      <p:pic>
        <p:nvPicPr>
          <p:cNvPr id="35" name="Picture 34" descr="A star with a white center&#10;&#10;AI-generated content may be incorrect.">
            <a:extLst>
              <a:ext uri="{FF2B5EF4-FFF2-40B4-BE49-F238E27FC236}">
                <a16:creationId xmlns:a16="http://schemas.microsoft.com/office/drawing/2014/main" id="{B2FC3193-A41F-31C6-7D85-060A7C5374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467" y="2117023"/>
            <a:ext cx="324015" cy="324015"/>
          </a:xfrm>
          <a:prstGeom prst="rect">
            <a:avLst/>
          </a:prstGeom>
        </p:spPr>
      </p:pic>
      <p:pic>
        <p:nvPicPr>
          <p:cNvPr id="45" name="Picture 44" descr="A star with a white center&#10;&#10;AI-generated content may be incorrect.">
            <a:extLst>
              <a:ext uri="{FF2B5EF4-FFF2-40B4-BE49-F238E27FC236}">
                <a16:creationId xmlns:a16="http://schemas.microsoft.com/office/drawing/2014/main" id="{346CE18D-A5F2-31E2-4A1B-342CF6AD87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3301" y="2435257"/>
            <a:ext cx="324015" cy="324015"/>
          </a:xfrm>
          <a:prstGeom prst="rect">
            <a:avLst/>
          </a:prstGeom>
        </p:spPr>
      </p:pic>
      <p:grpSp>
        <p:nvGrpSpPr>
          <p:cNvPr id="46" name="Group 2">
            <a:extLst>
              <a:ext uri="{FF2B5EF4-FFF2-40B4-BE49-F238E27FC236}">
                <a16:creationId xmlns:a16="http://schemas.microsoft.com/office/drawing/2014/main" id="{96A35FF6-8A55-6F19-C181-1BF193DC1F2E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47" name="Freeform 3">
              <a:extLst>
                <a:ext uri="{FF2B5EF4-FFF2-40B4-BE49-F238E27FC236}">
                  <a16:creationId xmlns:a16="http://schemas.microsoft.com/office/drawing/2014/main" id="{E8942449-74A0-8DD1-BB04-CDE37980D794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8" name="TextBox 4">
              <a:extLst>
                <a:ext uri="{FF2B5EF4-FFF2-40B4-BE49-F238E27FC236}">
                  <a16:creationId xmlns:a16="http://schemas.microsoft.com/office/drawing/2014/main" id="{8A51B83A-2759-5D11-E768-27159728CA8C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0" name="Graphic 49" descr="Good Idea outline">
            <a:extLst>
              <a:ext uri="{FF2B5EF4-FFF2-40B4-BE49-F238E27FC236}">
                <a16:creationId xmlns:a16="http://schemas.microsoft.com/office/drawing/2014/main" id="{8C8CCA10-3F13-EF6D-907D-5ABF5B0F35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62625" y="882304"/>
            <a:ext cx="804387" cy="64725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7EC6D51-8056-2AE3-1D3F-40FA7807BEA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839" y="6516176"/>
            <a:ext cx="1832264" cy="16318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B26652-AE3D-2A1E-FA20-3EC305304A4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978" y="6668903"/>
            <a:ext cx="2168901" cy="13264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B442A5-8617-48A9-3176-3D70774DAA4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044" y="6307066"/>
            <a:ext cx="2050098" cy="205009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017095A-72D1-601A-D774-FDBCBEAF12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79431" y="6206481"/>
            <a:ext cx="2703169" cy="180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50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DE05C-3E62-C505-EBF0-1D68AD776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3">
            <a:extLst>
              <a:ext uri="{FF2B5EF4-FFF2-40B4-BE49-F238E27FC236}">
                <a16:creationId xmlns:a16="http://schemas.microsoft.com/office/drawing/2014/main" id="{4F85F4DB-3DCC-D53A-42FC-177274AE0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301" y="3267767"/>
            <a:ext cx="10741777" cy="6876952"/>
          </a:xfrm>
          <a:prstGeom prst="rect">
            <a:avLst/>
          </a:prstGeom>
        </p:spPr>
      </p:pic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877CC91E-4ECD-ED54-F142-4A4B92F10F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grpSp>
        <p:nvGrpSpPr>
          <p:cNvPr id="22" name="Group 3">
            <a:extLst>
              <a:ext uri="{FF2B5EF4-FFF2-40B4-BE49-F238E27FC236}">
                <a16:creationId xmlns:a16="http://schemas.microsoft.com/office/drawing/2014/main" id="{EEDCD534-1C12-9B8D-604A-4B0EF7A07B10}"/>
              </a:ext>
            </a:extLst>
          </p:cNvPr>
          <p:cNvGrpSpPr/>
          <p:nvPr/>
        </p:nvGrpSpPr>
        <p:grpSpPr>
          <a:xfrm rot="1295334">
            <a:off x="12410251" y="-3695156"/>
            <a:ext cx="7330889" cy="6609232"/>
            <a:chOff x="0" y="0"/>
            <a:chExt cx="812800" cy="732787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1FCB63A0-42B1-F42A-EB4A-23CDB46D2EB4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09DB3972-0AC1-F32C-13BE-4633E87F3A13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5" name="Hexagon 24">
            <a:extLst>
              <a:ext uri="{FF2B5EF4-FFF2-40B4-BE49-F238E27FC236}">
                <a16:creationId xmlns:a16="http://schemas.microsoft.com/office/drawing/2014/main" id="{9A9B6E20-66F6-FDF9-826B-DB112746FEB2}"/>
              </a:ext>
            </a:extLst>
          </p:cNvPr>
          <p:cNvSpPr/>
          <p:nvPr/>
        </p:nvSpPr>
        <p:spPr>
          <a:xfrm>
            <a:off x="15173940" y="1232149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26" name="Graphic 25" descr="Laptop outline">
            <a:extLst>
              <a:ext uri="{FF2B5EF4-FFF2-40B4-BE49-F238E27FC236}">
                <a16:creationId xmlns:a16="http://schemas.microsoft.com/office/drawing/2014/main" id="{E8622E44-36B0-6BA6-5EC1-B39C48C1B8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67EA2B5F-99A4-DE67-BF93-213369FCF3BF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EB6AB2AA-366B-1E06-0575-154D9CE30F04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BEA3CA0-29E4-15C1-395D-59A5F794B2D0}"/>
              </a:ext>
            </a:extLst>
          </p:cNvPr>
          <p:cNvSpPr/>
          <p:nvPr/>
        </p:nvSpPr>
        <p:spPr>
          <a:xfrm>
            <a:off x="-1855813" y="7481097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3" name="Freeform 49">
            <a:extLst>
              <a:ext uri="{FF2B5EF4-FFF2-40B4-BE49-F238E27FC236}">
                <a16:creationId xmlns:a16="http://schemas.microsoft.com/office/drawing/2014/main" id="{082FCF84-ED6D-C9D4-B6BA-2B2AC4D535DF}"/>
              </a:ext>
            </a:extLst>
          </p:cNvPr>
          <p:cNvSpPr/>
          <p:nvPr/>
        </p:nvSpPr>
        <p:spPr>
          <a:xfrm rot="19788342">
            <a:off x="15879363" y="8228659"/>
            <a:ext cx="2165139" cy="1704668"/>
          </a:xfrm>
          <a:custGeom>
            <a:avLst/>
            <a:gdLst>
              <a:gd name="connsiteX0" fmla="*/ 0 w 3552598"/>
              <a:gd name="connsiteY0" fmla="*/ 0 h 3552598"/>
              <a:gd name="connsiteX1" fmla="*/ 3552598 w 3552598"/>
              <a:gd name="connsiteY1" fmla="*/ 0 h 3552598"/>
              <a:gd name="connsiteX2" fmla="*/ 2891372 w 3552598"/>
              <a:gd name="connsiteY2" fmla="*/ 2751606 h 3552598"/>
              <a:gd name="connsiteX3" fmla="*/ 0 w 3552598"/>
              <a:gd name="connsiteY3" fmla="*/ 3552598 h 3552598"/>
              <a:gd name="connsiteX4" fmla="*/ 0 w 3552598"/>
              <a:gd name="connsiteY4" fmla="*/ 0 h 3552598"/>
              <a:gd name="connsiteX0" fmla="*/ 0 w 3552598"/>
              <a:gd name="connsiteY0" fmla="*/ 0 h 2751606"/>
              <a:gd name="connsiteX1" fmla="*/ 3552598 w 3552598"/>
              <a:gd name="connsiteY1" fmla="*/ 0 h 2751606"/>
              <a:gd name="connsiteX2" fmla="*/ 2891372 w 3552598"/>
              <a:gd name="connsiteY2" fmla="*/ 2751606 h 2751606"/>
              <a:gd name="connsiteX3" fmla="*/ 823383 w 3552598"/>
              <a:gd name="connsiteY3" fmla="*/ 2644253 h 2751606"/>
              <a:gd name="connsiteX4" fmla="*/ 0 w 3552598"/>
              <a:gd name="connsiteY4" fmla="*/ 0 h 2751606"/>
              <a:gd name="connsiteX0" fmla="*/ 0 w 2891372"/>
              <a:gd name="connsiteY0" fmla="*/ 0 h 2751606"/>
              <a:gd name="connsiteX1" fmla="*/ 2387609 w 2891372"/>
              <a:gd name="connsiteY1" fmla="*/ 1316584 h 2751606"/>
              <a:gd name="connsiteX2" fmla="*/ 2891372 w 2891372"/>
              <a:gd name="connsiteY2" fmla="*/ 2751606 h 2751606"/>
              <a:gd name="connsiteX3" fmla="*/ 823383 w 2891372"/>
              <a:gd name="connsiteY3" fmla="*/ 2644253 h 2751606"/>
              <a:gd name="connsiteX4" fmla="*/ 0 w 2891372"/>
              <a:gd name="connsiteY4" fmla="*/ 0 h 2751606"/>
              <a:gd name="connsiteX0" fmla="*/ 0 w 2165139"/>
              <a:gd name="connsiteY0" fmla="*/ 0 h 1704668"/>
              <a:gd name="connsiteX1" fmla="*/ 1661376 w 2165139"/>
              <a:gd name="connsiteY1" fmla="*/ 269646 h 1704668"/>
              <a:gd name="connsiteX2" fmla="*/ 2165139 w 2165139"/>
              <a:gd name="connsiteY2" fmla="*/ 1704668 h 1704668"/>
              <a:gd name="connsiteX3" fmla="*/ 97150 w 2165139"/>
              <a:gd name="connsiteY3" fmla="*/ 1597315 h 1704668"/>
              <a:gd name="connsiteX4" fmla="*/ 0 w 2165139"/>
              <a:gd name="connsiteY4" fmla="*/ 0 h 170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139" h="1704668">
                <a:moveTo>
                  <a:pt x="0" y="0"/>
                </a:moveTo>
                <a:lnTo>
                  <a:pt x="1661376" y="269646"/>
                </a:lnTo>
                <a:lnTo>
                  <a:pt x="2165139" y="1704668"/>
                </a:lnTo>
                <a:lnTo>
                  <a:pt x="97150" y="159731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6"/>
            </a:outerShdw>
          </a:effectLst>
        </p:spPr>
        <p:txBody>
          <a:bodyPr/>
          <a:lstStyle/>
          <a:p>
            <a:endParaRPr lang="fr-MA" dirty="0">
              <a:solidFill>
                <a:schemeClr val="tx2">
                  <a:lumMod val="60000"/>
                  <a:lumOff val="40000"/>
                  <a:alpha val="71000"/>
                </a:schemeClr>
              </a:solidFill>
            </a:endParaRPr>
          </a:p>
        </p:txBody>
      </p:sp>
      <p:sp>
        <p:nvSpPr>
          <p:cNvPr id="43" name="Rectangle: Single Corner Snipped 42">
            <a:extLst>
              <a:ext uri="{FF2B5EF4-FFF2-40B4-BE49-F238E27FC236}">
                <a16:creationId xmlns:a16="http://schemas.microsoft.com/office/drawing/2014/main" id="{955648C9-05AE-EA0F-C856-0BA140C85C02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148E6D24-4533-1A79-FB14-E7B4FC17CB4A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06</a:t>
            </a:r>
          </a:p>
        </p:txBody>
      </p:sp>
      <p:grpSp>
        <p:nvGrpSpPr>
          <p:cNvPr id="46" name="Group 2">
            <a:extLst>
              <a:ext uri="{FF2B5EF4-FFF2-40B4-BE49-F238E27FC236}">
                <a16:creationId xmlns:a16="http://schemas.microsoft.com/office/drawing/2014/main" id="{9B20286C-9242-A5A2-258D-16F95524F271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47" name="Freeform 3">
              <a:extLst>
                <a:ext uri="{FF2B5EF4-FFF2-40B4-BE49-F238E27FC236}">
                  <a16:creationId xmlns:a16="http://schemas.microsoft.com/office/drawing/2014/main" id="{AC4A9290-EFBD-334A-C90E-012D94B7FBCB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8" name="TextBox 4">
              <a:extLst>
                <a:ext uri="{FF2B5EF4-FFF2-40B4-BE49-F238E27FC236}">
                  <a16:creationId xmlns:a16="http://schemas.microsoft.com/office/drawing/2014/main" id="{3A53CA8D-3C06-71E8-657A-90D4E27F1940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0" name="Graphic 49" descr="Good Idea outline">
            <a:extLst>
              <a:ext uri="{FF2B5EF4-FFF2-40B4-BE49-F238E27FC236}">
                <a16:creationId xmlns:a16="http://schemas.microsoft.com/office/drawing/2014/main" id="{FAB773AB-80A1-6E73-5074-2B96FB3467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62625" y="882304"/>
            <a:ext cx="804387" cy="647251"/>
          </a:xfrm>
          <a:prstGeom prst="rect">
            <a:avLst/>
          </a:prstGeom>
        </p:spPr>
      </p:pic>
      <p:sp>
        <p:nvSpPr>
          <p:cNvPr id="2" name="TextBox 32">
            <a:extLst>
              <a:ext uri="{FF2B5EF4-FFF2-40B4-BE49-F238E27FC236}">
                <a16:creationId xmlns:a16="http://schemas.microsoft.com/office/drawing/2014/main" id="{CB55267F-294A-A2A9-06F5-93BB10C30B7C}"/>
              </a:ext>
            </a:extLst>
          </p:cNvPr>
          <p:cNvSpPr txBox="1"/>
          <p:nvPr/>
        </p:nvSpPr>
        <p:spPr>
          <a:xfrm>
            <a:off x="1667464" y="340943"/>
            <a:ext cx="9929497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 spc="162" dirty="0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Use case diagram</a:t>
            </a:r>
          </a:p>
        </p:txBody>
      </p:sp>
      <p:pic>
        <p:nvPicPr>
          <p:cNvPr id="3" name="Picture 2" descr="A star with a white center&#10;&#10;AI-generated content may be incorrect.">
            <a:extLst>
              <a:ext uri="{FF2B5EF4-FFF2-40B4-BE49-F238E27FC236}">
                <a16:creationId xmlns:a16="http://schemas.microsoft.com/office/drawing/2014/main" id="{AF0BD968-D79B-D882-CF38-94429BDAE2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73" y="301060"/>
            <a:ext cx="324015" cy="324015"/>
          </a:xfrm>
          <a:prstGeom prst="rect">
            <a:avLst/>
          </a:prstGeom>
        </p:spPr>
      </p:pic>
      <p:pic>
        <p:nvPicPr>
          <p:cNvPr id="4" name="Picture 3" descr="A star with a white center&#10;&#10;AI-generated content may be incorrect.">
            <a:extLst>
              <a:ext uri="{FF2B5EF4-FFF2-40B4-BE49-F238E27FC236}">
                <a16:creationId xmlns:a16="http://schemas.microsoft.com/office/drawing/2014/main" id="{B2BCEB69-F702-DA60-C2B5-9356BCAC15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97" y="534097"/>
            <a:ext cx="324015" cy="324015"/>
          </a:xfrm>
          <a:prstGeom prst="rect">
            <a:avLst/>
          </a:prstGeom>
        </p:spPr>
      </p:pic>
      <p:pic>
        <p:nvPicPr>
          <p:cNvPr id="5" name="Picture 4" descr="A star with a white center&#10;&#10;AI-generated content may be incorrect.">
            <a:extLst>
              <a:ext uri="{FF2B5EF4-FFF2-40B4-BE49-F238E27FC236}">
                <a16:creationId xmlns:a16="http://schemas.microsoft.com/office/drawing/2014/main" id="{F836F22B-8E86-A6C2-424E-B33998D350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23" y="879609"/>
            <a:ext cx="324015" cy="324015"/>
          </a:xfrm>
          <a:prstGeom prst="rect">
            <a:avLst/>
          </a:prstGeom>
        </p:spPr>
      </p:pic>
      <p:pic>
        <p:nvPicPr>
          <p:cNvPr id="6" name="Picture 5" descr="A star with a white center&#10;&#10;AI-generated content may be incorrect.">
            <a:extLst>
              <a:ext uri="{FF2B5EF4-FFF2-40B4-BE49-F238E27FC236}">
                <a16:creationId xmlns:a16="http://schemas.microsoft.com/office/drawing/2014/main" id="{BC260922-6CC1-5013-DB18-28AFA2CB1B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434" y="294137"/>
            <a:ext cx="324015" cy="324015"/>
          </a:xfrm>
          <a:prstGeom prst="rect">
            <a:avLst/>
          </a:prstGeom>
        </p:spPr>
      </p:pic>
      <p:pic>
        <p:nvPicPr>
          <p:cNvPr id="7" name="Picture 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99AC83C9-53D4-2BFB-FE27-43B0C06A55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268" y="534097"/>
            <a:ext cx="324015" cy="324015"/>
          </a:xfrm>
          <a:prstGeom prst="rect">
            <a:avLst/>
          </a:prstGeom>
        </p:spPr>
      </p:pic>
      <p:pic>
        <p:nvPicPr>
          <p:cNvPr id="8" name="Picture 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1978CC07-0DA4-0AF0-CE39-45058B6B12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04" y="852331"/>
            <a:ext cx="324015" cy="324015"/>
          </a:xfrm>
          <a:prstGeom prst="rect">
            <a:avLst/>
          </a:prstGeom>
        </p:spPr>
      </p:pic>
      <p:sp>
        <p:nvSpPr>
          <p:cNvPr id="38" name="TextBox 19">
            <a:extLst>
              <a:ext uri="{FF2B5EF4-FFF2-40B4-BE49-F238E27FC236}">
                <a16:creationId xmlns:a16="http://schemas.microsoft.com/office/drawing/2014/main" id="{0E4FFF04-72BC-D231-61E7-031BFCC56C3C}"/>
              </a:ext>
            </a:extLst>
          </p:cNvPr>
          <p:cNvSpPr txBox="1"/>
          <p:nvPr/>
        </p:nvSpPr>
        <p:spPr>
          <a:xfrm>
            <a:off x="617624" y="1775394"/>
            <a:ext cx="13154027" cy="1300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3487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fr-FR" sz="2000" dirty="0">
                <a:solidFill>
                  <a:srgbClr val="000000"/>
                </a:solidFill>
                <a:latin typeface="+mj-lt"/>
                <a:ea typeface="Canva Sans Bold Italics"/>
                <a:cs typeface="Canva Sans Bold Italics"/>
                <a:sym typeface="Canva Sans Bold Italics"/>
              </a:rPr>
              <a:t>Ce diagramme représente les interactions entre les quatre acteurs du système (Visiteur, Entrepreneur, </a:t>
            </a:r>
            <a:r>
              <a:rPr lang="fr-FR" sz="2000" dirty="0" err="1">
                <a:solidFill>
                  <a:srgbClr val="000000"/>
                </a:solidFill>
                <a:latin typeface="+mj-lt"/>
                <a:ea typeface="Canva Sans Bold Italics"/>
                <a:cs typeface="Canva Sans Bold Italics"/>
                <a:sym typeface="Canva Sans Bold Italics"/>
              </a:rPr>
              <a:t>Reviewer</a:t>
            </a:r>
            <a:r>
              <a:rPr lang="fr-FR" sz="2000" dirty="0">
                <a:solidFill>
                  <a:srgbClr val="000000"/>
                </a:solidFill>
                <a:latin typeface="+mj-lt"/>
                <a:ea typeface="Canva Sans Bold Italics"/>
                <a:cs typeface="Canva Sans Bold Italics"/>
                <a:sym typeface="Canva Sans Bold Italics"/>
              </a:rPr>
              <a:t>, Administrateur) et l'ensemble des fonctionnalités offertes par la plateforme. Il constitue la vue fonctionnelle de référence, synthétisant qui fait quoi dans le système. </a:t>
            </a:r>
            <a:endParaRPr lang="en-US" sz="2000" dirty="0">
              <a:solidFill>
                <a:srgbClr val="000000"/>
              </a:solidFill>
              <a:latin typeface="+mj-lt"/>
              <a:ea typeface="Canva Sans Italics"/>
              <a:cs typeface="Canva Sans Italics"/>
              <a:sym typeface="Canva Sans Italics"/>
            </a:endParaRPr>
          </a:p>
        </p:txBody>
      </p:sp>
    </p:spTree>
    <p:extLst>
      <p:ext uri="{BB962C8B-B14F-4D97-AF65-F5344CB8AC3E}">
        <p14:creationId xmlns:p14="http://schemas.microsoft.com/office/powerpoint/2010/main" val="310895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C08D9-5DDA-6BA2-C127-1232FA6E9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6">
            <a:extLst>
              <a:ext uri="{FF2B5EF4-FFF2-40B4-BE49-F238E27FC236}">
                <a16:creationId xmlns:a16="http://schemas.microsoft.com/office/drawing/2014/main" id="{68329EAD-13CB-D90D-10FE-F092F7CC3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412" y="3024331"/>
            <a:ext cx="10167738" cy="6829812"/>
          </a:xfrm>
          <a:prstGeom prst="rect">
            <a:avLst/>
          </a:prstGeom>
        </p:spPr>
      </p:pic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F2476A20-F45B-763D-799A-FE61D5765C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grpSp>
        <p:nvGrpSpPr>
          <p:cNvPr id="22" name="Group 3">
            <a:extLst>
              <a:ext uri="{FF2B5EF4-FFF2-40B4-BE49-F238E27FC236}">
                <a16:creationId xmlns:a16="http://schemas.microsoft.com/office/drawing/2014/main" id="{781FD42F-6DEF-D255-3AA2-297E811F1B55}"/>
              </a:ext>
            </a:extLst>
          </p:cNvPr>
          <p:cNvGrpSpPr/>
          <p:nvPr/>
        </p:nvGrpSpPr>
        <p:grpSpPr>
          <a:xfrm rot="1295334">
            <a:off x="12410251" y="-3695156"/>
            <a:ext cx="7330889" cy="6609232"/>
            <a:chOff x="0" y="0"/>
            <a:chExt cx="812800" cy="732787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4101F7C7-A895-5B32-D61C-58CC871AF29E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6100AE8F-8979-EFA2-14B3-A83B385C4356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5" name="Hexagon 24">
            <a:extLst>
              <a:ext uri="{FF2B5EF4-FFF2-40B4-BE49-F238E27FC236}">
                <a16:creationId xmlns:a16="http://schemas.microsoft.com/office/drawing/2014/main" id="{742454FF-66E3-F69B-8835-CBA0B5EBF566}"/>
              </a:ext>
            </a:extLst>
          </p:cNvPr>
          <p:cNvSpPr/>
          <p:nvPr/>
        </p:nvSpPr>
        <p:spPr>
          <a:xfrm>
            <a:off x="15173940" y="1232149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26" name="Graphic 25" descr="Laptop outline">
            <a:extLst>
              <a:ext uri="{FF2B5EF4-FFF2-40B4-BE49-F238E27FC236}">
                <a16:creationId xmlns:a16="http://schemas.microsoft.com/office/drawing/2014/main" id="{2F41CBE9-CD11-D469-D428-FCA6A3C862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C3CA2943-8D9A-05CC-AFC9-1231EDB80DCD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419D7B5D-AEC1-11EF-7F68-A9D328B51C98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94E675A-E1BD-8D8E-23E0-527FD1416296}"/>
              </a:ext>
            </a:extLst>
          </p:cNvPr>
          <p:cNvSpPr/>
          <p:nvPr/>
        </p:nvSpPr>
        <p:spPr>
          <a:xfrm>
            <a:off x="-1855813" y="7481097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3" name="Freeform 49">
            <a:extLst>
              <a:ext uri="{FF2B5EF4-FFF2-40B4-BE49-F238E27FC236}">
                <a16:creationId xmlns:a16="http://schemas.microsoft.com/office/drawing/2014/main" id="{D869AD56-5B79-9434-B18D-E5CF57F55E32}"/>
              </a:ext>
            </a:extLst>
          </p:cNvPr>
          <p:cNvSpPr/>
          <p:nvPr/>
        </p:nvSpPr>
        <p:spPr>
          <a:xfrm rot="19788342">
            <a:off x="15879363" y="8228659"/>
            <a:ext cx="2165139" cy="1704668"/>
          </a:xfrm>
          <a:custGeom>
            <a:avLst/>
            <a:gdLst>
              <a:gd name="connsiteX0" fmla="*/ 0 w 3552598"/>
              <a:gd name="connsiteY0" fmla="*/ 0 h 3552598"/>
              <a:gd name="connsiteX1" fmla="*/ 3552598 w 3552598"/>
              <a:gd name="connsiteY1" fmla="*/ 0 h 3552598"/>
              <a:gd name="connsiteX2" fmla="*/ 2891372 w 3552598"/>
              <a:gd name="connsiteY2" fmla="*/ 2751606 h 3552598"/>
              <a:gd name="connsiteX3" fmla="*/ 0 w 3552598"/>
              <a:gd name="connsiteY3" fmla="*/ 3552598 h 3552598"/>
              <a:gd name="connsiteX4" fmla="*/ 0 w 3552598"/>
              <a:gd name="connsiteY4" fmla="*/ 0 h 3552598"/>
              <a:gd name="connsiteX0" fmla="*/ 0 w 3552598"/>
              <a:gd name="connsiteY0" fmla="*/ 0 h 2751606"/>
              <a:gd name="connsiteX1" fmla="*/ 3552598 w 3552598"/>
              <a:gd name="connsiteY1" fmla="*/ 0 h 2751606"/>
              <a:gd name="connsiteX2" fmla="*/ 2891372 w 3552598"/>
              <a:gd name="connsiteY2" fmla="*/ 2751606 h 2751606"/>
              <a:gd name="connsiteX3" fmla="*/ 823383 w 3552598"/>
              <a:gd name="connsiteY3" fmla="*/ 2644253 h 2751606"/>
              <a:gd name="connsiteX4" fmla="*/ 0 w 3552598"/>
              <a:gd name="connsiteY4" fmla="*/ 0 h 2751606"/>
              <a:gd name="connsiteX0" fmla="*/ 0 w 2891372"/>
              <a:gd name="connsiteY0" fmla="*/ 0 h 2751606"/>
              <a:gd name="connsiteX1" fmla="*/ 2387609 w 2891372"/>
              <a:gd name="connsiteY1" fmla="*/ 1316584 h 2751606"/>
              <a:gd name="connsiteX2" fmla="*/ 2891372 w 2891372"/>
              <a:gd name="connsiteY2" fmla="*/ 2751606 h 2751606"/>
              <a:gd name="connsiteX3" fmla="*/ 823383 w 2891372"/>
              <a:gd name="connsiteY3" fmla="*/ 2644253 h 2751606"/>
              <a:gd name="connsiteX4" fmla="*/ 0 w 2891372"/>
              <a:gd name="connsiteY4" fmla="*/ 0 h 2751606"/>
              <a:gd name="connsiteX0" fmla="*/ 0 w 2165139"/>
              <a:gd name="connsiteY0" fmla="*/ 0 h 1704668"/>
              <a:gd name="connsiteX1" fmla="*/ 1661376 w 2165139"/>
              <a:gd name="connsiteY1" fmla="*/ 269646 h 1704668"/>
              <a:gd name="connsiteX2" fmla="*/ 2165139 w 2165139"/>
              <a:gd name="connsiteY2" fmla="*/ 1704668 h 1704668"/>
              <a:gd name="connsiteX3" fmla="*/ 97150 w 2165139"/>
              <a:gd name="connsiteY3" fmla="*/ 1597315 h 1704668"/>
              <a:gd name="connsiteX4" fmla="*/ 0 w 2165139"/>
              <a:gd name="connsiteY4" fmla="*/ 0 h 170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139" h="1704668">
                <a:moveTo>
                  <a:pt x="0" y="0"/>
                </a:moveTo>
                <a:lnTo>
                  <a:pt x="1661376" y="269646"/>
                </a:lnTo>
                <a:lnTo>
                  <a:pt x="2165139" y="1704668"/>
                </a:lnTo>
                <a:lnTo>
                  <a:pt x="97150" y="159731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6"/>
            </a:outerShdw>
          </a:effectLst>
        </p:spPr>
        <p:txBody>
          <a:bodyPr/>
          <a:lstStyle/>
          <a:p>
            <a:endParaRPr lang="fr-MA" dirty="0">
              <a:solidFill>
                <a:schemeClr val="tx2">
                  <a:lumMod val="60000"/>
                  <a:lumOff val="40000"/>
                  <a:alpha val="71000"/>
                </a:schemeClr>
              </a:solidFill>
            </a:endParaRPr>
          </a:p>
        </p:txBody>
      </p:sp>
      <p:sp>
        <p:nvSpPr>
          <p:cNvPr id="43" name="Rectangle: Single Corner Snipped 42">
            <a:extLst>
              <a:ext uri="{FF2B5EF4-FFF2-40B4-BE49-F238E27FC236}">
                <a16:creationId xmlns:a16="http://schemas.microsoft.com/office/drawing/2014/main" id="{8C5CA893-0EBF-AE1B-F819-430F39742BD9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4969ABE8-81CD-FC98-BF25-D8C6879E8A13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07</a:t>
            </a:r>
          </a:p>
        </p:txBody>
      </p:sp>
      <p:grpSp>
        <p:nvGrpSpPr>
          <p:cNvPr id="46" name="Group 2">
            <a:extLst>
              <a:ext uri="{FF2B5EF4-FFF2-40B4-BE49-F238E27FC236}">
                <a16:creationId xmlns:a16="http://schemas.microsoft.com/office/drawing/2014/main" id="{5DD882A9-3F0E-0B1B-2463-F10E6A18F0F6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47" name="Freeform 3">
              <a:extLst>
                <a:ext uri="{FF2B5EF4-FFF2-40B4-BE49-F238E27FC236}">
                  <a16:creationId xmlns:a16="http://schemas.microsoft.com/office/drawing/2014/main" id="{324BC97B-07BC-523A-E287-A605118FC66A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8" name="TextBox 4">
              <a:extLst>
                <a:ext uri="{FF2B5EF4-FFF2-40B4-BE49-F238E27FC236}">
                  <a16:creationId xmlns:a16="http://schemas.microsoft.com/office/drawing/2014/main" id="{B8824061-B5C5-7A10-B7D0-2A771BD59683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0" name="Graphic 49" descr="Good Idea outline">
            <a:extLst>
              <a:ext uri="{FF2B5EF4-FFF2-40B4-BE49-F238E27FC236}">
                <a16:creationId xmlns:a16="http://schemas.microsoft.com/office/drawing/2014/main" id="{A8FC5FE7-D117-5148-3D5D-59527C0695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62625" y="882304"/>
            <a:ext cx="804387" cy="647251"/>
          </a:xfrm>
          <a:prstGeom prst="rect">
            <a:avLst/>
          </a:prstGeom>
        </p:spPr>
      </p:pic>
      <p:sp>
        <p:nvSpPr>
          <p:cNvPr id="2" name="TextBox 32">
            <a:extLst>
              <a:ext uri="{FF2B5EF4-FFF2-40B4-BE49-F238E27FC236}">
                <a16:creationId xmlns:a16="http://schemas.microsoft.com/office/drawing/2014/main" id="{C90B197F-CA57-39AB-8A04-1714AF5A657C}"/>
              </a:ext>
            </a:extLst>
          </p:cNvPr>
          <p:cNvSpPr txBox="1"/>
          <p:nvPr/>
        </p:nvSpPr>
        <p:spPr>
          <a:xfrm>
            <a:off x="1648414" y="372939"/>
            <a:ext cx="9929497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 spc="162" dirty="0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Classes diagram</a:t>
            </a:r>
          </a:p>
        </p:txBody>
      </p:sp>
      <p:pic>
        <p:nvPicPr>
          <p:cNvPr id="3" name="Picture 2" descr="A star with a white center&#10;&#10;AI-generated content may be incorrect.">
            <a:extLst>
              <a:ext uri="{FF2B5EF4-FFF2-40B4-BE49-F238E27FC236}">
                <a16:creationId xmlns:a16="http://schemas.microsoft.com/office/drawing/2014/main" id="{BE9ACFD0-53D3-085A-B778-BA0AB88A7B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23" y="333056"/>
            <a:ext cx="324015" cy="324015"/>
          </a:xfrm>
          <a:prstGeom prst="rect">
            <a:avLst/>
          </a:prstGeom>
        </p:spPr>
      </p:pic>
      <p:pic>
        <p:nvPicPr>
          <p:cNvPr id="4" name="Picture 3" descr="A star with a white center&#10;&#10;AI-generated content may be incorrect.">
            <a:extLst>
              <a:ext uri="{FF2B5EF4-FFF2-40B4-BE49-F238E27FC236}">
                <a16:creationId xmlns:a16="http://schemas.microsoft.com/office/drawing/2014/main" id="{95C7DB52-68D6-AB34-BF5F-741D61248F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747" y="566093"/>
            <a:ext cx="324015" cy="324015"/>
          </a:xfrm>
          <a:prstGeom prst="rect">
            <a:avLst/>
          </a:prstGeom>
        </p:spPr>
      </p:pic>
      <p:pic>
        <p:nvPicPr>
          <p:cNvPr id="5" name="Picture 4" descr="A star with a white center&#10;&#10;AI-generated content may be incorrect.">
            <a:extLst>
              <a:ext uri="{FF2B5EF4-FFF2-40B4-BE49-F238E27FC236}">
                <a16:creationId xmlns:a16="http://schemas.microsoft.com/office/drawing/2014/main" id="{F05D5F24-1904-81AE-7384-F4C8075279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73" y="911605"/>
            <a:ext cx="324015" cy="324015"/>
          </a:xfrm>
          <a:prstGeom prst="rect">
            <a:avLst/>
          </a:prstGeom>
        </p:spPr>
      </p:pic>
      <p:pic>
        <p:nvPicPr>
          <p:cNvPr id="6" name="Picture 5" descr="A star with a white center&#10;&#10;AI-generated content may be incorrect.">
            <a:extLst>
              <a:ext uri="{FF2B5EF4-FFF2-40B4-BE49-F238E27FC236}">
                <a16:creationId xmlns:a16="http://schemas.microsoft.com/office/drawing/2014/main" id="{4F01D8B8-8E1B-594C-FE99-A2525042E5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384" y="326133"/>
            <a:ext cx="324015" cy="324015"/>
          </a:xfrm>
          <a:prstGeom prst="rect">
            <a:avLst/>
          </a:prstGeom>
        </p:spPr>
      </p:pic>
      <p:pic>
        <p:nvPicPr>
          <p:cNvPr id="7" name="Picture 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8996F873-CB9B-7B53-99DF-DE01430A70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218" y="566093"/>
            <a:ext cx="324015" cy="324015"/>
          </a:xfrm>
          <a:prstGeom prst="rect">
            <a:avLst/>
          </a:prstGeom>
        </p:spPr>
      </p:pic>
      <p:pic>
        <p:nvPicPr>
          <p:cNvPr id="8" name="Picture 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2B0C3F7F-C20F-5003-0245-889E37E16A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354" y="884327"/>
            <a:ext cx="324015" cy="324015"/>
          </a:xfrm>
          <a:prstGeom prst="rect">
            <a:avLst/>
          </a:prstGeom>
        </p:spPr>
      </p:pic>
      <p:sp>
        <p:nvSpPr>
          <p:cNvPr id="10" name="TextBox 19">
            <a:extLst>
              <a:ext uri="{FF2B5EF4-FFF2-40B4-BE49-F238E27FC236}">
                <a16:creationId xmlns:a16="http://schemas.microsoft.com/office/drawing/2014/main" id="{40D19018-E790-7834-B150-0D3D5351E6C3}"/>
              </a:ext>
            </a:extLst>
          </p:cNvPr>
          <p:cNvSpPr txBox="1"/>
          <p:nvPr/>
        </p:nvSpPr>
        <p:spPr>
          <a:xfrm>
            <a:off x="-1534" y="1617854"/>
            <a:ext cx="12773027" cy="1300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487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fr-FR" sz="2000" dirty="0">
                <a:solidFill>
                  <a:srgbClr val="000000"/>
                </a:solidFill>
                <a:latin typeface="+mj-lt"/>
                <a:ea typeface="Canva Sans Bold Italics"/>
                <a:cs typeface="Canva Sans Bold Italics"/>
                <a:sym typeface="Canva Sans Bold Italics"/>
              </a:rPr>
              <a:t>Le diagramme de classes décrit la structure statique du système. Il présente les entités métier (User, </a:t>
            </a:r>
            <a:r>
              <a:rPr lang="fr-FR" sz="2000" dirty="0" err="1">
                <a:solidFill>
                  <a:srgbClr val="000000"/>
                </a:solidFill>
                <a:latin typeface="+mj-lt"/>
                <a:ea typeface="Canva Sans Bold Italics"/>
                <a:cs typeface="Canva Sans Bold Italics"/>
                <a:sym typeface="Canva Sans Bold Italics"/>
              </a:rPr>
              <a:t>Idea</a:t>
            </a:r>
            <a:r>
              <a:rPr lang="fr-FR" sz="2000" dirty="0">
                <a:solidFill>
                  <a:srgbClr val="000000"/>
                </a:solidFill>
                <a:latin typeface="+mj-lt"/>
                <a:ea typeface="Canva Sans Bold Italics"/>
                <a:cs typeface="Canva Sans Bold Italics"/>
                <a:sym typeface="Canva Sans Bold Italics"/>
              </a:rPr>
              <a:t>, Feedback, Comment, Vote, Bookmark, Notification, </a:t>
            </a:r>
            <a:r>
              <a:rPr lang="fr-FR" sz="2000" dirty="0" err="1">
                <a:solidFill>
                  <a:srgbClr val="000000"/>
                </a:solidFill>
                <a:latin typeface="+mj-lt"/>
                <a:ea typeface="Canva Sans Bold Italics"/>
                <a:cs typeface="Canva Sans Bold Italics"/>
                <a:sym typeface="Canva Sans Bold Italics"/>
              </a:rPr>
              <a:t>Category</a:t>
            </a:r>
            <a:r>
              <a:rPr lang="fr-FR" sz="2000" dirty="0">
                <a:solidFill>
                  <a:srgbClr val="000000"/>
                </a:solidFill>
                <a:latin typeface="+mj-lt"/>
                <a:ea typeface="Canva Sans Bold Italics"/>
                <a:cs typeface="Canva Sans Bold Italics"/>
                <a:sym typeface="Canva Sans Bold Italics"/>
              </a:rPr>
              <a:t>), leurs attributs, leurs méthodes et les relations qui les unissent : associations, agrégations et compositions. </a:t>
            </a:r>
            <a:endParaRPr lang="en-US" sz="2000" dirty="0">
              <a:solidFill>
                <a:srgbClr val="000000"/>
              </a:solidFill>
              <a:latin typeface="+mj-lt"/>
              <a:ea typeface="Canva Sans Italics"/>
              <a:cs typeface="Canva Sans Italics"/>
              <a:sym typeface="Canva Sans Italics"/>
            </a:endParaRPr>
          </a:p>
        </p:txBody>
      </p:sp>
    </p:spTree>
    <p:extLst>
      <p:ext uri="{BB962C8B-B14F-4D97-AF65-F5344CB8AC3E}">
        <p14:creationId xmlns:p14="http://schemas.microsoft.com/office/powerpoint/2010/main" val="90999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A9544-91D9-7CFC-8AA2-BC5B67388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6">
            <a:extLst>
              <a:ext uri="{FF2B5EF4-FFF2-40B4-BE49-F238E27FC236}">
                <a16:creationId xmlns:a16="http://schemas.microsoft.com/office/drawing/2014/main" id="{6B514141-90C9-7ECC-34E9-205C92C10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19"/>
          <a:stretch>
            <a:fillRect/>
          </a:stretch>
        </p:blipFill>
        <p:spPr>
          <a:xfrm>
            <a:off x="3410179" y="2944068"/>
            <a:ext cx="10850562" cy="6416258"/>
          </a:xfrm>
          <a:prstGeom prst="rect">
            <a:avLst/>
          </a:prstGeom>
        </p:spPr>
      </p:pic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6E529C58-67C1-463A-E3B0-3BA3203E60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grpSp>
        <p:nvGrpSpPr>
          <p:cNvPr id="22" name="Group 3">
            <a:extLst>
              <a:ext uri="{FF2B5EF4-FFF2-40B4-BE49-F238E27FC236}">
                <a16:creationId xmlns:a16="http://schemas.microsoft.com/office/drawing/2014/main" id="{409E0F27-2878-E7CC-77D5-847926C98BD3}"/>
              </a:ext>
            </a:extLst>
          </p:cNvPr>
          <p:cNvGrpSpPr/>
          <p:nvPr/>
        </p:nvGrpSpPr>
        <p:grpSpPr>
          <a:xfrm rot="1295334">
            <a:off x="12410251" y="-3695156"/>
            <a:ext cx="7330889" cy="6609232"/>
            <a:chOff x="0" y="0"/>
            <a:chExt cx="812800" cy="732787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C1172A3E-489C-9EF7-D90C-5F7547CB782B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F70345B8-2D37-DD31-B46F-9A85B79C01F5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5" name="Hexagon 24">
            <a:extLst>
              <a:ext uri="{FF2B5EF4-FFF2-40B4-BE49-F238E27FC236}">
                <a16:creationId xmlns:a16="http://schemas.microsoft.com/office/drawing/2014/main" id="{D7B7D85E-A336-60A8-198E-0AF29AEE8549}"/>
              </a:ext>
            </a:extLst>
          </p:cNvPr>
          <p:cNvSpPr/>
          <p:nvPr/>
        </p:nvSpPr>
        <p:spPr>
          <a:xfrm>
            <a:off x="15173940" y="1232149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26" name="Graphic 25" descr="Laptop outline">
            <a:extLst>
              <a:ext uri="{FF2B5EF4-FFF2-40B4-BE49-F238E27FC236}">
                <a16:creationId xmlns:a16="http://schemas.microsoft.com/office/drawing/2014/main" id="{7134B8F3-958E-2C67-9B73-76EEDB1FE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41533666-44B0-8AE1-6865-C1E1DCDB0093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B90AB4C3-1740-3E31-156D-2ED486708170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78064819-9CE8-E7C0-492D-2ABBA29486EC}"/>
              </a:ext>
            </a:extLst>
          </p:cNvPr>
          <p:cNvSpPr/>
          <p:nvPr/>
        </p:nvSpPr>
        <p:spPr>
          <a:xfrm>
            <a:off x="-1855813" y="7481097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3" name="Freeform 49">
            <a:extLst>
              <a:ext uri="{FF2B5EF4-FFF2-40B4-BE49-F238E27FC236}">
                <a16:creationId xmlns:a16="http://schemas.microsoft.com/office/drawing/2014/main" id="{628FF61C-5C1D-BBB9-3FAB-CD44FFD6F864}"/>
              </a:ext>
            </a:extLst>
          </p:cNvPr>
          <p:cNvSpPr/>
          <p:nvPr/>
        </p:nvSpPr>
        <p:spPr>
          <a:xfrm rot="19788342">
            <a:off x="15879363" y="8228659"/>
            <a:ext cx="2165139" cy="1704668"/>
          </a:xfrm>
          <a:custGeom>
            <a:avLst/>
            <a:gdLst>
              <a:gd name="connsiteX0" fmla="*/ 0 w 3552598"/>
              <a:gd name="connsiteY0" fmla="*/ 0 h 3552598"/>
              <a:gd name="connsiteX1" fmla="*/ 3552598 w 3552598"/>
              <a:gd name="connsiteY1" fmla="*/ 0 h 3552598"/>
              <a:gd name="connsiteX2" fmla="*/ 2891372 w 3552598"/>
              <a:gd name="connsiteY2" fmla="*/ 2751606 h 3552598"/>
              <a:gd name="connsiteX3" fmla="*/ 0 w 3552598"/>
              <a:gd name="connsiteY3" fmla="*/ 3552598 h 3552598"/>
              <a:gd name="connsiteX4" fmla="*/ 0 w 3552598"/>
              <a:gd name="connsiteY4" fmla="*/ 0 h 3552598"/>
              <a:gd name="connsiteX0" fmla="*/ 0 w 3552598"/>
              <a:gd name="connsiteY0" fmla="*/ 0 h 2751606"/>
              <a:gd name="connsiteX1" fmla="*/ 3552598 w 3552598"/>
              <a:gd name="connsiteY1" fmla="*/ 0 h 2751606"/>
              <a:gd name="connsiteX2" fmla="*/ 2891372 w 3552598"/>
              <a:gd name="connsiteY2" fmla="*/ 2751606 h 2751606"/>
              <a:gd name="connsiteX3" fmla="*/ 823383 w 3552598"/>
              <a:gd name="connsiteY3" fmla="*/ 2644253 h 2751606"/>
              <a:gd name="connsiteX4" fmla="*/ 0 w 3552598"/>
              <a:gd name="connsiteY4" fmla="*/ 0 h 2751606"/>
              <a:gd name="connsiteX0" fmla="*/ 0 w 2891372"/>
              <a:gd name="connsiteY0" fmla="*/ 0 h 2751606"/>
              <a:gd name="connsiteX1" fmla="*/ 2387609 w 2891372"/>
              <a:gd name="connsiteY1" fmla="*/ 1316584 h 2751606"/>
              <a:gd name="connsiteX2" fmla="*/ 2891372 w 2891372"/>
              <a:gd name="connsiteY2" fmla="*/ 2751606 h 2751606"/>
              <a:gd name="connsiteX3" fmla="*/ 823383 w 2891372"/>
              <a:gd name="connsiteY3" fmla="*/ 2644253 h 2751606"/>
              <a:gd name="connsiteX4" fmla="*/ 0 w 2891372"/>
              <a:gd name="connsiteY4" fmla="*/ 0 h 2751606"/>
              <a:gd name="connsiteX0" fmla="*/ 0 w 2165139"/>
              <a:gd name="connsiteY0" fmla="*/ 0 h 1704668"/>
              <a:gd name="connsiteX1" fmla="*/ 1661376 w 2165139"/>
              <a:gd name="connsiteY1" fmla="*/ 269646 h 1704668"/>
              <a:gd name="connsiteX2" fmla="*/ 2165139 w 2165139"/>
              <a:gd name="connsiteY2" fmla="*/ 1704668 h 1704668"/>
              <a:gd name="connsiteX3" fmla="*/ 97150 w 2165139"/>
              <a:gd name="connsiteY3" fmla="*/ 1597315 h 1704668"/>
              <a:gd name="connsiteX4" fmla="*/ 0 w 2165139"/>
              <a:gd name="connsiteY4" fmla="*/ 0 h 170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139" h="1704668">
                <a:moveTo>
                  <a:pt x="0" y="0"/>
                </a:moveTo>
                <a:lnTo>
                  <a:pt x="1661376" y="269646"/>
                </a:lnTo>
                <a:lnTo>
                  <a:pt x="2165139" y="1704668"/>
                </a:lnTo>
                <a:lnTo>
                  <a:pt x="97150" y="159731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6"/>
            </a:outerShdw>
          </a:effectLst>
        </p:spPr>
        <p:txBody>
          <a:bodyPr/>
          <a:lstStyle/>
          <a:p>
            <a:endParaRPr lang="fr-MA" dirty="0">
              <a:solidFill>
                <a:schemeClr val="tx2">
                  <a:lumMod val="60000"/>
                  <a:lumOff val="40000"/>
                  <a:alpha val="71000"/>
                </a:schemeClr>
              </a:solidFill>
            </a:endParaRPr>
          </a:p>
        </p:txBody>
      </p:sp>
      <p:sp>
        <p:nvSpPr>
          <p:cNvPr id="43" name="Rectangle: Single Corner Snipped 42">
            <a:extLst>
              <a:ext uri="{FF2B5EF4-FFF2-40B4-BE49-F238E27FC236}">
                <a16:creationId xmlns:a16="http://schemas.microsoft.com/office/drawing/2014/main" id="{CD3298DB-2412-E9CC-3366-9F60702FC12F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3078BA04-F14D-AC92-B78B-39933B4B1D39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08</a:t>
            </a:r>
          </a:p>
        </p:txBody>
      </p:sp>
      <p:grpSp>
        <p:nvGrpSpPr>
          <p:cNvPr id="46" name="Group 2">
            <a:extLst>
              <a:ext uri="{FF2B5EF4-FFF2-40B4-BE49-F238E27FC236}">
                <a16:creationId xmlns:a16="http://schemas.microsoft.com/office/drawing/2014/main" id="{7908B4DB-6736-279D-F6D5-0DA84AEFD476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47" name="Freeform 3">
              <a:extLst>
                <a:ext uri="{FF2B5EF4-FFF2-40B4-BE49-F238E27FC236}">
                  <a16:creationId xmlns:a16="http://schemas.microsoft.com/office/drawing/2014/main" id="{074F032E-AE58-D30F-CD1D-10AC4A482512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8" name="TextBox 4">
              <a:extLst>
                <a:ext uri="{FF2B5EF4-FFF2-40B4-BE49-F238E27FC236}">
                  <a16:creationId xmlns:a16="http://schemas.microsoft.com/office/drawing/2014/main" id="{099A92C1-1FAC-44B4-795E-608274A6680B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0" name="Graphic 49" descr="Good Idea outline">
            <a:extLst>
              <a:ext uri="{FF2B5EF4-FFF2-40B4-BE49-F238E27FC236}">
                <a16:creationId xmlns:a16="http://schemas.microsoft.com/office/drawing/2014/main" id="{AE6AAF4D-7A91-3495-FD72-73626C61A5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62625" y="882304"/>
            <a:ext cx="804387" cy="647251"/>
          </a:xfrm>
          <a:prstGeom prst="rect">
            <a:avLst/>
          </a:prstGeom>
        </p:spPr>
      </p:pic>
      <p:sp>
        <p:nvSpPr>
          <p:cNvPr id="2" name="TextBox 32">
            <a:extLst>
              <a:ext uri="{FF2B5EF4-FFF2-40B4-BE49-F238E27FC236}">
                <a16:creationId xmlns:a16="http://schemas.microsoft.com/office/drawing/2014/main" id="{15289235-8121-4F9B-1AC4-8A3B284A01D3}"/>
              </a:ext>
            </a:extLst>
          </p:cNvPr>
          <p:cNvSpPr txBox="1"/>
          <p:nvPr/>
        </p:nvSpPr>
        <p:spPr>
          <a:xfrm>
            <a:off x="1521978" y="388518"/>
            <a:ext cx="9929497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 spc="162" dirty="0">
                <a:solidFill>
                  <a:srgbClr val="00B0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Sequence diagram</a:t>
            </a:r>
          </a:p>
        </p:txBody>
      </p:sp>
      <p:pic>
        <p:nvPicPr>
          <p:cNvPr id="3" name="Picture 2" descr="A star with a white center&#10;&#10;AI-generated content may be incorrect.">
            <a:extLst>
              <a:ext uri="{FF2B5EF4-FFF2-40B4-BE49-F238E27FC236}">
                <a16:creationId xmlns:a16="http://schemas.microsoft.com/office/drawing/2014/main" id="{CB27C929-9B5C-6DFB-13C5-49187DE523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87" y="348635"/>
            <a:ext cx="324015" cy="324015"/>
          </a:xfrm>
          <a:prstGeom prst="rect">
            <a:avLst/>
          </a:prstGeom>
        </p:spPr>
      </p:pic>
      <p:pic>
        <p:nvPicPr>
          <p:cNvPr id="4" name="Picture 3" descr="A star with a white center&#10;&#10;AI-generated content may be incorrect.">
            <a:extLst>
              <a:ext uri="{FF2B5EF4-FFF2-40B4-BE49-F238E27FC236}">
                <a16:creationId xmlns:a16="http://schemas.microsoft.com/office/drawing/2014/main" id="{C39C284A-7DAE-9FC1-A44F-AEAD7EA9BB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11" y="581672"/>
            <a:ext cx="324015" cy="324015"/>
          </a:xfrm>
          <a:prstGeom prst="rect">
            <a:avLst/>
          </a:prstGeom>
        </p:spPr>
      </p:pic>
      <p:pic>
        <p:nvPicPr>
          <p:cNvPr id="5" name="Picture 4" descr="A star with a white center&#10;&#10;AI-generated content may be incorrect.">
            <a:extLst>
              <a:ext uri="{FF2B5EF4-FFF2-40B4-BE49-F238E27FC236}">
                <a16:creationId xmlns:a16="http://schemas.microsoft.com/office/drawing/2014/main" id="{105CC6E5-2653-EC40-B1E5-9E92BCC466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37" y="927184"/>
            <a:ext cx="324015" cy="324015"/>
          </a:xfrm>
          <a:prstGeom prst="rect">
            <a:avLst/>
          </a:prstGeom>
        </p:spPr>
      </p:pic>
      <p:pic>
        <p:nvPicPr>
          <p:cNvPr id="6" name="Picture 5" descr="A star with a white center&#10;&#10;AI-generated content may be incorrect.">
            <a:extLst>
              <a:ext uri="{FF2B5EF4-FFF2-40B4-BE49-F238E27FC236}">
                <a16:creationId xmlns:a16="http://schemas.microsoft.com/office/drawing/2014/main" id="{DAB65511-5D5C-C19E-6937-407136F021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948" y="341712"/>
            <a:ext cx="324015" cy="324015"/>
          </a:xfrm>
          <a:prstGeom prst="rect">
            <a:avLst/>
          </a:prstGeom>
        </p:spPr>
      </p:pic>
      <p:pic>
        <p:nvPicPr>
          <p:cNvPr id="7" name="Picture 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FB15641F-C726-6F26-6CF5-467455CFF3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953" y="632712"/>
            <a:ext cx="324015" cy="324015"/>
          </a:xfrm>
          <a:prstGeom prst="rect">
            <a:avLst/>
          </a:prstGeom>
        </p:spPr>
      </p:pic>
      <p:pic>
        <p:nvPicPr>
          <p:cNvPr id="8" name="Picture 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FD6B5174-9811-F6E8-8551-5DDEC299B3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8918" y="899906"/>
            <a:ext cx="324015" cy="324015"/>
          </a:xfrm>
          <a:prstGeom prst="rect">
            <a:avLst/>
          </a:prstGeom>
        </p:spPr>
      </p:pic>
      <p:sp>
        <p:nvSpPr>
          <p:cNvPr id="11" name="TextBox 19">
            <a:extLst>
              <a:ext uri="{FF2B5EF4-FFF2-40B4-BE49-F238E27FC236}">
                <a16:creationId xmlns:a16="http://schemas.microsoft.com/office/drawing/2014/main" id="{B4B673ED-2025-52D2-981F-0252E76A7C72}"/>
              </a:ext>
            </a:extLst>
          </p:cNvPr>
          <p:cNvSpPr txBox="1"/>
          <p:nvPr/>
        </p:nvSpPr>
        <p:spPr>
          <a:xfrm>
            <a:off x="645890" y="1763734"/>
            <a:ext cx="12255050" cy="853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487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fr-FR" sz="2000" dirty="0">
                <a:solidFill>
                  <a:srgbClr val="000000"/>
                </a:solidFill>
                <a:latin typeface="+mj-lt"/>
                <a:ea typeface="Canva Sans Bold Italics"/>
                <a:cs typeface="Canva Sans Bold Italics"/>
                <a:sym typeface="Canva Sans Bold Italics"/>
              </a:rPr>
              <a:t>Ce diagramme illustre le processus de création d'une idée par un entrepreneur : saisie du formulaire multi-étapes, validation des données côté serveur, enregistrement en base et transition du statut de Brouillon vers Soumise. </a:t>
            </a:r>
            <a:endParaRPr lang="en-US" sz="2000" dirty="0">
              <a:solidFill>
                <a:srgbClr val="000000"/>
              </a:solidFill>
              <a:latin typeface="+mj-lt"/>
              <a:ea typeface="Canva Sans Italics"/>
              <a:cs typeface="Canva Sans Italics"/>
              <a:sym typeface="Canva Sans Italics"/>
            </a:endParaRPr>
          </a:p>
        </p:txBody>
      </p:sp>
    </p:spTree>
    <p:extLst>
      <p:ext uri="{BB962C8B-B14F-4D97-AF65-F5344CB8AC3E}">
        <p14:creationId xmlns:p14="http://schemas.microsoft.com/office/powerpoint/2010/main" val="15339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B39B7-B5AC-6497-89F8-73B55012B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552F1A-02AE-9D7E-ACD7-6409331301A7}"/>
              </a:ext>
            </a:extLst>
          </p:cNvPr>
          <p:cNvGrpSpPr/>
          <p:nvPr/>
        </p:nvGrpSpPr>
        <p:grpSpPr>
          <a:xfrm>
            <a:off x="-7538348" y="-1957725"/>
            <a:ext cx="11730590" cy="15178802"/>
            <a:chOff x="-34166" y="26141"/>
            <a:chExt cx="628154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F0214F3-CD26-BA73-B1A1-137E0B43D72A}"/>
                </a:ext>
              </a:extLst>
            </p:cNvPr>
            <p:cNvSpPr/>
            <p:nvPr/>
          </p:nvSpPr>
          <p:spPr>
            <a:xfrm>
              <a:off x="-34166" y="26141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7164135-BE0C-164A-31B8-F914C2A33802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6A928CD7-05DB-C3C5-0D09-5384887F06A3}"/>
              </a:ext>
            </a:extLst>
          </p:cNvPr>
          <p:cNvSpPr txBox="1"/>
          <p:nvPr/>
        </p:nvSpPr>
        <p:spPr>
          <a:xfrm>
            <a:off x="4512091" y="131498"/>
            <a:ext cx="7918734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fontAlgn="base"/>
            <a:r>
              <a:rPr lang="fr-MA" sz="2800" b="1" dirty="0"/>
              <a:t>AUTHENTIFICATION JWT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B9A5434-00F9-682D-DB93-999798451AED}"/>
              </a:ext>
            </a:extLst>
          </p:cNvPr>
          <p:cNvSpPr txBox="1"/>
          <p:nvPr/>
        </p:nvSpPr>
        <p:spPr>
          <a:xfrm>
            <a:off x="130944" y="2904328"/>
            <a:ext cx="4602998" cy="2094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1"/>
              </a:lnSpc>
            </a:pPr>
            <a:endParaRPr lang="en-US" sz="4079" b="1" spc="-81" dirty="0">
              <a:solidFill>
                <a:srgbClr val="FDFDF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5711"/>
              </a:lnSpc>
            </a:pPr>
            <a:endParaRPr lang="en-US" sz="4079" b="1" spc="-81" dirty="0">
              <a:solidFill>
                <a:srgbClr val="FDFDF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5151"/>
              </a:lnSpc>
            </a:pPr>
            <a:r>
              <a:rPr lang="en-US" sz="3679" b="1" spc="-73" dirty="0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FONCTIONALITES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4BDB51C1-86BB-976A-C560-5EF4D2100598}"/>
              </a:ext>
            </a:extLst>
          </p:cNvPr>
          <p:cNvSpPr/>
          <p:nvPr/>
        </p:nvSpPr>
        <p:spPr>
          <a:xfrm>
            <a:off x="3177017" y="173332"/>
            <a:ext cx="1274445" cy="1274445"/>
          </a:xfrm>
          <a:prstGeom prst="flowChartConnector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6D5D47A2-B9AC-23AB-1AE0-CA2180E16507}"/>
              </a:ext>
            </a:extLst>
          </p:cNvPr>
          <p:cNvSpPr/>
          <p:nvPr/>
        </p:nvSpPr>
        <p:spPr>
          <a:xfrm>
            <a:off x="3237646" y="214269"/>
            <a:ext cx="1184447" cy="1192570"/>
          </a:xfrm>
          <a:prstGeom prst="flowChartConnector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F20B72C6-1DA9-03D7-E597-0874B3CF32CE}"/>
              </a:ext>
            </a:extLst>
          </p:cNvPr>
          <p:cNvSpPr/>
          <p:nvPr/>
        </p:nvSpPr>
        <p:spPr>
          <a:xfrm>
            <a:off x="4001197" y="2356253"/>
            <a:ext cx="1274445" cy="1274445"/>
          </a:xfrm>
          <a:prstGeom prst="flowChartConnector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7A83BCF6-10CB-C3E0-8CC3-50D650E924C5}"/>
              </a:ext>
            </a:extLst>
          </p:cNvPr>
          <p:cNvSpPr/>
          <p:nvPr/>
        </p:nvSpPr>
        <p:spPr>
          <a:xfrm>
            <a:off x="4061826" y="2397190"/>
            <a:ext cx="1184447" cy="1192570"/>
          </a:xfrm>
          <a:prstGeom prst="flowChartConnector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FACE12AD-3CB5-7B9D-8932-204CA076EC9C}"/>
              </a:ext>
            </a:extLst>
          </p:cNvPr>
          <p:cNvSpPr/>
          <p:nvPr/>
        </p:nvSpPr>
        <p:spPr>
          <a:xfrm>
            <a:off x="4305368" y="4400412"/>
            <a:ext cx="1274445" cy="1274445"/>
          </a:xfrm>
          <a:prstGeom prst="flowChartConnector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92FFAA1A-38DC-4AAE-A738-40A7A7EEAC65}"/>
              </a:ext>
            </a:extLst>
          </p:cNvPr>
          <p:cNvSpPr/>
          <p:nvPr/>
        </p:nvSpPr>
        <p:spPr>
          <a:xfrm>
            <a:off x="4365997" y="4441349"/>
            <a:ext cx="1184447" cy="1192570"/>
          </a:xfrm>
          <a:prstGeom prst="flowChartConnector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2F58F5F3-272F-E371-D2FE-6DE464CAF40C}"/>
              </a:ext>
            </a:extLst>
          </p:cNvPr>
          <p:cNvSpPr/>
          <p:nvPr/>
        </p:nvSpPr>
        <p:spPr>
          <a:xfrm>
            <a:off x="4167513" y="6468935"/>
            <a:ext cx="1274445" cy="1274445"/>
          </a:xfrm>
          <a:prstGeom prst="flowChartConnector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327E4B16-2839-7677-44B4-371482523779}"/>
              </a:ext>
            </a:extLst>
          </p:cNvPr>
          <p:cNvSpPr/>
          <p:nvPr/>
        </p:nvSpPr>
        <p:spPr>
          <a:xfrm>
            <a:off x="4228142" y="6509872"/>
            <a:ext cx="1184447" cy="1192570"/>
          </a:xfrm>
          <a:prstGeom prst="flowChartConnector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56" name="TextBox 8">
            <a:extLst>
              <a:ext uri="{FF2B5EF4-FFF2-40B4-BE49-F238E27FC236}">
                <a16:creationId xmlns:a16="http://schemas.microsoft.com/office/drawing/2014/main" id="{6B730A9C-C1EF-2BAE-7E2C-38502FFBF3B6}"/>
              </a:ext>
            </a:extLst>
          </p:cNvPr>
          <p:cNvSpPr txBox="1"/>
          <p:nvPr/>
        </p:nvSpPr>
        <p:spPr>
          <a:xfrm>
            <a:off x="4312942" y="6715796"/>
            <a:ext cx="1014846" cy="706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428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04</a:t>
            </a: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9357BFEB-4A0E-656C-D1BB-EE52239DE330}"/>
              </a:ext>
            </a:extLst>
          </p:cNvPr>
          <p:cNvSpPr txBox="1"/>
          <p:nvPr/>
        </p:nvSpPr>
        <p:spPr>
          <a:xfrm>
            <a:off x="4450797" y="4594973"/>
            <a:ext cx="1014846" cy="706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428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03</a:t>
            </a:r>
          </a:p>
        </p:txBody>
      </p:sp>
      <p:sp>
        <p:nvSpPr>
          <p:cNvPr id="58" name="TextBox 8">
            <a:extLst>
              <a:ext uri="{FF2B5EF4-FFF2-40B4-BE49-F238E27FC236}">
                <a16:creationId xmlns:a16="http://schemas.microsoft.com/office/drawing/2014/main" id="{870A26AB-745E-0279-C08D-5C4C3BAF198B}"/>
              </a:ext>
            </a:extLst>
          </p:cNvPr>
          <p:cNvSpPr txBox="1"/>
          <p:nvPr/>
        </p:nvSpPr>
        <p:spPr>
          <a:xfrm>
            <a:off x="4109552" y="2600447"/>
            <a:ext cx="1014846" cy="706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428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070F75-ED9F-10C5-AB4C-EEE3C931A791}"/>
              </a:ext>
            </a:extLst>
          </p:cNvPr>
          <p:cNvSpPr txBox="1"/>
          <p:nvPr/>
        </p:nvSpPr>
        <p:spPr>
          <a:xfrm>
            <a:off x="3376840" y="430780"/>
            <a:ext cx="1014846" cy="706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428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01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858FFD8-7BC4-60B6-937B-1AF1242F43E8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F41A3E27-EE61-FB49-2350-D943C6294087}"/>
              </a:ext>
            </a:extLst>
          </p:cNvPr>
          <p:cNvSpPr/>
          <p:nvPr/>
        </p:nvSpPr>
        <p:spPr>
          <a:xfrm>
            <a:off x="-2177270" y="7524301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FFE567CF-9DCE-8ACC-EBAA-05ED14DC9FEB}"/>
              </a:ext>
            </a:extLst>
          </p:cNvPr>
          <p:cNvSpPr/>
          <p:nvPr/>
        </p:nvSpPr>
        <p:spPr>
          <a:xfrm>
            <a:off x="17268618" y="9548591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CC12A8A1-8F96-0FFD-83D4-9AE375402F95}"/>
              </a:ext>
            </a:extLst>
          </p:cNvPr>
          <p:cNvSpPr txBox="1"/>
          <p:nvPr/>
        </p:nvSpPr>
        <p:spPr>
          <a:xfrm>
            <a:off x="17515408" y="9302752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09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39FFEDD-DCBC-B221-D2A5-F19410D5FADA}"/>
              </a:ext>
            </a:extLst>
          </p:cNvPr>
          <p:cNvSpPr txBox="1"/>
          <p:nvPr/>
        </p:nvSpPr>
        <p:spPr>
          <a:xfrm>
            <a:off x="4789385" y="584005"/>
            <a:ext cx="6793015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MA" sz="2400" dirty="0"/>
              <a:t>  4 rôles : </a:t>
            </a:r>
            <a:r>
              <a:rPr lang="fr-MA" sz="2400" dirty="0" err="1"/>
              <a:t>visitor</a:t>
            </a:r>
            <a:r>
              <a:rPr lang="fr-MA" sz="2400" dirty="0"/>
              <a:t>, entrepreneur, </a:t>
            </a:r>
            <a:r>
              <a:rPr lang="fr-MA" sz="2400" dirty="0" err="1"/>
              <a:t>reviewer</a:t>
            </a:r>
            <a:r>
              <a:rPr lang="fr-MA" sz="2400" dirty="0"/>
              <a:t>, admin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MA" sz="2400" dirty="0"/>
              <a:t>   Access </a:t>
            </a:r>
            <a:r>
              <a:rPr lang="fr-MA" sz="2400" dirty="0" err="1"/>
              <a:t>token</a:t>
            </a:r>
            <a:r>
              <a:rPr lang="fr-MA" sz="2400" dirty="0"/>
              <a:t> (15min) + </a:t>
            </a:r>
            <a:r>
              <a:rPr lang="fr-MA" sz="2400" dirty="0" err="1"/>
              <a:t>Refresh</a:t>
            </a:r>
            <a:r>
              <a:rPr lang="fr-MA" sz="2400" dirty="0"/>
              <a:t> </a:t>
            </a:r>
            <a:r>
              <a:rPr lang="fr-MA" sz="2400" dirty="0" err="1"/>
              <a:t>token</a:t>
            </a:r>
            <a:r>
              <a:rPr lang="fr-MA" sz="2400" dirty="0"/>
              <a:t> (7 jours)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MA" sz="2400" dirty="0"/>
              <a:t>   Permissions RBAC</a:t>
            </a:r>
          </a:p>
          <a:p>
            <a:br>
              <a:rPr lang="fr-MA" sz="2800" dirty="0"/>
            </a:br>
            <a:endParaRPr lang="fr-MA" sz="2800" b="1" dirty="0"/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E5C0DEEE-983A-8FAF-EF57-E335C67A3823}"/>
              </a:ext>
            </a:extLst>
          </p:cNvPr>
          <p:cNvSpPr txBox="1"/>
          <p:nvPr/>
        </p:nvSpPr>
        <p:spPr>
          <a:xfrm>
            <a:off x="5213143" y="2276512"/>
            <a:ext cx="7918734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fontAlgn="base"/>
            <a:r>
              <a:rPr lang="fr-MA" sz="2800" b="1" dirty="0"/>
              <a:t>GESTION DES IDEES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0ED734BA-4FCA-6CAB-0EB3-42DE93B2E604}"/>
              </a:ext>
            </a:extLst>
          </p:cNvPr>
          <p:cNvSpPr txBox="1"/>
          <p:nvPr/>
        </p:nvSpPr>
        <p:spPr>
          <a:xfrm>
            <a:off x="5653421" y="2704436"/>
            <a:ext cx="7918734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/>
              <a:t> CRUD </a:t>
            </a:r>
            <a:r>
              <a:rPr lang="en-US" sz="2400" dirty="0" err="1"/>
              <a:t>complet</a:t>
            </a:r>
            <a:r>
              <a:rPr lang="en-US" sz="2400" dirty="0"/>
              <a:t>, workflow status, versioning, uploads</a:t>
            </a: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06E5456F-1B6F-4ABE-2BBB-1E734BCF305F}"/>
              </a:ext>
            </a:extLst>
          </p:cNvPr>
          <p:cNvSpPr txBox="1"/>
          <p:nvPr/>
        </p:nvSpPr>
        <p:spPr>
          <a:xfrm>
            <a:off x="5448489" y="6421730"/>
            <a:ext cx="7918734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fontAlgn="base"/>
            <a:r>
              <a:rPr lang="fr-MA" sz="2800" b="1" dirty="0"/>
              <a:t>COMMENTAIRE IMBRIQUES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97B2AB03-8945-2C23-F5A2-02B156F93C63}"/>
              </a:ext>
            </a:extLst>
          </p:cNvPr>
          <p:cNvSpPr txBox="1"/>
          <p:nvPr/>
        </p:nvSpPr>
        <p:spPr>
          <a:xfrm>
            <a:off x="5611073" y="4350463"/>
            <a:ext cx="7918734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fontAlgn="base"/>
            <a:r>
              <a:rPr lang="fr-MA" sz="2800" b="1" dirty="0"/>
              <a:t>SYSTEME DE FEEDBACKS &amp; SGV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C0335ECF-31C0-C662-23A6-D51E58C5346C}"/>
              </a:ext>
            </a:extLst>
          </p:cNvPr>
          <p:cNvSpPr txBox="1"/>
          <p:nvPr/>
        </p:nvSpPr>
        <p:spPr>
          <a:xfrm>
            <a:off x="5987018" y="4904438"/>
            <a:ext cx="791873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fr-FR" dirty="0"/>
              <a:t> </a:t>
            </a:r>
            <a:r>
              <a:rPr lang="fr-FR" sz="2400" dirty="0"/>
              <a:t>4 dimensions (0-25) : marché, innovation, faisabilité, ROI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fr-FR" sz="2400" dirty="0"/>
              <a:t> SGV pondéré par réputation du </a:t>
            </a:r>
            <a:r>
              <a:rPr lang="fr-FR" sz="2400" dirty="0" err="1"/>
              <a:t>reviewer</a:t>
            </a:r>
            <a:endParaRPr lang="fr-FR" sz="24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fr-FR" sz="2400" dirty="0"/>
              <a:t>  1 feedback par </a:t>
            </a:r>
            <a:r>
              <a:rPr lang="fr-FR" sz="2400" dirty="0" err="1"/>
              <a:t>reviewer</a:t>
            </a:r>
            <a:r>
              <a:rPr lang="fr-FR" sz="2400" dirty="0"/>
              <a:t>/idée, modification 24h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27D07F49-4CE3-9E7E-38A9-67242A8762E9}"/>
              </a:ext>
            </a:extLst>
          </p:cNvPr>
          <p:cNvSpPr txBox="1"/>
          <p:nvPr/>
        </p:nvSpPr>
        <p:spPr>
          <a:xfrm>
            <a:off x="5756131" y="6956767"/>
            <a:ext cx="7918734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fr-MA" sz="2400" dirty="0"/>
              <a:t>Threads parent/enfants, soft </a:t>
            </a:r>
            <a:r>
              <a:rPr lang="fr-MA" sz="2400" dirty="0" err="1"/>
              <a:t>delete</a:t>
            </a:r>
            <a:r>
              <a:rPr lang="fr-MA" sz="2400" dirty="0"/>
              <a:t>, </a:t>
            </a:r>
            <a:r>
              <a:rPr lang="fr-MA" sz="2400" dirty="0" err="1"/>
              <a:t>edit</a:t>
            </a:r>
            <a:r>
              <a:rPr lang="fr-MA" sz="2400" dirty="0"/>
              <a:t> 24h</a:t>
            </a:r>
          </a:p>
        </p:txBody>
      </p:sp>
    </p:spTree>
    <p:extLst>
      <p:ext uri="{BB962C8B-B14F-4D97-AF65-F5344CB8AC3E}">
        <p14:creationId xmlns:p14="http://schemas.microsoft.com/office/powerpoint/2010/main" val="133249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6970651" y="-2648685"/>
            <a:ext cx="11730590" cy="15178802"/>
          </a:xfrm>
          <a:custGeom>
            <a:avLst/>
            <a:gdLst/>
            <a:ahLst/>
            <a:cxnLst/>
            <a:rect l="l" t="t" r="r" b="b"/>
            <a:pathLst>
              <a:path w="628154" h="812800">
                <a:moveTo>
                  <a:pt x="314077" y="0"/>
                </a:moveTo>
                <a:cubicBezTo>
                  <a:pt x="140617" y="0"/>
                  <a:pt x="0" y="181951"/>
                  <a:pt x="0" y="406400"/>
                </a:cubicBezTo>
                <a:cubicBezTo>
                  <a:pt x="0" y="630849"/>
                  <a:pt x="140617" y="812800"/>
                  <a:pt x="314077" y="812800"/>
                </a:cubicBezTo>
                <a:cubicBezTo>
                  <a:pt x="487537" y="812800"/>
                  <a:pt x="628154" y="630849"/>
                  <a:pt x="628154" y="406400"/>
                </a:cubicBezTo>
                <a:cubicBezTo>
                  <a:pt x="628154" y="181951"/>
                  <a:pt x="487537" y="0"/>
                  <a:pt x="314077" y="0"/>
                </a:cubicBezTo>
                <a:close/>
              </a:path>
            </a:pathLst>
          </a:custGeom>
          <a:solidFill>
            <a:srgbClr val="00B050"/>
          </a:solidFill>
          <a:ln w="38100" cap="sq">
            <a:solidFill>
              <a:srgbClr val="00B050"/>
            </a:solidFill>
            <a:prstDash val="solid"/>
            <a:miter/>
          </a:ln>
        </p:spPr>
        <p:txBody>
          <a:bodyPr/>
          <a:lstStyle/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-37110" y="2615204"/>
            <a:ext cx="4602998" cy="2094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1"/>
              </a:lnSpc>
            </a:pPr>
            <a:endParaRPr lang="en-US" sz="4079" b="1" spc="-81" dirty="0">
              <a:solidFill>
                <a:srgbClr val="FDFDF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5711"/>
              </a:lnSpc>
            </a:pPr>
            <a:endParaRPr lang="en-US" sz="4079" b="1" spc="-81" dirty="0">
              <a:solidFill>
                <a:srgbClr val="FDFDF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5151"/>
              </a:lnSpc>
            </a:pPr>
            <a:r>
              <a:rPr lang="en-US" sz="3679" b="1" spc="-73" dirty="0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FONCTIONALITES  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C4F0784E-2E50-5D7F-BB09-2D8B51BE1C94}"/>
              </a:ext>
            </a:extLst>
          </p:cNvPr>
          <p:cNvSpPr/>
          <p:nvPr/>
        </p:nvSpPr>
        <p:spPr>
          <a:xfrm>
            <a:off x="4288160" y="-117779"/>
            <a:ext cx="1274445" cy="1274445"/>
          </a:xfrm>
          <a:prstGeom prst="flowChartConnector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8A512970-5278-CEF2-F231-CB6B8E9B4A81}"/>
              </a:ext>
            </a:extLst>
          </p:cNvPr>
          <p:cNvSpPr/>
          <p:nvPr/>
        </p:nvSpPr>
        <p:spPr>
          <a:xfrm>
            <a:off x="4348789" y="-76842"/>
            <a:ext cx="1184447" cy="1192570"/>
          </a:xfrm>
          <a:prstGeom prst="flowChartConnector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16B72A92-EC5A-4C28-CB48-27D59B3A11CE}"/>
              </a:ext>
            </a:extLst>
          </p:cNvPr>
          <p:cNvSpPr/>
          <p:nvPr/>
        </p:nvSpPr>
        <p:spPr>
          <a:xfrm>
            <a:off x="5091665" y="1692596"/>
            <a:ext cx="1274445" cy="1274445"/>
          </a:xfrm>
          <a:prstGeom prst="flowChartConnector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A9578132-8325-861E-13EA-B6EEC1E98CC8}"/>
              </a:ext>
            </a:extLst>
          </p:cNvPr>
          <p:cNvSpPr/>
          <p:nvPr/>
        </p:nvSpPr>
        <p:spPr>
          <a:xfrm>
            <a:off x="5152294" y="1733533"/>
            <a:ext cx="1184447" cy="1192570"/>
          </a:xfrm>
          <a:prstGeom prst="flowChartConnector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82FA5149-80BA-DBD4-8045-DCCF46EA815B}"/>
              </a:ext>
            </a:extLst>
          </p:cNvPr>
          <p:cNvSpPr/>
          <p:nvPr/>
        </p:nvSpPr>
        <p:spPr>
          <a:xfrm>
            <a:off x="5260266" y="3447045"/>
            <a:ext cx="1274445" cy="1274445"/>
          </a:xfrm>
          <a:prstGeom prst="flowChartConnector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A11A38F7-A388-D87A-C97C-70B994486B5C}"/>
              </a:ext>
            </a:extLst>
          </p:cNvPr>
          <p:cNvSpPr/>
          <p:nvPr/>
        </p:nvSpPr>
        <p:spPr>
          <a:xfrm>
            <a:off x="5320895" y="3487982"/>
            <a:ext cx="1184447" cy="1192570"/>
          </a:xfrm>
          <a:prstGeom prst="flowChartConnector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7D688558-0AC9-3F2C-7542-920B3B64877A}"/>
              </a:ext>
            </a:extLst>
          </p:cNvPr>
          <p:cNvSpPr/>
          <p:nvPr/>
        </p:nvSpPr>
        <p:spPr>
          <a:xfrm>
            <a:off x="5199637" y="5346130"/>
            <a:ext cx="1274445" cy="1274445"/>
          </a:xfrm>
          <a:prstGeom prst="flowChartConnector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922D2922-DA5F-394B-12AA-07AE8895475A}"/>
              </a:ext>
            </a:extLst>
          </p:cNvPr>
          <p:cNvSpPr/>
          <p:nvPr/>
        </p:nvSpPr>
        <p:spPr>
          <a:xfrm>
            <a:off x="5260266" y="5387067"/>
            <a:ext cx="1184447" cy="1192570"/>
          </a:xfrm>
          <a:prstGeom prst="flowChartConnector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E8A5DB65-8A39-64CA-6C46-92CB3599861D}"/>
              </a:ext>
            </a:extLst>
          </p:cNvPr>
          <p:cNvSpPr/>
          <p:nvPr/>
        </p:nvSpPr>
        <p:spPr>
          <a:xfrm>
            <a:off x="4695771" y="7030530"/>
            <a:ext cx="1274445" cy="1274445"/>
          </a:xfrm>
          <a:prstGeom prst="flowChartConnector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3E30D22C-5271-6FCF-E680-0CBD1A984809}"/>
              </a:ext>
            </a:extLst>
          </p:cNvPr>
          <p:cNvSpPr/>
          <p:nvPr/>
        </p:nvSpPr>
        <p:spPr>
          <a:xfrm>
            <a:off x="4756400" y="7071467"/>
            <a:ext cx="1184447" cy="1192570"/>
          </a:xfrm>
          <a:prstGeom prst="flowChartConnector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6" name="TextBox 8">
            <a:extLst>
              <a:ext uri="{FF2B5EF4-FFF2-40B4-BE49-F238E27FC236}">
                <a16:creationId xmlns:a16="http://schemas.microsoft.com/office/drawing/2014/main" id="{A7A69AFA-E110-712A-869C-B90489841D44}"/>
              </a:ext>
            </a:extLst>
          </p:cNvPr>
          <p:cNvSpPr txBox="1"/>
          <p:nvPr/>
        </p:nvSpPr>
        <p:spPr>
          <a:xfrm>
            <a:off x="5345066" y="5592991"/>
            <a:ext cx="1014846" cy="706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428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08</a:t>
            </a: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B95D9EA1-8F79-CD42-F194-2CC5D3F14202}"/>
              </a:ext>
            </a:extLst>
          </p:cNvPr>
          <p:cNvSpPr txBox="1"/>
          <p:nvPr/>
        </p:nvSpPr>
        <p:spPr>
          <a:xfrm>
            <a:off x="5405695" y="3641606"/>
            <a:ext cx="1014846" cy="706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428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07</a:t>
            </a:r>
          </a:p>
        </p:txBody>
      </p:sp>
      <p:sp>
        <p:nvSpPr>
          <p:cNvPr id="58" name="TextBox 8">
            <a:extLst>
              <a:ext uri="{FF2B5EF4-FFF2-40B4-BE49-F238E27FC236}">
                <a16:creationId xmlns:a16="http://schemas.microsoft.com/office/drawing/2014/main" id="{621F0EA2-531C-C72D-D809-B83373438EF8}"/>
              </a:ext>
            </a:extLst>
          </p:cNvPr>
          <p:cNvSpPr txBox="1"/>
          <p:nvPr/>
        </p:nvSpPr>
        <p:spPr>
          <a:xfrm>
            <a:off x="5200020" y="1936790"/>
            <a:ext cx="1014846" cy="706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428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06</a:t>
            </a:r>
          </a:p>
        </p:txBody>
      </p:sp>
      <p:sp>
        <p:nvSpPr>
          <p:cNvPr id="60" name="TextBox 8">
            <a:extLst>
              <a:ext uri="{FF2B5EF4-FFF2-40B4-BE49-F238E27FC236}">
                <a16:creationId xmlns:a16="http://schemas.microsoft.com/office/drawing/2014/main" id="{EFA1E384-AF84-DDBE-4E5E-611F19C9003E}"/>
              </a:ext>
            </a:extLst>
          </p:cNvPr>
          <p:cNvSpPr txBox="1"/>
          <p:nvPr/>
        </p:nvSpPr>
        <p:spPr>
          <a:xfrm>
            <a:off x="4836675" y="7247177"/>
            <a:ext cx="1014846" cy="706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428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87983" y="139669"/>
            <a:ext cx="1014846" cy="706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428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05</a:t>
            </a:r>
          </a:p>
        </p:txBody>
      </p: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8DC8ECE3-7594-EEAE-F59F-B2EE74E4640D}"/>
              </a:ext>
            </a:extLst>
          </p:cNvPr>
          <p:cNvSpPr/>
          <p:nvPr/>
        </p:nvSpPr>
        <p:spPr>
          <a:xfrm>
            <a:off x="14469548" y="6714501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9785DD1D-E0BA-3977-C319-43F11DED3D54}"/>
              </a:ext>
            </a:extLst>
          </p:cNvPr>
          <p:cNvSpPr/>
          <p:nvPr/>
        </p:nvSpPr>
        <p:spPr>
          <a:xfrm>
            <a:off x="-2247613" y="7321517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65" name="Rectangle: Single Corner Snipped 64">
            <a:extLst>
              <a:ext uri="{FF2B5EF4-FFF2-40B4-BE49-F238E27FC236}">
                <a16:creationId xmlns:a16="http://schemas.microsoft.com/office/drawing/2014/main" id="{A5B318EF-235E-5BFD-44EA-BDCFF322312E}"/>
              </a:ext>
            </a:extLst>
          </p:cNvPr>
          <p:cNvSpPr/>
          <p:nvPr/>
        </p:nvSpPr>
        <p:spPr>
          <a:xfrm>
            <a:off x="17198275" y="934580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66" name="TextBox 8">
            <a:extLst>
              <a:ext uri="{FF2B5EF4-FFF2-40B4-BE49-F238E27FC236}">
                <a16:creationId xmlns:a16="http://schemas.microsoft.com/office/drawing/2014/main" id="{D5681232-C846-5C41-6C0C-3D386202F68E}"/>
              </a:ext>
            </a:extLst>
          </p:cNvPr>
          <p:cNvSpPr txBox="1"/>
          <p:nvPr/>
        </p:nvSpPr>
        <p:spPr>
          <a:xfrm>
            <a:off x="17445065" y="909996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10</a:t>
            </a:r>
          </a:p>
        </p:txBody>
      </p:sp>
      <p:sp>
        <p:nvSpPr>
          <p:cNvPr id="6" name="Flowchart: Connector 45">
            <a:extLst>
              <a:ext uri="{FF2B5EF4-FFF2-40B4-BE49-F238E27FC236}">
                <a16:creationId xmlns:a16="http://schemas.microsoft.com/office/drawing/2014/main" id="{3D841CEB-5EAB-A2FF-ABEE-D5FD9A9F8291}"/>
              </a:ext>
            </a:extLst>
          </p:cNvPr>
          <p:cNvSpPr/>
          <p:nvPr/>
        </p:nvSpPr>
        <p:spPr>
          <a:xfrm>
            <a:off x="4183822" y="8624528"/>
            <a:ext cx="1274445" cy="1274445"/>
          </a:xfrm>
          <a:prstGeom prst="flowChartConnector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7" name="Flowchart: Connector 46">
            <a:extLst>
              <a:ext uri="{FF2B5EF4-FFF2-40B4-BE49-F238E27FC236}">
                <a16:creationId xmlns:a16="http://schemas.microsoft.com/office/drawing/2014/main" id="{9683B35F-B577-1ADD-6BA2-2DF21FDB8419}"/>
              </a:ext>
            </a:extLst>
          </p:cNvPr>
          <p:cNvSpPr/>
          <p:nvPr/>
        </p:nvSpPr>
        <p:spPr>
          <a:xfrm>
            <a:off x="4244451" y="8665465"/>
            <a:ext cx="1184447" cy="1192570"/>
          </a:xfrm>
          <a:prstGeom prst="flowChartConnector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D50425F7-7F81-EB42-74E7-3A19D776D67C}"/>
              </a:ext>
            </a:extLst>
          </p:cNvPr>
          <p:cNvSpPr txBox="1"/>
          <p:nvPr/>
        </p:nvSpPr>
        <p:spPr>
          <a:xfrm>
            <a:off x="4329251" y="8819089"/>
            <a:ext cx="1014846" cy="706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428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10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B6580413-1ED9-4A6E-096C-1BC58949454B}"/>
              </a:ext>
            </a:extLst>
          </p:cNvPr>
          <p:cNvSpPr txBox="1"/>
          <p:nvPr/>
        </p:nvSpPr>
        <p:spPr>
          <a:xfrm>
            <a:off x="6550814" y="2114374"/>
            <a:ext cx="7918734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fontAlgn="base"/>
            <a:r>
              <a:rPr lang="fr-MA" sz="2800" b="1" dirty="0"/>
              <a:t>BOOKMARKS (</a:t>
            </a:r>
            <a:r>
              <a:rPr lang="fr-MA" sz="2800" b="1" dirty="0" err="1"/>
              <a:t>toggle</a:t>
            </a:r>
            <a:r>
              <a:rPr lang="fr-MA" sz="2800" b="1" dirty="0"/>
              <a:t>)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ED24C29E-6B2A-71EE-245A-E6C14EBDCB83}"/>
              </a:ext>
            </a:extLst>
          </p:cNvPr>
          <p:cNvSpPr txBox="1"/>
          <p:nvPr/>
        </p:nvSpPr>
        <p:spPr>
          <a:xfrm>
            <a:off x="5747830" y="217962"/>
            <a:ext cx="7918734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fontAlgn="base"/>
            <a:r>
              <a:rPr lang="fr-MA" sz="2800" b="1" dirty="0"/>
              <a:t>VOTES POLYMORPHIQUES (+1/-1)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EC66E107-5D7E-23BB-0AEB-37EE8C9C4EC9}"/>
              </a:ext>
            </a:extLst>
          </p:cNvPr>
          <p:cNvSpPr txBox="1"/>
          <p:nvPr/>
        </p:nvSpPr>
        <p:spPr>
          <a:xfrm>
            <a:off x="6665348" y="3871496"/>
            <a:ext cx="7918734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fontAlgn="base"/>
            <a:r>
              <a:rPr lang="fr-MA" sz="2800" b="1" dirty="0"/>
              <a:t>ANALYTICS DASHBOARDS (par rôle)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FA6AB016-D092-D52F-D9DE-346F9CB96C3C}"/>
              </a:ext>
            </a:extLst>
          </p:cNvPr>
          <p:cNvSpPr txBox="1"/>
          <p:nvPr/>
        </p:nvSpPr>
        <p:spPr>
          <a:xfrm>
            <a:off x="6665348" y="5767908"/>
            <a:ext cx="7918734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fontAlgn="base"/>
            <a:r>
              <a:rPr lang="fr-MA" sz="2800" b="1" dirty="0"/>
              <a:t>EXPORT ASYNCHRONE (CSV/JSON/PDF /EXCEL)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A6D057BE-7834-F432-3136-74772E4B2207}"/>
              </a:ext>
            </a:extLst>
          </p:cNvPr>
          <p:cNvSpPr txBox="1"/>
          <p:nvPr/>
        </p:nvSpPr>
        <p:spPr>
          <a:xfrm>
            <a:off x="5615452" y="9046306"/>
            <a:ext cx="7918734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fontAlgn="base"/>
            <a:r>
              <a:rPr lang="fr-MA" sz="2800" b="1" dirty="0"/>
              <a:t>NOTIFICATIONS AUTOMATIQUES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5C8559C0-6896-2FBD-57EB-E64B534A10D0}"/>
              </a:ext>
            </a:extLst>
          </p:cNvPr>
          <p:cNvSpPr txBox="1"/>
          <p:nvPr/>
        </p:nvSpPr>
        <p:spPr>
          <a:xfrm>
            <a:off x="6172200" y="7505700"/>
            <a:ext cx="7918734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fontAlgn="base"/>
            <a:r>
              <a:rPr lang="en-US" sz="2800" b="1" dirty="0"/>
              <a:t>C</a:t>
            </a:r>
            <a:r>
              <a:rPr lang="fr-MA" sz="2800" b="1" dirty="0" err="1"/>
              <a:t>HATBOT</a:t>
            </a:r>
            <a:r>
              <a:rPr lang="fr-MA" sz="2800" b="1" dirty="0"/>
              <a:t> ASSISTANT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31BD8-F9A4-D430-70E5-763E1B3E8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54605D25-9698-6AAD-4A14-FEE39AB4AA9C}"/>
              </a:ext>
            </a:extLst>
          </p:cNvPr>
          <p:cNvSpPr/>
          <p:nvPr/>
        </p:nvSpPr>
        <p:spPr>
          <a:xfrm>
            <a:off x="1028700" y="730007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AB295445-D19C-6863-26EA-541382DE25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37BC013F-D84B-95E0-7958-B90F59459B2C}"/>
              </a:ext>
            </a:extLst>
          </p:cNvPr>
          <p:cNvSpPr txBox="1"/>
          <p:nvPr/>
        </p:nvSpPr>
        <p:spPr>
          <a:xfrm>
            <a:off x="1130048" y="715054"/>
            <a:ext cx="11102833" cy="633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92"/>
              </a:lnSpc>
            </a:pPr>
            <a:r>
              <a:rPr lang="en-US" sz="4200" b="1" spc="596" dirty="0" err="1">
                <a:solidFill>
                  <a:srgbClr val="00B05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Algorithme</a:t>
            </a:r>
            <a:r>
              <a:rPr lang="en-US" sz="4200" b="1" spc="596" dirty="0">
                <a:solidFill>
                  <a:srgbClr val="00B05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SGV:</a:t>
            </a:r>
          </a:p>
        </p:txBody>
      </p:sp>
      <p:grpSp>
        <p:nvGrpSpPr>
          <p:cNvPr id="22" name="Group 3">
            <a:extLst>
              <a:ext uri="{FF2B5EF4-FFF2-40B4-BE49-F238E27FC236}">
                <a16:creationId xmlns:a16="http://schemas.microsoft.com/office/drawing/2014/main" id="{24A9493F-6F26-5C07-61DD-14ABF6A79F73}"/>
              </a:ext>
            </a:extLst>
          </p:cNvPr>
          <p:cNvGrpSpPr/>
          <p:nvPr/>
        </p:nvGrpSpPr>
        <p:grpSpPr>
          <a:xfrm rot="1295334">
            <a:off x="12410251" y="-3695156"/>
            <a:ext cx="7330889" cy="6609232"/>
            <a:chOff x="0" y="0"/>
            <a:chExt cx="812800" cy="732787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2C671184-446E-A44D-B53D-F08E26F814CE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492DB16E-74BC-C693-F865-70A2C4A86C93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5" name="Hexagon 24">
            <a:extLst>
              <a:ext uri="{FF2B5EF4-FFF2-40B4-BE49-F238E27FC236}">
                <a16:creationId xmlns:a16="http://schemas.microsoft.com/office/drawing/2014/main" id="{A0B6F9D0-DF0F-E1BF-C258-D7ED11FD4BA7}"/>
              </a:ext>
            </a:extLst>
          </p:cNvPr>
          <p:cNvSpPr/>
          <p:nvPr/>
        </p:nvSpPr>
        <p:spPr>
          <a:xfrm>
            <a:off x="15173940" y="1232149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26" name="Graphic 25" descr="Laptop outline">
            <a:extLst>
              <a:ext uri="{FF2B5EF4-FFF2-40B4-BE49-F238E27FC236}">
                <a16:creationId xmlns:a16="http://schemas.microsoft.com/office/drawing/2014/main" id="{6C7D7018-5CA0-941D-658B-BE97F1D60E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99FE7294-6AE6-5A76-CE06-60F10FC1F972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20F1771A-0D7D-B91F-B8E9-41B8AE8B72D5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A3E04F9-70BC-62EC-FC62-9208F53ABE58}"/>
              </a:ext>
            </a:extLst>
          </p:cNvPr>
          <p:cNvSpPr/>
          <p:nvPr/>
        </p:nvSpPr>
        <p:spPr>
          <a:xfrm>
            <a:off x="-1855813" y="7481097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3" name="Freeform 49">
            <a:extLst>
              <a:ext uri="{FF2B5EF4-FFF2-40B4-BE49-F238E27FC236}">
                <a16:creationId xmlns:a16="http://schemas.microsoft.com/office/drawing/2014/main" id="{2DB7064C-166F-9B9B-9A0D-ACFD6D93C0C5}"/>
              </a:ext>
            </a:extLst>
          </p:cNvPr>
          <p:cNvSpPr/>
          <p:nvPr/>
        </p:nvSpPr>
        <p:spPr>
          <a:xfrm rot="19788342">
            <a:off x="15879363" y="8228659"/>
            <a:ext cx="2165139" cy="1704668"/>
          </a:xfrm>
          <a:custGeom>
            <a:avLst/>
            <a:gdLst>
              <a:gd name="connsiteX0" fmla="*/ 0 w 3552598"/>
              <a:gd name="connsiteY0" fmla="*/ 0 h 3552598"/>
              <a:gd name="connsiteX1" fmla="*/ 3552598 w 3552598"/>
              <a:gd name="connsiteY1" fmla="*/ 0 h 3552598"/>
              <a:gd name="connsiteX2" fmla="*/ 2891372 w 3552598"/>
              <a:gd name="connsiteY2" fmla="*/ 2751606 h 3552598"/>
              <a:gd name="connsiteX3" fmla="*/ 0 w 3552598"/>
              <a:gd name="connsiteY3" fmla="*/ 3552598 h 3552598"/>
              <a:gd name="connsiteX4" fmla="*/ 0 w 3552598"/>
              <a:gd name="connsiteY4" fmla="*/ 0 h 3552598"/>
              <a:gd name="connsiteX0" fmla="*/ 0 w 3552598"/>
              <a:gd name="connsiteY0" fmla="*/ 0 h 2751606"/>
              <a:gd name="connsiteX1" fmla="*/ 3552598 w 3552598"/>
              <a:gd name="connsiteY1" fmla="*/ 0 h 2751606"/>
              <a:gd name="connsiteX2" fmla="*/ 2891372 w 3552598"/>
              <a:gd name="connsiteY2" fmla="*/ 2751606 h 2751606"/>
              <a:gd name="connsiteX3" fmla="*/ 823383 w 3552598"/>
              <a:gd name="connsiteY3" fmla="*/ 2644253 h 2751606"/>
              <a:gd name="connsiteX4" fmla="*/ 0 w 3552598"/>
              <a:gd name="connsiteY4" fmla="*/ 0 h 2751606"/>
              <a:gd name="connsiteX0" fmla="*/ 0 w 2891372"/>
              <a:gd name="connsiteY0" fmla="*/ 0 h 2751606"/>
              <a:gd name="connsiteX1" fmla="*/ 2387609 w 2891372"/>
              <a:gd name="connsiteY1" fmla="*/ 1316584 h 2751606"/>
              <a:gd name="connsiteX2" fmla="*/ 2891372 w 2891372"/>
              <a:gd name="connsiteY2" fmla="*/ 2751606 h 2751606"/>
              <a:gd name="connsiteX3" fmla="*/ 823383 w 2891372"/>
              <a:gd name="connsiteY3" fmla="*/ 2644253 h 2751606"/>
              <a:gd name="connsiteX4" fmla="*/ 0 w 2891372"/>
              <a:gd name="connsiteY4" fmla="*/ 0 h 2751606"/>
              <a:gd name="connsiteX0" fmla="*/ 0 w 2165139"/>
              <a:gd name="connsiteY0" fmla="*/ 0 h 1704668"/>
              <a:gd name="connsiteX1" fmla="*/ 1661376 w 2165139"/>
              <a:gd name="connsiteY1" fmla="*/ 269646 h 1704668"/>
              <a:gd name="connsiteX2" fmla="*/ 2165139 w 2165139"/>
              <a:gd name="connsiteY2" fmla="*/ 1704668 h 1704668"/>
              <a:gd name="connsiteX3" fmla="*/ 97150 w 2165139"/>
              <a:gd name="connsiteY3" fmla="*/ 1597315 h 1704668"/>
              <a:gd name="connsiteX4" fmla="*/ 0 w 2165139"/>
              <a:gd name="connsiteY4" fmla="*/ 0 h 170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139" h="1704668">
                <a:moveTo>
                  <a:pt x="0" y="0"/>
                </a:moveTo>
                <a:lnTo>
                  <a:pt x="1661376" y="269646"/>
                </a:lnTo>
                <a:lnTo>
                  <a:pt x="2165139" y="1704668"/>
                </a:lnTo>
                <a:lnTo>
                  <a:pt x="97150" y="159731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6"/>
            </a:outerShdw>
          </a:effectLst>
        </p:spPr>
        <p:txBody>
          <a:bodyPr/>
          <a:lstStyle/>
          <a:p>
            <a:endParaRPr lang="fr-MA" dirty="0">
              <a:solidFill>
                <a:schemeClr val="tx2">
                  <a:lumMod val="60000"/>
                  <a:lumOff val="40000"/>
                  <a:alpha val="71000"/>
                </a:schemeClr>
              </a:solidFill>
            </a:endParaRPr>
          </a:p>
        </p:txBody>
      </p:sp>
      <p:pic>
        <p:nvPicPr>
          <p:cNvPr id="37" name="Picture 3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D1DEE5FE-800E-A529-A977-5E0CDA3CBA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44" y="591687"/>
            <a:ext cx="324015" cy="324015"/>
          </a:xfrm>
          <a:prstGeom prst="rect">
            <a:avLst/>
          </a:prstGeom>
        </p:spPr>
      </p:pic>
      <p:pic>
        <p:nvPicPr>
          <p:cNvPr id="38" name="Picture 3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825D72BE-C9CB-0C10-D506-65F26ED005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68" y="824724"/>
            <a:ext cx="324015" cy="324015"/>
          </a:xfrm>
          <a:prstGeom prst="rect">
            <a:avLst/>
          </a:prstGeom>
        </p:spPr>
      </p:pic>
      <p:pic>
        <p:nvPicPr>
          <p:cNvPr id="39" name="Picture 38" descr="A star with a white center&#10;&#10;AI-generated content may be incorrect.">
            <a:extLst>
              <a:ext uri="{FF2B5EF4-FFF2-40B4-BE49-F238E27FC236}">
                <a16:creationId xmlns:a16="http://schemas.microsoft.com/office/drawing/2014/main" id="{66BAD56C-0C8C-B479-E27C-C7F8F17ADB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94" y="1170236"/>
            <a:ext cx="324015" cy="324015"/>
          </a:xfrm>
          <a:prstGeom prst="rect">
            <a:avLst/>
          </a:prstGeom>
        </p:spPr>
      </p:pic>
      <p:pic>
        <p:nvPicPr>
          <p:cNvPr id="40" name="Picture 39" descr="A star with a white center&#10;&#10;AI-generated content may be incorrect.">
            <a:extLst>
              <a:ext uri="{FF2B5EF4-FFF2-40B4-BE49-F238E27FC236}">
                <a16:creationId xmlns:a16="http://schemas.microsoft.com/office/drawing/2014/main" id="{CAE5578F-205D-2474-17E7-934536B2FF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318" y="628423"/>
            <a:ext cx="324015" cy="324015"/>
          </a:xfrm>
          <a:prstGeom prst="rect">
            <a:avLst/>
          </a:prstGeom>
        </p:spPr>
      </p:pic>
      <p:pic>
        <p:nvPicPr>
          <p:cNvPr id="41" name="Picture 40" descr="A star with a white center&#10;&#10;AI-generated content may be incorrect.">
            <a:extLst>
              <a:ext uri="{FF2B5EF4-FFF2-40B4-BE49-F238E27FC236}">
                <a16:creationId xmlns:a16="http://schemas.microsoft.com/office/drawing/2014/main" id="{885B26F8-7D60-3A5A-34F0-D40F082F1A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152" y="868383"/>
            <a:ext cx="324015" cy="324015"/>
          </a:xfrm>
          <a:prstGeom prst="rect">
            <a:avLst/>
          </a:prstGeom>
        </p:spPr>
      </p:pic>
      <p:pic>
        <p:nvPicPr>
          <p:cNvPr id="42" name="Picture 41" descr="A star with a white center&#10;&#10;AI-generated content may be incorrect.">
            <a:extLst>
              <a:ext uri="{FF2B5EF4-FFF2-40B4-BE49-F238E27FC236}">
                <a16:creationId xmlns:a16="http://schemas.microsoft.com/office/drawing/2014/main" id="{0FCCE7FC-9644-EBC6-4CB5-D091F1668C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288" y="1186617"/>
            <a:ext cx="324015" cy="324015"/>
          </a:xfrm>
          <a:prstGeom prst="rect">
            <a:avLst/>
          </a:prstGeom>
        </p:spPr>
      </p:pic>
      <p:sp>
        <p:nvSpPr>
          <p:cNvPr id="43" name="Rectangle: Single Corner Snipped 42">
            <a:extLst>
              <a:ext uri="{FF2B5EF4-FFF2-40B4-BE49-F238E27FC236}">
                <a16:creationId xmlns:a16="http://schemas.microsoft.com/office/drawing/2014/main" id="{A5A7886B-8AC0-B543-419D-66B1349DA948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DA653C26-4EC8-E49A-D6CA-C548F27088A5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11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421DBDD-F9AF-A33F-1DC0-2A70EE192A00}"/>
              </a:ext>
            </a:extLst>
          </p:cNvPr>
          <p:cNvSpPr txBox="1"/>
          <p:nvPr/>
        </p:nvSpPr>
        <p:spPr>
          <a:xfrm>
            <a:off x="3361907" y="1696965"/>
            <a:ext cx="9309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fr-MA" sz="3600" b="0" i="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+mj-lt"/>
              </a:rPr>
              <a:t>SGV = </a:t>
            </a:r>
            <a:r>
              <a:rPr lang="el-GR" sz="3600" b="0" i="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+mj-lt"/>
              </a:rPr>
              <a:t>Σ(</a:t>
            </a:r>
            <a:r>
              <a:rPr lang="fr-MA" sz="3600" b="0" i="0" dirty="0" err="1">
                <a:solidFill>
                  <a:schemeClr val="bg1"/>
                </a:solidFill>
                <a:effectLst/>
                <a:highlight>
                  <a:srgbClr val="008000"/>
                </a:highlight>
                <a:latin typeface="+mj-lt"/>
              </a:rPr>
              <a:t>raw_score</a:t>
            </a:r>
            <a:r>
              <a:rPr lang="fr-MA" sz="3600" b="0" i="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+mj-lt"/>
              </a:rPr>
              <a:t>ᵢ × coefficientᵢ) / </a:t>
            </a:r>
            <a:r>
              <a:rPr lang="el-GR" sz="3600" b="0" i="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+mj-lt"/>
              </a:rPr>
              <a:t>Σ(</a:t>
            </a:r>
            <a:r>
              <a:rPr lang="fr-MA" sz="3600" b="0" i="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+mj-lt"/>
              </a:rPr>
              <a:t>coefficientᵢ)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1BD1ADC-41A5-2E61-5DDF-825512672A06}"/>
              </a:ext>
            </a:extLst>
          </p:cNvPr>
          <p:cNvSpPr txBox="1"/>
          <p:nvPr/>
        </p:nvSpPr>
        <p:spPr>
          <a:xfrm>
            <a:off x="2305639" y="3844457"/>
            <a:ext cx="65130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fr-MA" sz="4000" b="1" i="0" dirty="0">
                <a:solidFill>
                  <a:srgbClr val="00B050"/>
                </a:solidFill>
                <a:effectLst/>
                <a:latin typeface="+mj-lt"/>
              </a:rPr>
              <a:t>COEFFICIENTS PAR NIVEAU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6F5FF9C-AAA0-105F-97EC-ACC8709546E7}"/>
              </a:ext>
            </a:extLst>
          </p:cNvPr>
          <p:cNvSpPr txBox="1"/>
          <p:nvPr/>
        </p:nvSpPr>
        <p:spPr>
          <a:xfrm>
            <a:off x="4459395" y="4608961"/>
            <a:ext cx="78591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 fontAlgn="base" latinLnBrk="0">
              <a:buFont typeface="Arial" panose="020B0604020202020204" pitchFamily="34" charset="0"/>
              <a:buChar char="•"/>
            </a:pPr>
            <a:r>
              <a:rPr lang="fr-MA" sz="3600" b="0" i="0" dirty="0">
                <a:effectLst/>
                <a:latin typeface="+mj-lt"/>
              </a:rPr>
              <a:t> Bronze (0-99 pts)     → 1.0</a:t>
            </a:r>
          </a:p>
          <a:p>
            <a:pPr marL="285750" indent="-285750" algn="l" rtl="0" fontAlgn="base" latinLnBrk="0">
              <a:buFont typeface="Arial" panose="020B0604020202020204" pitchFamily="34" charset="0"/>
              <a:buChar char="•"/>
            </a:pPr>
            <a:r>
              <a:rPr lang="fr-MA" sz="3600" b="0" i="0" dirty="0">
                <a:effectLst/>
                <a:latin typeface="+mj-lt"/>
              </a:rPr>
              <a:t> Silver (100-499 pts)  → 1.2</a:t>
            </a:r>
          </a:p>
          <a:p>
            <a:pPr marL="285750" indent="-285750" algn="l" rtl="0" fontAlgn="base" latinLnBrk="0">
              <a:buFont typeface="Arial" panose="020B0604020202020204" pitchFamily="34" charset="0"/>
              <a:buChar char="•"/>
            </a:pPr>
            <a:r>
              <a:rPr lang="fr-MA" sz="3600" b="0" i="0" dirty="0">
                <a:effectLst/>
                <a:latin typeface="+mj-lt"/>
              </a:rPr>
              <a:t> Gold (500-999 pts)    → 1.5</a:t>
            </a:r>
          </a:p>
          <a:p>
            <a:pPr marL="285750" indent="-285750" algn="l" rtl="0" fontAlgn="base" latinLnBrk="0">
              <a:buFont typeface="Arial" panose="020B0604020202020204" pitchFamily="34" charset="0"/>
              <a:buChar char="•"/>
            </a:pPr>
            <a:r>
              <a:rPr lang="fr-MA" sz="3600" b="0" i="0" dirty="0">
                <a:effectLst/>
                <a:latin typeface="+mj-lt"/>
              </a:rPr>
              <a:t> Expert (1000+ pts)    → 2.0</a:t>
            </a:r>
          </a:p>
        </p:txBody>
      </p:sp>
      <p:pic>
        <p:nvPicPr>
          <p:cNvPr id="3" name="Graphic 2" descr="Good Idea outline">
            <a:extLst>
              <a:ext uri="{FF2B5EF4-FFF2-40B4-BE49-F238E27FC236}">
                <a16:creationId xmlns:a16="http://schemas.microsoft.com/office/drawing/2014/main" id="{614A2E42-F117-65CA-F040-439117D784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3062" y="868955"/>
            <a:ext cx="804387" cy="647251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CD8444F8-617A-EFC9-AC7F-DBCE1083693E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E502B158-DE9B-D42F-2054-515CCD182ED6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EDAAF4A6-950C-5198-267B-CB5FCF83DBF8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8881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C7537-8819-1802-AD56-27BABB713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78A903BD-8EB3-122C-FCE9-E4A46BD9D5AB}"/>
              </a:ext>
            </a:extLst>
          </p:cNvPr>
          <p:cNvSpPr/>
          <p:nvPr/>
        </p:nvSpPr>
        <p:spPr>
          <a:xfrm>
            <a:off x="1028700" y="730007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6A13657D-A030-66C5-88A4-B57EDAC2AA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B7B5F854-BF70-D102-6664-1BAAC15BFE1A}"/>
              </a:ext>
            </a:extLst>
          </p:cNvPr>
          <p:cNvSpPr txBox="1"/>
          <p:nvPr/>
        </p:nvSpPr>
        <p:spPr>
          <a:xfrm>
            <a:off x="1392051" y="733376"/>
            <a:ext cx="11102833" cy="633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92"/>
              </a:lnSpc>
            </a:pPr>
            <a:r>
              <a:rPr lang="en-US" sz="4200" b="1" spc="596" dirty="0">
                <a:solidFill>
                  <a:srgbClr val="00B05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interface:</a:t>
            </a:r>
          </a:p>
        </p:txBody>
      </p:sp>
      <p:grpSp>
        <p:nvGrpSpPr>
          <p:cNvPr id="22" name="Group 3">
            <a:extLst>
              <a:ext uri="{FF2B5EF4-FFF2-40B4-BE49-F238E27FC236}">
                <a16:creationId xmlns:a16="http://schemas.microsoft.com/office/drawing/2014/main" id="{561940CF-495B-9F7D-0282-770B2DF50DE9}"/>
              </a:ext>
            </a:extLst>
          </p:cNvPr>
          <p:cNvGrpSpPr/>
          <p:nvPr/>
        </p:nvGrpSpPr>
        <p:grpSpPr>
          <a:xfrm rot="1295334">
            <a:off x="12410251" y="-3695156"/>
            <a:ext cx="7330889" cy="6609232"/>
            <a:chOff x="0" y="0"/>
            <a:chExt cx="812800" cy="732787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7A12FC0D-A083-1947-E249-8F59FF704981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D310B652-3DE3-0363-E6AD-EF62EEF25383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5" name="Hexagon 24">
            <a:extLst>
              <a:ext uri="{FF2B5EF4-FFF2-40B4-BE49-F238E27FC236}">
                <a16:creationId xmlns:a16="http://schemas.microsoft.com/office/drawing/2014/main" id="{04AB9352-5E7B-F12A-F8E7-61DFB0FB90C2}"/>
              </a:ext>
            </a:extLst>
          </p:cNvPr>
          <p:cNvSpPr/>
          <p:nvPr/>
        </p:nvSpPr>
        <p:spPr>
          <a:xfrm>
            <a:off x="15173940" y="1232149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26" name="Graphic 25" descr="Laptop outline">
            <a:extLst>
              <a:ext uri="{FF2B5EF4-FFF2-40B4-BE49-F238E27FC236}">
                <a16:creationId xmlns:a16="http://schemas.microsoft.com/office/drawing/2014/main" id="{A865F76E-9174-EDDE-BB67-DCD6F80B3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46CFBE87-63D4-B700-6C5B-1AB48DA1C5C5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EDA63486-A985-EDBC-FB06-EB53051C0FDD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C6A1A708-C8F8-FF39-5254-5D1433D6FB2F}"/>
              </a:ext>
            </a:extLst>
          </p:cNvPr>
          <p:cNvSpPr/>
          <p:nvPr/>
        </p:nvSpPr>
        <p:spPr>
          <a:xfrm>
            <a:off x="-1855813" y="7481097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3" name="Freeform 49">
            <a:extLst>
              <a:ext uri="{FF2B5EF4-FFF2-40B4-BE49-F238E27FC236}">
                <a16:creationId xmlns:a16="http://schemas.microsoft.com/office/drawing/2014/main" id="{05021027-9276-FA25-06ED-6E575D109815}"/>
              </a:ext>
            </a:extLst>
          </p:cNvPr>
          <p:cNvSpPr/>
          <p:nvPr/>
        </p:nvSpPr>
        <p:spPr>
          <a:xfrm rot="19788342">
            <a:off x="15879363" y="8228659"/>
            <a:ext cx="2165139" cy="1704668"/>
          </a:xfrm>
          <a:custGeom>
            <a:avLst/>
            <a:gdLst>
              <a:gd name="connsiteX0" fmla="*/ 0 w 3552598"/>
              <a:gd name="connsiteY0" fmla="*/ 0 h 3552598"/>
              <a:gd name="connsiteX1" fmla="*/ 3552598 w 3552598"/>
              <a:gd name="connsiteY1" fmla="*/ 0 h 3552598"/>
              <a:gd name="connsiteX2" fmla="*/ 2891372 w 3552598"/>
              <a:gd name="connsiteY2" fmla="*/ 2751606 h 3552598"/>
              <a:gd name="connsiteX3" fmla="*/ 0 w 3552598"/>
              <a:gd name="connsiteY3" fmla="*/ 3552598 h 3552598"/>
              <a:gd name="connsiteX4" fmla="*/ 0 w 3552598"/>
              <a:gd name="connsiteY4" fmla="*/ 0 h 3552598"/>
              <a:gd name="connsiteX0" fmla="*/ 0 w 3552598"/>
              <a:gd name="connsiteY0" fmla="*/ 0 h 2751606"/>
              <a:gd name="connsiteX1" fmla="*/ 3552598 w 3552598"/>
              <a:gd name="connsiteY1" fmla="*/ 0 h 2751606"/>
              <a:gd name="connsiteX2" fmla="*/ 2891372 w 3552598"/>
              <a:gd name="connsiteY2" fmla="*/ 2751606 h 2751606"/>
              <a:gd name="connsiteX3" fmla="*/ 823383 w 3552598"/>
              <a:gd name="connsiteY3" fmla="*/ 2644253 h 2751606"/>
              <a:gd name="connsiteX4" fmla="*/ 0 w 3552598"/>
              <a:gd name="connsiteY4" fmla="*/ 0 h 2751606"/>
              <a:gd name="connsiteX0" fmla="*/ 0 w 2891372"/>
              <a:gd name="connsiteY0" fmla="*/ 0 h 2751606"/>
              <a:gd name="connsiteX1" fmla="*/ 2387609 w 2891372"/>
              <a:gd name="connsiteY1" fmla="*/ 1316584 h 2751606"/>
              <a:gd name="connsiteX2" fmla="*/ 2891372 w 2891372"/>
              <a:gd name="connsiteY2" fmla="*/ 2751606 h 2751606"/>
              <a:gd name="connsiteX3" fmla="*/ 823383 w 2891372"/>
              <a:gd name="connsiteY3" fmla="*/ 2644253 h 2751606"/>
              <a:gd name="connsiteX4" fmla="*/ 0 w 2891372"/>
              <a:gd name="connsiteY4" fmla="*/ 0 h 2751606"/>
              <a:gd name="connsiteX0" fmla="*/ 0 w 2165139"/>
              <a:gd name="connsiteY0" fmla="*/ 0 h 1704668"/>
              <a:gd name="connsiteX1" fmla="*/ 1661376 w 2165139"/>
              <a:gd name="connsiteY1" fmla="*/ 269646 h 1704668"/>
              <a:gd name="connsiteX2" fmla="*/ 2165139 w 2165139"/>
              <a:gd name="connsiteY2" fmla="*/ 1704668 h 1704668"/>
              <a:gd name="connsiteX3" fmla="*/ 97150 w 2165139"/>
              <a:gd name="connsiteY3" fmla="*/ 1597315 h 1704668"/>
              <a:gd name="connsiteX4" fmla="*/ 0 w 2165139"/>
              <a:gd name="connsiteY4" fmla="*/ 0 h 170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139" h="1704668">
                <a:moveTo>
                  <a:pt x="0" y="0"/>
                </a:moveTo>
                <a:lnTo>
                  <a:pt x="1661376" y="269646"/>
                </a:lnTo>
                <a:lnTo>
                  <a:pt x="2165139" y="1704668"/>
                </a:lnTo>
                <a:lnTo>
                  <a:pt x="97150" y="159731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6"/>
            </a:outerShdw>
          </a:effectLst>
        </p:spPr>
        <p:txBody>
          <a:bodyPr/>
          <a:lstStyle/>
          <a:p>
            <a:endParaRPr lang="fr-MA" dirty="0">
              <a:solidFill>
                <a:schemeClr val="tx2">
                  <a:lumMod val="60000"/>
                  <a:lumOff val="40000"/>
                  <a:alpha val="71000"/>
                </a:schemeClr>
              </a:solidFill>
            </a:endParaRPr>
          </a:p>
        </p:txBody>
      </p:sp>
      <p:pic>
        <p:nvPicPr>
          <p:cNvPr id="37" name="Picture 3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B14A6F1F-9F46-6ECA-53BF-C7C5D316FE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44" y="591687"/>
            <a:ext cx="324015" cy="324015"/>
          </a:xfrm>
          <a:prstGeom prst="rect">
            <a:avLst/>
          </a:prstGeom>
        </p:spPr>
      </p:pic>
      <p:pic>
        <p:nvPicPr>
          <p:cNvPr id="38" name="Picture 3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61968B89-029F-8649-B816-EE9DBFABAB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68" y="824724"/>
            <a:ext cx="324015" cy="324015"/>
          </a:xfrm>
          <a:prstGeom prst="rect">
            <a:avLst/>
          </a:prstGeom>
        </p:spPr>
      </p:pic>
      <p:pic>
        <p:nvPicPr>
          <p:cNvPr id="39" name="Picture 38" descr="A star with a white center&#10;&#10;AI-generated content may be incorrect.">
            <a:extLst>
              <a:ext uri="{FF2B5EF4-FFF2-40B4-BE49-F238E27FC236}">
                <a16:creationId xmlns:a16="http://schemas.microsoft.com/office/drawing/2014/main" id="{E7112EAA-370A-90C7-3C5F-5E3E8E517A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94" y="1170236"/>
            <a:ext cx="324015" cy="324015"/>
          </a:xfrm>
          <a:prstGeom prst="rect">
            <a:avLst/>
          </a:prstGeom>
        </p:spPr>
      </p:pic>
      <p:pic>
        <p:nvPicPr>
          <p:cNvPr id="40" name="Picture 39" descr="A star with a white center&#10;&#10;AI-generated content may be incorrect.">
            <a:extLst>
              <a:ext uri="{FF2B5EF4-FFF2-40B4-BE49-F238E27FC236}">
                <a16:creationId xmlns:a16="http://schemas.microsoft.com/office/drawing/2014/main" id="{B0CA21FC-AC98-143D-39E3-C7D8B91DFF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318" y="628423"/>
            <a:ext cx="324015" cy="324015"/>
          </a:xfrm>
          <a:prstGeom prst="rect">
            <a:avLst/>
          </a:prstGeom>
        </p:spPr>
      </p:pic>
      <p:pic>
        <p:nvPicPr>
          <p:cNvPr id="41" name="Picture 40" descr="A star with a white center&#10;&#10;AI-generated content may be incorrect.">
            <a:extLst>
              <a:ext uri="{FF2B5EF4-FFF2-40B4-BE49-F238E27FC236}">
                <a16:creationId xmlns:a16="http://schemas.microsoft.com/office/drawing/2014/main" id="{1837862D-C8CB-F345-DCF8-9A755E5F17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152" y="868383"/>
            <a:ext cx="324015" cy="324015"/>
          </a:xfrm>
          <a:prstGeom prst="rect">
            <a:avLst/>
          </a:prstGeom>
        </p:spPr>
      </p:pic>
      <p:pic>
        <p:nvPicPr>
          <p:cNvPr id="42" name="Picture 41" descr="A star with a white center&#10;&#10;AI-generated content may be incorrect.">
            <a:extLst>
              <a:ext uri="{FF2B5EF4-FFF2-40B4-BE49-F238E27FC236}">
                <a16:creationId xmlns:a16="http://schemas.microsoft.com/office/drawing/2014/main" id="{07249CE3-C826-6E85-3CA4-ED36B2D9F3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288" y="1186617"/>
            <a:ext cx="324015" cy="324015"/>
          </a:xfrm>
          <a:prstGeom prst="rect">
            <a:avLst/>
          </a:prstGeom>
        </p:spPr>
      </p:pic>
      <p:sp>
        <p:nvSpPr>
          <p:cNvPr id="43" name="Rectangle: Single Corner Snipped 42">
            <a:extLst>
              <a:ext uri="{FF2B5EF4-FFF2-40B4-BE49-F238E27FC236}">
                <a16:creationId xmlns:a16="http://schemas.microsoft.com/office/drawing/2014/main" id="{524542A8-7B2E-B8EC-11A7-36CC19BF46BE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176F19CE-204A-4095-4DD3-25F702ADA90D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12</a:t>
            </a:r>
          </a:p>
        </p:txBody>
      </p:sp>
      <p:pic>
        <p:nvPicPr>
          <p:cNvPr id="3" name="Graphic 2" descr="Good Idea outline">
            <a:extLst>
              <a:ext uri="{FF2B5EF4-FFF2-40B4-BE49-F238E27FC236}">
                <a16:creationId xmlns:a16="http://schemas.microsoft.com/office/drawing/2014/main" id="{61903585-41F1-160A-E620-6FE75B096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3062" y="868955"/>
            <a:ext cx="804387" cy="647251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B52B1BD2-39FA-8359-16AE-6F87250601C0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59367804-87DC-3B1C-2D3B-C98F42087F29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ED6AD7DA-0708-276F-E4C3-BEBB881D5BAF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4F0985F-23C4-683F-2F08-87F0E979A3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099" y="1441127"/>
            <a:ext cx="16665226" cy="87641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8ACD01-5E60-5E4B-53BA-8C4BAC38E6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965" y="2873597"/>
            <a:ext cx="8874834" cy="446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38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0A55-8B65-95E7-73C7-0D177A3D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45080F6A-8A34-9F04-CAAF-D2A2D09B3160}"/>
              </a:ext>
            </a:extLst>
          </p:cNvPr>
          <p:cNvSpPr/>
          <p:nvPr/>
        </p:nvSpPr>
        <p:spPr>
          <a:xfrm>
            <a:off x="1028700" y="730007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A044ECC3-E544-46BC-AB3C-3498FF5444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7266DED0-722C-1636-ED42-2F0055C41AD0}"/>
              </a:ext>
            </a:extLst>
          </p:cNvPr>
          <p:cNvSpPr txBox="1"/>
          <p:nvPr/>
        </p:nvSpPr>
        <p:spPr>
          <a:xfrm>
            <a:off x="1392051" y="733376"/>
            <a:ext cx="11102833" cy="633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92"/>
              </a:lnSpc>
            </a:pPr>
            <a:r>
              <a:rPr lang="en-US" sz="4200" b="1" spc="596" dirty="0">
                <a:solidFill>
                  <a:srgbClr val="00B05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interface:</a:t>
            </a:r>
          </a:p>
        </p:txBody>
      </p:sp>
      <p:grpSp>
        <p:nvGrpSpPr>
          <p:cNvPr id="22" name="Group 3">
            <a:extLst>
              <a:ext uri="{FF2B5EF4-FFF2-40B4-BE49-F238E27FC236}">
                <a16:creationId xmlns:a16="http://schemas.microsoft.com/office/drawing/2014/main" id="{5E710EAD-B92E-8C87-ED63-75EAF379F3FA}"/>
              </a:ext>
            </a:extLst>
          </p:cNvPr>
          <p:cNvGrpSpPr/>
          <p:nvPr/>
        </p:nvGrpSpPr>
        <p:grpSpPr>
          <a:xfrm rot="1295334">
            <a:off x="12410251" y="-3695156"/>
            <a:ext cx="7330889" cy="6609232"/>
            <a:chOff x="0" y="0"/>
            <a:chExt cx="812800" cy="732787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D97FEFD6-B2A2-2A5F-EC68-DB79EE6B428D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893F8F44-61D9-EB0D-DFE5-3BCA99ED71FE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5" name="Hexagon 24">
            <a:extLst>
              <a:ext uri="{FF2B5EF4-FFF2-40B4-BE49-F238E27FC236}">
                <a16:creationId xmlns:a16="http://schemas.microsoft.com/office/drawing/2014/main" id="{9D364595-F7DC-E865-A17C-B3526A4A6A64}"/>
              </a:ext>
            </a:extLst>
          </p:cNvPr>
          <p:cNvSpPr/>
          <p:nvPr/>
        </p:nvSpPr>
        <p:spPr>
          <a:xfrm>
            <a:off x="15173940" y="1232149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26" name="Graphic 25" descr="Laptop outline">
            <a:extLst>
              <a:ext uri="{FF2B5EF4-FFF2-40B4-BE49-F238E27FC236}">
                <a16:creationId xmlns:a16="http://schemas.microsoft.com/office/drawing/2014/main" id="{B20ABAD5-3CA2-3D09-900D-23D4DE49DE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62A324C2-BD50-4759-A453-4D1A14DE907A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5936BB81-299B-ABBE-7D77-7ED1F71CF62B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369680D8-FCB8-2DBF-B2CB-945D3C575BB5}"/>
              </a:ext>
            </a:extLst>
          </p:cNvPr>
          <p:cNvSpPr/>
          <p:nvPr/>
        </p:nvSpPr>
        <p:spPr>
          <a:xfrm>
            <a:off x="-1855813" y="7481097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3" name="Freeform 49">
            <a:extLst>
              <a:ext uri="{FF2B5EF4-FFF2-40B4-BE49-F238E27FC236}">
                <a16:creationId xmlns:a16="http://schemas.microsoft.com/office/drawing/2014/main" id="{5A102D23-4C4D-95C7-D7F9-875B143D0092}"/>
              </a:ext>
            </a:extLst>
          </p:cNvPr>
          <p:cNvSpPr/>
          <p:nvPr/>
        </p:nvSpPr>
        <p:spPr>
          <a:xfrm rot="19788342">
            <a:off x="15879363" y="8228659"/>
            <a:ext cx="2165139" cy="1704668"/>
          </a:xfrm>
          <a:custGeom>
            <a:avLst/>
            <a:gdLst>
              <a:gd name="connsiteX0" fmla="*/ 0 w 3552598"/>
              <a:gd name="connsiteY0" fmla="*/ 0 h 3552598"/>
              <a:gd name="connsiteX1" fmla="*/ 3552598 w 3552598"/>
              <a:gd name="connsiteY1" fmla="*/ 0 h 3552598"/>
              <a:gd name="connsiteX2" fmla="*/ 2891372 w 3552598"/>
              <a:gd name="connsiteY2" fmla="*/ 2751606 h 3552598"/>
              <a:gd name="connsiteX3" fmla="*/ 0 w 3552598"/>
              <a:gd name="connsiteY3" fmla="*/ 3552598 h 3552598"/>
              <a:gd name="connsiteX4" fmla="*/ 0 w 3552598"/>
              <a:gd name="connsiteY4" fmla="*/ 0 h 3552598"/>
              <a:gd name="connsiteX0" fmla="*/ 0 w 3552598"/>
              <a:gd name="connsiteY0" fmla="*/ 0 h 2751606"/>
              <a:gd name="connsiteX1" fmla="*/ 3552598 w 3552598"/>
              <a:gd name="connsiteY1" fmla="*/ 0 h 2751606"/>
              <a:gd name="connsiteX2" fmla="*/ 2891372 w 3552598"/>
              <a:gd name="connsiteY2" fmla="*/ 2751606 h 2751606"/>
              <a:gd name="connsiteX3" fmla="*/ 823383 w 3552598"/>
              <a:gd name="connsiteY3" fmla="*/ 2644253 h 2751606"/>
              <a:gd name="connsiteX4" fmla="*/ 0 w 3552598"/>
              <a:gd name="connsiteY4" fmla="*/ 0 h 2751606"/>
              <a:gd name="connsiteX0" fmla="*/ 0 w 2891372"/>
              <a:gd name="connsiteY0" fmla="*/ 0 h 2751606"/>
              <a:gd name="connsiteX1" fmla="*/ 2387609 w 2891372"/>
              <a:gd name="connsiteY1" fmla="*/ 1316584 h 2751606"/>
              <a:gd name="connsiteX2" fmla="*/ 2891372 w 2891372"/>
              <a:gd name="connsiteY2" fmla="*/ 2751606 h 2751606"/>
              <a:gd name="connsiteX3" fmla="*/ 823383 w 2891372"/>
              <a:gd name="connsiteY3" fmla="*/ 2644253 h 2751606"/>
              <a:gd name="connsiteX4" fmla="*/ 0 w 2891372"/>
              <a:gd name="connsiteY4" fmla="*/ 0 h 2751606"/>
              <a:gd name="connsiteX0" fmla="*/ 0 w 2165139"/>
              <a:gd name="connsiteY0" fmla="*/ 0 h 1704668"/>
              <a:gd name="connsiteX1" fmla="*/ 1661376 w 2165139"/>
              <a:gd name="connsiteY1" fmla="*/ 269646 h 1704668"/>
              <a:gd name="connsiteX2" fmla="*/ 2165139 w 2165139"/>
              <a:gd name="connsiteY2" fmla="*/ 1704668 h 1704668"/>
              <a:gd name="connsiteX3" fmla="*/ 97150 w 2165139"/>
              <a:gd name="connsiteY3" fmla="*/ 1597315 h 1704668"/>
              <a:gd name="connsiteX4" fmla="*/ 0 w 2165139"/>
              <a:gd name="connsiteY4" fmla="*/ 0 h 170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139" h="1704668">
                <a:moveTo>
                  <a:pt x="0" y="0"/>
                </a:moveTo>
                <a:lnTo>
                  <a:pt x="1661376" y="269646"/>
                </a:lnTo>
                <a:lnTo>
                  <a:pt x="2165139" y="1704668"/>
                </a:lnTo>
                <a:lnTo>
                  <a:pt x="97150" y="159731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6"/>
            </a:outerShdw>
          </a:effectLst>
        </p:spPr>
        <p:txBody>
          <a:bodyPr/>
          <a:lstStyle/>
          <a:p>
            <a:endParaRPr lang="fr-MA" dirty="0">
              <a:solidFill>
                <a:schemeClr val="tx2">
                  <a:lumMod val="60000"/>
                  <a:lumOff val="40000"/>
                  <a:alpha val="71000"/>
                </a:schemeClr>
              </a:solidFill>
            </a:endParaRPr>
          </a:p>
        </p:txBody>
      </p:sp>
      <p:pic>
        <p:nvPicPr>
          <p:cNvPr id="37" name="Picture 3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04ACDFB3-A615-8C14-8AEC-DDE1571143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44" y="591687"/>
            <a:ext cx="324015" cy="324015"/>
          </a:xfrm>
          <a:prstGeom prst="rect">
            <a:avLst/>
          </a:prstGeom>
        </p:spPr>
      </p:pic>
      <p:pic>
        <p:nvPicPr>
          <p:cNvPr id="38" name="Picture 3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5B2EAC83-FBFF-233F-B348-20A6055BCE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68" y="824724"/>
            <a:ext cx="324015" cy="324015"/>
          </a:xfrm>
          <a:prstGeom prst="rect">
            <a:avLst/>
          </a:prstGeom>
        </p:spPr>
      </p:pic>
      <p:pic>
        <p:nvPicPr>
          <p:cNvPr id="39" name="Picture 38" descr="A star with a white center&#10;&#10;AI-generated content may be incorrect.">
            <a:extLst>
              <a:ext uri="{FF2B5EF4-FFF2-40B4-BE49-F238E27FC236}">
                <a16:creationId xmlns:a16="http://schemas.microsoft.com/office/drawing/2014/main" id="{D71C8EED-2D79-2AD0-5319-1276B0BB0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94" y="1170236"/>
            <a:ext cx="324015" cy="324015"/>
          </a:xfrm>
          <a:prstGeom prst="rect">
            <a:avLst/>
          </a:prstGeom>
        </p:spPr>
      </p:pic>
      <p:pic>
        <p:nvPicPr>
          <p:cNvPr id="40" name="Picture 39" descr="A star with a white center&#10;&#10;AI-generated content may be incorrect.">
            <a:extLst>
              <a:ext uri="{FF2B5EF4-FFF2-40B4-BE49-F238E27FC236}">
                <a16:creationId xmlns:a16="http://schemas.microsoft.com/office/drawing/2014/main" id="{61787A20-914D-6DF0-E6AC-088F178FDD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318" y="628423"/>
            <a:ext cx="324015" cy="324015"/>
          </a:xfrm>
          <a:prstGeom prst="rect">
            <a:avLst/>
          </a:prstGeom>
        </p:spPr>
      </p:pic>
      <p:pic>
        <p:nvPicPr>
          <p:cNvPr id="41" name="Picture 40" descr="A star with a white center&#10;&#10;AI-generated content may be incorrect.">
            <a:extLst>
              <a:ext uri="{FF2B5EF4-FFF2-40B4-BE49-F238E27FC236}">
                <a16:creationId xmlns:a16="http://schemas.microsoft.com/office/drawing/2014/main" id="{38A8F01B-0B0F-E8EB-9F38-7BD786F53F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152" y="868383"/>
            <a:ext cx="324015" cy="324015"/>
          </a:xfrm>
          <a:prstGeom prst="rect">
            <a:avLst/>
          </a:prstGeom>
        </p:spPr>
      </p:pic>
      <p:pic>
        <p:nvPicPr>
          <p:cNvPr id="42" name="Picture 41" descr="A star with a white center&#10;&#10;AI-generated content may be incorrect.">
            <a:extLst>
              <a:ext uri="{FF2B5EF4-FFF2-40B4-BE49-F238E27FC236}">
                <a16:creationId xmlns:a16="http://schemas.microsoft.com/office/drawing/2014/main" id="{270EE740-D974-B165-2443-5C7272FDAD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288" y="1186617"/>
            <a:ext cx="324015" cy="324015"/>
          </a:xfrm>
          <a:prstGeom prst="rect">
            <a:avLst/>
          </a:prstGeom>
        </p:spPr>
      </p:pic>
      <p:sp>
        <p:nvSpPr>
          <p:cNvPr id="43" name="Rectangle: Single Corner Snipped 42">
            <a:extLst>
              <a:ext uri="{FF2B5EF4-FFF2-40B4-BE49-F238E27FC236}">
                <a16:creationId xmlns:a16="http://schemas.microsoft.com/office/drawing/2014/main" id="{C66FC515-E3D9-E0CC-8672-E888A71EA0C0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4DA2F838-D0B3-B8A2-B134-111A855D4C7C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13</a:t>
            </a:r>
          </a:p>
        </p:txBody>
      </p:sp>
      <p:pic>
        <p:nvPicPr>
          <p:cNvPr id="3" name="Graphic 2" descr="Good Idea outline">
            <a:extLst>
              <a:ext uri="{FF2B5EF4-FFF2-40B4-BE49-F238E27FC236}">
                <a16:creationId xmlns:a16="http://schemas.microsoft.com/office/drawing/2014/main" id="{07CB6FF7-BDF2-689E-5E59-41A5090286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3062" y="868955"/>
            <a:ext cx="804387" cy="647251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18574A7A-C0D8-62D9-55F1-A7413C2ADBC6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5765D812-A3B1-2444-1C51-845F9C787146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258811BA-7DC6-39A6-ECD5-C4BF9C9AE4C5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F7F9B46-E56C-06B7-E2B2-B14D01E712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099" y="1441127"/>
            <a:ext cx="16665226" cy="87641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7799A5-7845-510B-20E7-EDE032941C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0965" y="2848026"/>
            <a:ext cx="8874834" cy="449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3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FAE12-3A7E-CEB8-E323-D78D9E78B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344B8A59-CE82-CC4D-8E98-B65150351C31}"/>
              </a:ext>
            </a:extLst>
          </p:cNvPr>
          <p:cNvSpPr/>
          <p:nvPr/>
        </p:nvSpPr>
        <p:spPr>
          <a:xfrm>
            <a:off x="1028700" y="730007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53C33903-3C70-18C8-4D62-CC3A364C51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498A5177-BE30-347B-0072-98DC66DC3B8D}"/>
              </a:ext>
            </a:extLst>
          </p:cNvPr>
          <p:cNvSpPr txBox="1"/>
          <p:nvPr/>
        </p:nvSpPr>
        <p:spPr>
          <a:xfrm>
            <a:off x="1392051" y="733376"/>
            <a:ext cx="11102833" cy="633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92"/>
              </a:lnSpc>
            </a:pPr>
            <a:r>
              <a:rPr lang="en-US" sz="4200" b="1" spc="596" dirty="0">
                <a:solidFill>
                  <a:srgbClr val="00B05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interface:</a:t>
            </a:r>
          </a:p>
        </p:txBody>
      </p:sp>
      <p:grpSp>
        <p:nvGrpSpPr>
          <p:cNvPr id="22" name="Group 3">
            <a:extLst>
              <a:ext uri="{FF2B5EF4-FFF2-40B4-BE49-F238E27FC236}">
                <a16:creationId xmlns:a16="http://schemas.microsoft.com/office/drawing/2014/main" id="{C1931467-5ECA-548A-5449-8090A5A5BC22}"/>
              </a:ext>
            </a:extLst>
          </p:cNvPr>
          <p:cNvGrpSpPr/>
          <p:nvPr/>
        </p:nvGrpSpPr>
        <p:grpSpPr>
          <a:xfrm rot="1295334">
            <a:off x="12410251" y="-3695156"/>
            <a:ext cx="7330889" cy="6609232"/>
            <a:chOff x="0" y="0"/>
            <a:chExt cx="812800" cy="732787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3076F5DD-A48A-CAD8-B553-E72F6C512AAB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09B100E3-3D45-A521-D5CF-350DEDAD3636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5" name="Hexagon 24">
            <a:extLst>
              <a:ext uri="{FF2B5EF4-FFF2-40B4-BE49-F238E27FC236}">
                <a16:creationId xmlns:a16="http://schemas.microsoft.com/office/drawing/2014/main" id="{78B30C05-3C21-E2FD-5674-48B08DE3A329}"/>
              </a:ext>
            </a:extLst>
          </p:cNvPr>
          <p:cNvSpPr/>
          <p:nvPr/>
        </p:nvSpPr>
        <p:spPr>
          <a:xfrm>
            <a:off x="15173940" y="1232149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26" name="Graphic 25" descr="Laptop outline">
            <a:extLst>
              <a:ext uri="{FF2B5EF4-FFF2-40B4-BE49-F238E27FC236}">
                <a16:creationId xmlns:a16="http://schemas.microsoft.com/office/drawing/2014/main" id="{779EF797-BD98-5B7D-BEB2-E42EC67D67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AED53EED-C1EC-5712-8AEC-F7CE489A55BF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A5617D09-66D1-93EE-1E11-D50ACE43F76F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2BDC28EE-0E57-6250-2590-D376D5A8EEC6}"/>
              </a:ext>
            </a:extLst>
          </p:cNvPr>
          <p:cNvSpPr/>
          <p:nvPr/>
        </p:nvSpPr>
        <p:spPr>
          <a:xfrm>
            <a:off x="-1855813" y="7481097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3" name="Freeform 49">
            <a:extLst>
              <a:ext uri="{FF2B5EF4-FFF2-40B4-BE49-F238E27FC236}">
                <a16:creationId xmlns:a16="http://schemas.microsoft.com/office/drawing/2014/main" id="{CD7F99AD-CF27-FC6B-743E-B8053C272693}"/>
              </a:ext>
            </a:extLst>
          </p:cNvPr>
          <p:cNvSpPr/>
          <p:nvPr/>
        </p:nvSpPr>
        <p:spPr>
          <a:xfrm rot="19788342">
            <a:off x="15879363" y="8228659"/>
            <a:ext cx="2165139" cy="1704668"/>
          </a:xfrm>
          <a:custGeom>
            <a:avLst/>
            <a:gdLst>
              <a:gd name="connsiteX0" fmla="*/ 0 w 3552598"/>
              <a:gd name="connsiteY0" fmla="*/ 0 h 3552598"/>
              <a:gd name="connsiteX1" fmla="*/ 3552598 w 3552598"/>
              <a:gd name="connsiteY1" fmla="*/ 0 h 3552598"/>
              <a:gd name="connsiteX2" fmla="*/ 2891372 w 3552598"/>
              <a:gd name="connsiteY2" fmla="*/ 2751606 h 3552598"/>
              <a:gd name="connsiteX3" fmla="*/ 0 w 3552598"/>
              <a:gd name="connsiteY3" fmla="*/ 3552598 h 3552598"/>
              <a:gd name="connsiteX4" fmla="*/ 0 w 3552598"/>
              <a:gd name="connsiteY4" fmla="*/ 0 h 3552598"/>
              <a:gd name="connsiteX0" fmla="*/ 0 w 3552598"/>
              <a:gd name="connsiteY0" fmla="*/ 0 h 2751606"/>
              <a:gd name="connsiteX1" fmla="*/ 3552598 w 3552598"/>
              <a:gd name="connsiteY1" fmla="*/ 0 h 2751606"/>
              <a:gd name="connsiteX2" fmla="*/ 2891372 w 3552598"/>
              <a:gd name="connsiteY2" fmla="*/ 2751606 h 2751606"/>
              <a:gd name="connsiteX3" fmla="*/ 823383 w 3552598"/>
              <a:gd name="connsiteY3" fmla="*/ 2644253 h 2751606"/>
              <a:gd name="connsiteX4" fmla="*/ 0 w 3552598"/>
              <a:gd name="connsiteY4" fmla="*/ 0 h 2751606"/>
              <a:gd name="connsiteX0" fmla="*/ 0 w 2891372"/>
              <a:gd name="connsiteY0" fmla="*/ 0 h 2751606"/>
              <a:gd name="connsiteX1" fmla="*/ 2387609 w 2891372"/>
              <a:gd name="connsiteY1" fmla="*/ 1316584 h 2751606"/>
              <a:gd name="connsiteX2" fmla="*/ 2891372 w 2891372"/>
              <a:gd name="connsiteY2" fmla="*/ 2751606 h 2751606"/>
              <a:gd name="connsiteX3" fmla="*/ 823383 w 2891372"/>
              <a:gd name="connsiteY3" fmla="*/ 2644253 h 2751606"/>
              <a:gd name="connsiteX4" fmla="*/ 0 w 2891372"/>
              <a:gd name="connsiteY4" fmla="*/ 0 h 2751606"/>
              <a:gd name="connsiteX0" fmla="*/ 0 w 2165139"/>
              <a:gd name="connsiteY0" fmla="*/ 0 h 1704668"/>
              <a:gd name="connsiteX1" fmla="*/ 1661376 w 2165139"/>
              <a:gd name="connsiteY1" fmla="*/ 269646 h 1704668"/>
              <a:gd name="connsiteX2" fmla="*/ 2165139 w 2165139"/>
              <a:gd name="connsiteY2" fmla="*/ 1704668 h 1704668"/>
              <a:gd name="connsiteX3" fmla="*/ 97150 w 2165139"/>
              <a:gd name="connsiteY3" fmla="*/ 1597315 h 1704668"/>
              <a:gd name="connsiteX4" fmla="*/ 0 w 2165139"/>
              <a:gd name="connsiteY4" fmla="*/ 0 h 170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139" h="1704668">
                <a:moveTo>
                  <a:pt x="0" y="0"/>
                </a:moveTo>
                <a:lnTo>
                  <a:pt x="1661376" y="269646"/>
                </a:lnTo>
                <a:lnTo>
                  <a:pt x="2165139" y="1704668"/>
                </a:lnTo>
                <a:lnTo>
                  <a:pt x="97150" y="159731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6"/>
            </a:outerShdw>
          </a:effectLst>
        </p:spPr>
        <p:txBody>
          <a:bodyPr/>
          <a:lstStyle/>
          <a:p>
            <a:endParaRPr lang="fr-MA" dirty="0">
              <a:solidFill>
                <a:schemeClr val="tx2">
                  <a:lumMod val="60000"/>
                  <a:lumOff val="40000"/>
                  <a:alpha val="71000"/>
                </a:schemeClr>
              </a:solidFill>
            </a:endParaRPr>
          </a:p>
        </p:txBody>
      </p:sp>
      <p:pic>
        <p:nvPicPr>
          <p:cNvPr id="37" name="Picture 3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F73665F6-4BA3-9354-4017-4920B33AEF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44" y="591687"/>
            <a:ext cx="324015" cy="324015"/>
          </a:xfrm>
          <a:prstGeom prst="rect">
            <a:avLst/>
          </a:prstGeom>
        </p:spPr>
      </p:pic>
      <p:pic>
        <p:nvPicPr>
          <p:cNvPr id="38" name="Picture 3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9AEE2FC7-59D2-0733-DF28-D905555DF7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68" y="824724"/>
            <a:ext cx="324015" cy="324015"/>
          </a:xfrm>
          <a:prstGeom prst="rect">
            <a:avLst/>
          </a:prstGeom>
        </p:spPr>
      </p:pic>
      <p:pic>
        <p:nvPicPr>
          <p:cNvPr id="39" name="Picture 38" descr="A star with a white center&#10;&#10;AI-generated content may be incorrect.">
            <a:extLst>
              <a:ext uri="{FF2B5EF4-FFF2-40B4-BE49-F238E27FC236}">
                <a16:creationId xmlns:a16="http://schemas.microsoft.com/office/drawing/2014/main" id="{F0794AD2-A52B-6171-39B0-442EE9BB09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94" y="1170236"/>
            <a:ext cx="324015" cy="324015"/>
          </a:xfrm>
          <a:prstGeom prst="rect">
            <a:avLst/>
          </a:prstGeom>
        </p:spPr>
      </p:pic>
      <p:pic>
        <p:nvPicPr>
          <p:cNvPr id="40" name="Picture 39" descr="A star with a white center&#10;&#10;AI-generated content may be incorrect.">
            <a:extLst>
              <a:ext uri="{FF2B5EF4-FFF2-40B4-BE49-F238E27FC236}">
                <a16:creationId xmlns:a16="http://schemas.microsoft.com/office/drawing/2014/main" id="{AB4322A5-4467-8624-42F8-2E97C5A659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318" y="628423"/>
            <a:ext cx="324015" cy="324015"/>
          </a:xfrm>
          <a:prstGeom prst="rect">
            <a:avLst/>
          </a:prstGeom>
        </p:spPr>
      </p:pic>
      <p:pic>
        <p:nvPicPr>
          <p:cNvPr id="41" name="Picture 40" descr="A star with a white center&#10;&#10;AI-generated content may be incorrect.">
            <a:extLst>
              <a:ext uri="{FF2B5EF4-FFF2-40B4-BE49-F238E27FC236}">
                <a16:creationId xmlns:a16="http://schemas.microsoft.com/office/drawing/2014/main" id="{96379DF7-5A36-A842-121D-936E073888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152" y="868383"/>
            <a:ext cx="324015" cy="324015"/>
          </a:xfrm>
          <a:prstGeom prst="rect">
            <a:avLst/>
          </a:prstGeom>
        </p:spPr>
      </p:pic>
      <p:pic>
        <p:nvPicPr>
          <p:cNvPr id="42" name="Picture 41" descr="A star with a white center&#10;&#10;AI-generated content may be incorrect.">
            <a:extLst>
              <a:ext uri="{FF2B5EF4-FFF2-40B4-BE49-F238E27FC236}">
                <a16:creationId xmlns:a16="http://schemas.microsoft.com/office/drawing/2014/main" id="{05899210-7C52-4720-B8ED-B594B536C6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288" y="1186617"/>
            <a:ext cx="324015" cy="324015"/>
          </a:xfrm>
          <a:prstGeom prst="rect">
            <a:avLst/>
          </a:prstGeom>
        </p:spPr>
      </p:pic>
      <p:sp>
        <p:nvSpPr>
          <p:cNvPr id="43" name="Rectangle: Single Corner Snipped 42">
            <a:extLst>
              <a:ext uri="{FF2B5EF4-FFF2-40B4-BE49-F238E27FC236}">
                <a16:creationId xmlns:a16="http://schemas.microsoft.com/office/drawing/2014/main" id="{6AFDD5B0-2F18-53C9-6CFD-05B642BE4FEA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24EBE34C-B4CA-E0BB-627C-D4BEFC90CD2D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14</a:t>
            </a:r>
          </a:p>
        </p:txBody>
      </p:sp>
      <p:pic>
        <p:nvPicPr>
          <p:cNvPr id="3" name="Graphic 2" descr="Good Idea outline">
            <a:extLst>
              <a:ext uri="{FF2B5EF4-FFF2-40B4-BE49-F238E27FC236}">
                <a16:creationId xmlns:a16="http://schemas.microsoft.com/office/drawing/2014/main" id="{BB7EB497-818A-1B66-E10E-195EFB045A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3062" y="868955"/>
            <a:ext cx="804387" cy="647251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62A4339D-4FE9-31B9-0D86-0CC5534F5C50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2D8FE406-7779-481D-37D2-E8570DEC2082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D95153F6-52F5-577B-F7C7-BD3A38940DE4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741B336-193E-9833-44A3-894EF3D6E3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099" y="1441127"/>
            <a:ext cx="16665226" cy="87641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0157E4-115F-C7F4-CDEF-E451FF4912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0965" y="2848025"/>
            <a:ext cx="8874834" cy="463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7CFB4-7990-24CA-F819-FACB903F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E2287D60-D183-00F2-0BA6-C34A801C758E}"/>
              </a:ext>
            </a:extLst>
          </p:cNvPr>
          <p:cNvSpPr/>
          <p:nvPr/>
        </p:nvSpPr>
        <p:spPr>
          <a:xfrm>
            <a:off x="1028700" y="730007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6A593E9C-5509-30B0-DEBD-CF2463964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D85E95F6-A8FB-51DD-5B6E-4B50A671C2EB}"/>
              </a:ext>
            </a:extLst>
          </p:cNvPr>
          <p:cNvSpPr txBox="1"/>
          <p:nvPr/>
        </p:nvSpPr>
        <p:spPr>
          <a:xfrm>
            <a:off x="1392051" y="733376"/>
            <a:ext cx="11102833" cy="633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92"/>
              </a:lnSpc>
            </a:pPr>
            <a:r>
              <a:rPr lang="en-US" sz="4200" b="1" spc="596" dirty="0">
                <a:solidFill>
                  <a:srgbClr val="00B05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interface:</a:t>
            </a:r>
          </a:p>
        </p:txBody>
      </p:sp>
      <p:grpSp>
        <p:nvGrpSpPr>
          <p:cNvPr id="22" name="Group 3">
            <a:extLst>
              <a:ext uri="{FF2B5EF4-FFF2-40B4-BE49-F238E27FC236}">
                <a16:creationId xmlns:a16="http://schemas.microsoft.com/office/drawing/2014/main" id="{27F5633E-9ACD-85E4-B5F8-5438CE72BC9A}"/>
              </a:ext>
            </a:extLst>
          </p:cNvPr>
          <p:cNvGrpSpPr/>
          <p:nvPr/>
        </p:nvGrpSpPr>
        <p:grpSpPr>
          <a:xfrm rot="1295334">
            <a:off x="12410251" y="-3695156"/>
            <a:ext cx="7330889" cy="6609232"/>
            <a:chOff x="0" y="0"/>
            <a:chExt cx="812800" cy="732787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57B758B9-933C-E6E2-310B-362DAA2A4812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5A6822E7-1139-B38E-62A4-8FA97FE9AB87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5" name="Hexagon 24">
            <a:extLst>
              <a:ext uri="{FF2B5EF4-FFF2-40B4-BE49-F238E27FC236}">
                <a16:creationId xmlns:a16="http://schemas.microsoft.com/office/drawing/2014/main" id="{FCECE964-7E3E-EDD3-E117-276567A5408B}"/>
              </a:ext>
            </a:extLst>
          </p:cNvPr>
          <p:cNvSpPr/>
          <p:nvPr/>
        </p:nvSpPr>
        <p:spPr>
          <a:xfrm>
            <a:off x="15173940" y="1232149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26" name="Graphic 25" descr="Laptop outline">
            <a:extLst>
              <a:ext uri="{FF2B5EF4-FFF2-40B4-BE49-F238E27FC236}">
                <a16:creationId xmlns:a16="http://schemas.microsoft.com/office/drawing/2014/main" id="{4568B84D-2E98-CD09-CE77-A13097B114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34F912EE-50FF-DFA7-F57E-F410453DEB45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14023ECD-2216-4197-6E6E-63B2850C0196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AF617A08-D84F-5B36-D1E2-257070F27F1E}"/>
              </a:ext>
            </a:extLst>
          </p:cNvPr>
          <p:cNvSpPr/>
          <p:nvPr/>
        </p:nvSpPr>
        <p:spPr>
          <a:xfrm>
            <a:off x="-1855813" y="7481097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3" name="Freeform 49">
            <a:extLst>
              <a:ext uri="{FF2B5EF4-FFF2-40B4-BE49-F238E27FC236}">
                <a16:creationId xmlns:a16="http://schemas.microsoft.com/office/drawing/2014/main" id="{23C12891-EFB7-A410-67A6-98A32C987EE4}"/>
              </a:ext>
            </a:extLst>
          </p:cNvPr>
          <p:cNvSpPr/>
          <p:nvPr/>
        </p:nvSpPr>
        <p:spPr>
          <a:xfrm rot="19788342">
            <a:off x="15879363" y="8228659"/>
            <a:ext cx="2165139" cy="1704668"/>
          </a:xfrm>
          <a:custGeom>
            <a:avLst/>
            <a:gdLst>
              <a:gd name="connsiteX0" fmla="*/ 0 w 3552598"/>
              <a:gd name="connsiteY0" fmla="*/ 0 h 3552598"/>
              <a:gd name="connsiteX1" fmla="*/ 3552598 w 3552598"/>
              <a:gd name="connsiteY1" fmla="*/ 0 h 3552598"/>
              <a:gd name="connsiteX2" fmla="*/ 2891372 w 3552598"/>
              <a:gd name="connsiteY2" fmla="*/ 2751606 h 3552598"/>
              <a:gd name="connsiteX3" fmla="*/ 0 w 3552598"/>
              <a:gd name="connsiteY3" fmla="*/ 3552598 h 3552598"/>
              <a:gd name="connsiteX4" fmla="*/ 0 w 3552598"/>
              <a:gd name="connsiteY4" fmla="*/ 0 h 3552598"/>
              <a:gd name="connsiteX0" fmla="*/ 0 w 3552598"/>
              <a:gd name="connsiteY0" fmla="*/ 0 h 2751606"/>
              <a:gd name="connsiteX1" fmla="*/ 3552598 w 3552598"/>
              <a:gd name="connsiteY1" fmla="*/ 0 h 2751606"/>
              <a:gd name="connsiteX2" fmla="*/ 2891372 w 3552598"/>
              <a:gd name="connsiteY2" fmla="*/ 2751606 h 2751606"/>
              <a:gd name="connsiteX3" fmla="*/ 823383 w 3552598"/>
              <a:gd name="connsiteY3" fmla="*/ 2644253 h 2751606"/>
              <a:gd name="connsiteX4" fmla="*/ 0 w 3552598"/>
              <a:gd name="connsiteY4" fmla="*/ 0 h 2751606"/>
              <a:gd name="connsiteX0" fmla="*/ 0 w 2891372"/>
              <a:gd name="connsiteY0" fmla="*/ 0 h 2751606"/>
              <a:gd name="connsiteX1" fmla="*/ 2387609 w 2891372"/>
              <a:gd name="connsiteY1" fmla="*/ 1316584 h 2751606"/>
              <a:gd name="connsiteX2" fmla="*/ 2891372 w 2891372"/>
              <a:gd name="connsiteY2" fmla="*/ 2751606 h 2751606"/>
              <a:gd name="connsiteX3" fmla="*/ 823383 w 2891372"/>
              <a:gd name="connsiteY3" fmla="*/ 2644253 h 2751606"/>
              <a:gd name="connsiteX4" fmla="*/ 0 w 2891372"/>
              <a:gd name="connsiteY4" fmla="*/ 0 h 2751606"/>
              <a:gd name="connsiteX0" fmla="*/ 0 w 2165139"/>
              <a:gd name="connsiteY0" fmla="*/ 0 h 1704668"/>
              <a:gd name="connsiteX1" fmla="*/ 1661376 w 2165139"/>
              <a:gd name="connsiteY1" fmla="*/ 269646 h 1704668"/>
              <a:gd name="connsiteX2" fmla="*/ 2165139 w 2165139"/>
              <a:gd name="connsiteY2" fmla="*/ 1704668 h 1704668"/>
              <a:gd name="connsiteX3" fmla="*/ 97150 w 2165139"/>
              <a:gd name="connsiteY3" fmla="*/ 1597315 h 1704668"/>
              <a:gd name="connsiteX4" fmla="*/ 0 w 2165139"/>
              <a:gd name="connsiteY4" fmla="*/ 0 h 170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139" h="1704668">
                <a:moveTo>
                  <a:pt x="0" y="0"/>
                </a:moveTo>
                <a:lnTo>
                  <a:pt x="1661376" y="269646"/>
                </a:lnTo>
                <a:lnTo>
                  <a:pt x="2165139" y="1704668"/>
                </a:lnTo>
                <a:lnTo>
                  <a:pt x="97150" y="159731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6"/>
            </a:outerShdw>
          </a:effectLst>
        </p:spPr>
        <p:txBody>
          <a:bodyPr/>
          <a:lstStyle/>
          <a:p>
            <a:endParaRPr lang="fr-MA" dirty="0">
              <a:solidFill>
                <a:schemeClr val="tx2">
                  <a:lumMod val="60000"/>
                  <a:lumOff val="40000"/>
                  <a:alpha val="71000"/>
                </a:schemeClr>
              </a:solidFill>
            </a:endParaRPr>
          </a:p>
        </p:txBody>
      </p:sp>
      <p:pic>
        <p:nvPicPr>
          <p:cNvPr id="37" name="Picture 3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DC5E51FE-3878-9CFA-AC18-19207FC4F5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44" y="591687"/>
            <a:ext cx="324015" cy="324015"/>
          </a:xfrm>
          <a:prstGeom prst="rect">
            <a:avLst/>
          </a:prstGeom>
        </p:spPr>
      </p:pic>
      <p:pic>
        <p:nvPicPr>
          <p:cNvPr id="38" name="Picture 3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0792C3E1-CD29-6098-E109-E78EEB441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68" y="824724"/>
            <a:ext cx="324015" cy="324015"/>
          </a:xfrm>
          <a:prstGeom prst="rect">
            <a:avLst/>
          </a:prstGeom>
        </p:spPr>
      </p:pic>
      <p:pic>
        <p:nvPicPr>
          <p:cNvPr id="39" name="Picture 38" descr="A star with a white center&#10;&#10;AI-generated content may be incorrect.">
            <a:extLst>
              <a:ext uri="{FF2B5EF4-FFF2-40B4-BE49-F238E27FC236}">
                <a16:creationId xmlns:a16="http://schemas.microsoft.com/office/drawing/2014/main" id="{0E3486BE-BA30-7B79-7425-501158F9C4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94" y="1170236"/>
            <a:ext cx="324015" cy="324015"/>
          </a:xfrm>
          <a:prstGeom prst="rect">
            <a:avLst/>
          </a:prstGeom>
        </p:spPr>
      </p:pic>
      <p:pic>
        <p:nvPicPr>
          <p:cNvPr id="40" name="Picture 39" descr="A star with a white center&#10;&#10;AI-generated content may be incorrect.">
            <a:extLst>
              <a:ext uri="{FF2B5EF4-FFF2-40B4-BE49-F238E27FC236}">
                <a16:creationId xmlns:a16="http://schemas.microsoft.com/office/drawing/2014/main" id="{D08273FE-C09D-60D3-F650-1F5BB265D9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318" y="628423"/>
            <a:ext cx="324015" cy="324015"/>
          </a:xfrm>
          <a:prstGeom prst="rect">
            <a:avLst/>
          </a:prstGeom>
        </p:spPr>
      </p:pic>
      <p:pic>
        <p:nvPicPr>
          <p:cNvPr id="41" name="Picture 40" descr="A star with a white center&#10;&#10;AI-generated content may be incorrect.">
            <a:extLst>
              <a:ext uri="{FF2B5EF4-FFF2-40B4-BE49-F238E27FC236}">
                <a16:creationId xmlns:a16="http://schemas.microsoft.com/office/drawing/2014/main" id="{4720425C-69CD-4752-52E5-F0E8D0DA9A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152" y="868383"/>
            <a:ext cx="324015" cy="324015"/>
          </a:xfrm>
          <a:prstGeom prst="rect">
            <a:avLst/>
          </a:prstGeom>
        </p:spPr>
      </p:pic>
      <p:pic>
        <p:nvPicPr>
          <p:cNvPr id="42" name="Picture 41" descr="A star with a white center&#10;&#10;AI-generated content may be incorrect.">
            <a:extLst>
              <a:ext uri="{FF2B5EF4-FFF2-40B4-BE49-F238E27FC236}">
                <a16:creationId xmlns:a16="http://schemas.microsoft.com/office/drawing/2014/main" id="{A4B0378F-B4A5-7AB0-2AE9-041DAB762C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288" y="1186617"/>
            <a:ext cx="324015" cy="324015"/>
          </a:xfrm>
          <a:prstGeom prst="rect">
            <a:avLst/>
          </a:prstGeom>
        </p:spPr>
      </p:pic>
      <p:sp>
        <p:nvSpPr>
          <p:cNvPr id="43" name="Rectangle: Single Corner Snipped 42">
            <a:extLst>
              <a:ext uri="{FF2B5EF4-FFF2-40B4-BE49-F238E27FC236}">
                <a16:creationId xmlns:a16="http://schemas.microsoft.com/office/drawing/2014/main" id="{C4CD7DE2-F18E-5EAB-92EA-FD64EE34A30E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B8C78003-A1F2-17EC-4F53-6C3A42D01AAF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15</a:t>
            </a:r>
          </a:p>
        </p:txBody>
      </p:sp>
      <p:pic>
        <p:nvPicPr>
          <p:cNvPr id="3" name="Graphic 2" descr="Good Idea outline">
            <a:extLst>
              <a:ext uri="{FF2B5EF4-FFF2-40B4-BE49-F238E27FC236}">
                <a16:creationId xmlns:a16="http://schemas.microsoft.com/office/drawing/2014/main" id="{53F11537-158B-578C-ADFD-DC7B8020B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3062" y="868955"/>
            <a:ext cx="804387" cy="647251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85FF41ED-AB7D-7BDC-F33C-78B42C81A47D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567E0553-F371-34C0-CCB4-A4CA8278F8CD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3457A004-AC67-40BE-004A-C75BC3581046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5A992B8-2159-B7E1-7CDB-C1FA539CD6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099" y="1441127"/>
            <a:ext cx="16665226" cy="87641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F44743-EF3D-AFA2-00A8-F65AF9C2B5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0965" y="2848025"/>
            <a:ext cx="8874834" cy="463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53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5D84C-89A3-4E49-D7F8-A9981CB76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2DFC7548-47DF-9050-750E-EA7CA6519325}"/>
              </a:ext>
            </a:extLst>
          </p:cNvPr>
          <p:cNvSpPr/>
          <p:nvPr/>
        </p:nvSpPr>
        <p:spPr>
          <a:xfrm>
            <a:off x="1028700" y="730007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E1952CB9-9CC3-2F2E-D81E-A43CE7443A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0E881908-91C8-63C4-538E-0F9788CD0FB7}"/>
              </a:ext>
            </a:extLst>
          </p:cNvPr>
          <p:cNvSpPr txBox="1"/>
          <p:nvPr/>
        </p:nvSpPr>
        <p:spPr>
          <a:xfrm>
            <a:off x="1392051" y="733376"/>
            <a:ext cx="11102833" cy="633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92"/>
              </a:lnSpc>
            </a:pPr>
            <a:r>
              <a:rPr lang="en-US" sz="4200" b="1" spc="596" dirty="0">
                <a:solidFill>
                  <a:srgbClr val="00B05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interface:</a:t>
            </a:r>
          </a:p>
        </p:txBody>
      </p:sp>
      <p:grpSp>
        <p:nvGrpSpPr>
          <p:cNvPr id="22" name="Group 3">
            <a:extLst>
              <a:ext uri="{FF2B5EF4-FFF2-40B4-BE49-F238E27FC236}">
                <a16:creationId xmlns:a16="http://schemas.microsoft.com/office/drawing/2014/main" id="{1B8EB4A7-2092-CE92-15FF-CC06B255B72F}"/>
              </a:ext>
            </a:extLst>
          </p:cNvPr>
          <p:cNvGrpSpPr/>
          <p:nvPr/>
        </p:nvGrpSpPr>
        <p:grpSpPr>
          <a:xfrm rot="1295334">
            <a:off x="12410251" y="-3695156"/>
            <a:ext cx="7330889" cy="6609232"/>
            <a:chOff x="0" y="0"/>
            <a:chExt cx="812800" cy="732787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35A98BAA-2FC5-DCA2-E871-6459F78D8AAD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974BA85F-F440-1733-3FB9-8E3E587EE661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5" name="Hexagon 24">
            <a:extLst>
              <a:ext uri="{FF2B5EF4-FFF2-40B4-BE49-F238E27FC236}">
                <a16:creationId xmlns:a16="http://schemas.microsoft.com/office/drawing/2014/main" id="{12E5465B-2E05-F4B7-9058-BBA4B9753D76}"/>
              </a:ext>
            </a:extLst>
          </p:cNvPr>
          <p:cNvSpPr/>
          <p:nvPr/>
        </p:nvSpPr>
        <p:spPr>
          <a:xfrm>
            <a:off x="15173940" y="1232149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26" name="Graphic 25" descr="Laptop outline">
            <a:extLst>
              <a:ext uri="{FF2B5EF4-FFF2-40B4-BE49-F238E27FC236}">
                <a16:creationId xmlns:a16="http://schemas.microsoft.com/office/drawing/2014/main" id="{CC24878C-A024-D4C3-CE44-2B2830002E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1C80FF3C-3243-55B8-D760-BB888B6828A6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E0484A21-8D19-96C0-71DC-72426F35289F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6F2104EE-C169-4651-BBC9-C00F6A45FE6A}"/>
              </a:ext>
            </a:extLst>
          </p:cNvPr>
          <p:cNvSpPr/>
          <p:nvPr/>
        </p:nvSpPr>
        <p:spPr>
          <a:xfrm>
            <a:off x="-1855813" y="7481097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3" name="Freeform 49">
            <a:extLst>
              <a:ext uri="{FF2B5EF4-FFF2-40B4-BE49-F238E27FC236}">
                <a16:creationId xmlns:a16="http://schemas.microsoft.com/office/drawing/2014/main" id="{79C71C76-46AA-56F6-D809-1D1E8C6DD341}"/>
              </a:ext>
            </a:extLst>
          </p:cNvPr>
          <p:cNvSpPr/>
          <p:nvPr/>
        </p:nvSpPr>
        <p:spPr>
          <a:xfrm rot="19788342">
            <a:off x="15879363" y="8228659"/>
            <a:ext cx="2165139" cy="1704668"/>
          </a:xfrm>
          <a:custGeom>
            <a:avLst/>
            <a:gdLst>
              <a:gd name="connsiteX0" fmla="*/ 0 w 3552598"/>
              <a:gd name="connsiteY0" fmla="*/ 0 h 3552598"/>
              <a:gd name="connsiteX1" fmla="*/ 3552598 w 3552598"/>
              <a:gd name="connsiteY1" fmla="*/ 0 h 3552598"/>
              <a:gd name="connsiteX2" fmla="*/ 2891372 w 3552598"/>
              <a:gd name="connsiteY2" fmla="*/ 2751606 h 3552598"/>
              <a:gd name="connsiteX3" fmla="*/ 0 w 3552598"/>
              <a:gd name="connsiteY3" fmla="*/ 3552598 h 3552598"/>
              <a:gd name="connsiteX4" fmla="*/ 0 w 3552598"/>
              <a:gd name="connsiteY4" fmla="*/ 0 h 3552598"/>
              <a:gd name="connsiteX0" fmla="*/ 0 w 3552598"/>
              <a:gd name="connsiteY0" fmla="*/ 0 h 2751606"/>
              <a:gd name="connsiteX1" fmla="*/ 3552598 w 3552598"/>
              <a:gd name="connsiteY1" fmla="*/ 0 h 2751606"/>
              <a:gd name="connsiteX2" fmla="*/ 2891372 w 3552598"/>
              <a:gd name="connsiteY2" fmla="*/ 2751606 h 2751606"/>
              <a:gd name="connsiteX3" fmla="*/ 823383 w 3552598"/>
              <a:gd name="connsiteY3" fmla="*/ 2644253 h 2751606"/>
              <a:gd name="connsiteX4" fmla="*/ 0 w 3552598"/>
              <a:gd name="connsiteY4" fmla="*/ 0 h 2751606"/>
              <a:gd name="connsiteX0" fmla="*/ 0 w 2891372"/>
              <a:gd name="connsiteY0" fmla="*/ 0 h 2751606"/>
              <a:gd name="connsiteX1" fmla="*/ 2387609 w 2891372"/>
              <a:gd name="connsiteY1" fmla="*/ 1316584 h 2751606"/>
              <a:gd name="connsiteX2" fmla="*/ 2891372 w 2891372"/>
              <a:gd name="connsiteY2" fmla="*/ 2751606 h 2751606"/>
              <a:gd name="connsiteX3" fmla="*/ 823383 w 2891372"/>
              <a:gd name="connsiteY3" fmla="*/ 2644253 h 2751606"/>
              <a:gd name="connsiteX4" fmla="*/ 0 w 2891372"/>
              <a:gd name="connsiteY4" fmla="*/ 0 h 2751606"/>
              <a:gd name="connsiteX0" fmla="*/ 0 w 2165139"/>
              <a:gd name="connsiteY0" fmla="*/ 0 h 1704668"/>
              <a:gd name="connsiteX1" fmla="*/ 1661376 w 2165139"/>
              <a:gd name="connsiteY1" fmla="*/ 269646 h 1704668"/>
              <a:gd name="connsiteX2" fmla="*/ 2165139 w 2165139"/>
              <a:gd name="connsiteY2" fmla="*/ 1704668 h 1704668"/>
              <a:gd name="connsiteX3" fmla="*/ 97150 w 2165139"/>
              <a:gd name="connsiteY3" fmla="*/ 1597315 h 1704668"/>
              <a:gd name="connsiteX4" fmla="*/ 0 w 2165139"/>
              <a:gd name="connsiteY4" fmla="*/ 0 h 170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139" h="1704668">
                <a:moveTo>
                  <a:pt x="0" y="0"/>
                </a:moveTo>
                <a:lnTo>
                  <a:pt x="1661376" y="269646"/>
                </a:lnTo>
                <a:lnTo>
                  <a:pt x="2165139" y="1704668"/>
                </a:lnTo>
                <a:lnTo>
                  <a:pt x="97150" y="159731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6"/>
            </a:outerShdw>
          </a:effectLst>
        </p:spPr>
        <p:txBody>
          <a:bodyPr/>
          <a:lstStyle/>
          <a:p>
            <a:endParaRPr lang="fr-MA" dirty="0">
              <a:solidFill>
                <a:schemeClr val="tx2">
                  <a:lumMod val="60000"/>
                  <a:lumOff val="40000"/>
                  <a:alpha val="71000"/>
                </a:schemeClr>
              </a:solidFill>
            </a:endParaRPr>
          </a:p>
        </p:txBody>
      </p:sp>
      <p:pic>
        <p:nvPicPr>
          <p:cNvPr id="37" name="Picture 3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35713EA5-6F48-1F77-047E-24823DED38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44" y="591687"/>
            <a:ext cx="324015" cy="324015"/>
          </a:xfrm>
          <a:prstGeom prst="rect">
            <a:avLst/>
          </a:prstGeom>
        </p:spPr>
      </p:pic>
      <p:pic>
        <p:nvPicPr>
          <p:cNvPr id="38" name="Picture 3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BF320516-6E11-5AD6-91B4-498645A781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68" y="824724"/>
            <a:ext cx="324015" cy="324015"/>
          </a:xfrm>
          <a:prstGeom prst="rect">
            <a:avLst/>
          </a:prstGeom>
        </p:spPr>
      </p:pic>
      <p:pic>
        <p:nvPicPr>
          <p:cNvPr id="39" name="Picture 38" descr="A star with a white center&#10;&#10;AI-generated content may be incorrect.">
            <a:extLst>
              <a:ext uri="{FF2B5EF4-FFF2-40B4-BE49-F238E27FC236}">
                <a16:creationId xmlns:a16="http://schemas.microsoft.com/office/drawing/2014/main" id="{A71A2F44-C545-D94F-D906-E810413880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94" y="1170236"/>
            <a:ext cx="324015" cy="324015"/>
          </a:xfrm>
          <a:prstGeom prst="rect">
            <a:avLst/>
          </a:prstGeom>
        </p:spPr>
      </p:pic>
      <p:pic>
        <p:nvPicPr>
          <p:cNvPr id="40" name="Picture 39" descr="A star with a white center&#10;&#10;AI-generated content may be incorrect.">
            <a:extLst>
              <a:ext uri="{FF2B5EF4-FFF2-40B4-BE49-F238E27FC236}">
                <a16:creationId xmlns:a16="http://schemas.microsoft.com/office/drawing/2014/main" id="{17B4754B-9A12-8782-4194-EF838B9E8D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318" y="628423"/>
            <a:ext cx="324015" cy="324015"/>
          </a:xfrm>
          <a:prstGeom prst="rect">
            <a:avLst/>
          </a:prstGeom>
        </p:spPr>
      </p:pic>
      <p:pic>
        <p:nvPicPr>
          <p:cNvPr id="41" name="Picture 40" descr="A star with a white center&#10;&#10;AI-generated content may be incorrect.">
            <a:extLst>
              <a:ext uri="{FF2B5EF4-FFF2-40B4-BE49-F238E27FC236}">
                <a16:creationId xmlns:a16="http://schemas.microsoft.com/office/drawing/2014/main" id="{2E676E9C-B92F-12E4-DC62-581B4C4DF6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152" y="868383"/>
            <a:ext cx="324015" cy="324015"/>
          </a:xfrm>
          <a:prstGeom prst="rect">
            <a:avLst/>
          </a:prstGeom>
        </p:spPr>
      </p:pic>
      <p:pic>
        <p:nvPicPr>
          <p:cNvPr id="42" name="Picture 41" descr="A star with a white center&#10;&#10;AI-generated content may be incorrect.">
            <a:extLst>
              <a:ext uri="{FF2B5EF4-FFF2-40B4-BE49-F238E27FC236}">
                <a16:creationId xmlns:a16="http://schemas.microsoft.com/office/drawing/2014/main" id="{787A50A0-E9F9-490D-69B1-47DF660365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288" y="1186617"/>
            <a:ext cx="324015" cy="324015"/>
          </a:xfrm>
          <a:prstGeom prst="rect">
            <a:avLst/>
          </a:prstGeom>
        </p:spPr>
      </p:pic>
      <p:sp>
        <p:nvSpPr>
          <p:cNvPr id="43" name="Rectangle: Single Corner Snipped 42">
            <a:extLst>
              <a:ext uri="{FF2B5EF4-FFF2-40B4-BE49-F238E27FC236}">
                <a16:creationId xmlns:a16="http://schemas.microsoft.com/office/drawing/2014/main" id="{19B9BBA0-F904-82E7-FE22-BBBC384C9D6A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8D5D0381-C9B5-49AD-3D8C-EF7143DFF0AC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16</a:t>
            </a:r>
          </a:p>
        </p:txBody>
      </p:sp>
      <p:pic>
        <p:nvPicPr>
          <p:cNvPr id="3" name="Graphic 2" descr="Good Idea outline">
            <a:extLst>
              <a:ext uri="{FF2B5EF4-FFF2-40B4-BE49-F238E27FC236}">
                <a16:creationId xmlns:a16="http://schemas.microsoft.com/office/drawing/2014/main" id="{4627B99F-30E7-6CF0-4E45-1D7D2CD8E2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3062" y="868955"/>
            <a:ext cx="804387" cy="647251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B4A6492C-9569-4B5E-860E-3E20049A6946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75C1943D-3922-FC98-6E20-F22134D95783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29C36E6C-CB4F-8573-3BD6-6FA7DCABE85D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461B4CB-0975-11E4-AAB0-F5EC330901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099" y="1441127"/>
            <a:ext cx="16665226" cy="87641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E0A8BF-A593-7434-3A51-59B16642D2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0245" y="2897324"/>
            <a:ext cx="8874834" cy="449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7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A2EF-6FBB-90EA-3A9A-313AA725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D0E79F44-EC2D-CBFB-8DAB-955CE10A9AC0}"/>
              </a:ext>
            </a:extLst>
          </p:cNvPr>
          <p:cNvSpPr/>
          <p:nvPr/>
        </p:nvSpPr>
        <p:spPr>
          <a:xfrm>
            <a:off x="1028700" y="730007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12882976-BE88-F662-7102-40128B1805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E6B61965-C00A-E32A-9728-EE9A80DE2881}"/>
              </a:ext>
            </a:extLst>
          </p:cNvPr>
          <p:cNvSpPr txBox="1"/>
          <p:nvPr/>
        </p:nvSpPr>
        <p:spPr>
          <a:xfrm>
            <a:off x="1392051" y="733376"/>
            <a:ext cx="11102833" cy="633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92"/>
              </a:lnSpc>
            </a:pPr>
            <a:r>
              <a:rPr lang="en-US" sz="4200" b="1" spc="596" dirty="0">
                <a:solidFill>
                  <a:srgbClr val="00B05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interface:</a:t>
            </a:r>
          </a:p>
        </p:txBody>
      </p:sp>
      <p:grpSp>
        <p:nvGrpSpPr>
          <p:cNvPr id="22" name="Group 3">
            <a:extLst>
              <a:ext uri="{FF2B5EF4-FFF2-40B4-BE49-F238E27FC236}">
                <a16:creationId xmlns:a16="http://schemas.microsoft.com/office/drawing/2014/main" id="{40F89D95-D643-B692-5070-ECA2BC289232}"/>
              </a:ext>
            </a:extLst>
          </p:cNvPr>
          <p:cNvGrpSpPr/>
          <p:nvPr/>
        </p:nvGrpSpPr>
        <p:grpSpPr>
          <a:xfrm rot="1295334">
            <a:off x="12410251" y="-3695156"/>
            <a:ext cx="7330889" cy="6609232"/>
            <a:chOff x="0" y="0"/>
            <a:chExt cx="812800" cy="732787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35BEA8DE-342F-1879-85F3-6CDABF79AB6A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3E3005F5-1EED-6595-920D-A52DE2215E85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5" name="Hexagon 24">
            <a:extLst>
              <a:ext uri="{FF2B5EF4-FFF2-40B4-BE49-F238E27FC236}">
                <a16:creationId xmlns:a16="http://schemas.microsoft.com/office/drawing/2014/main" id="{C42D1813-9E4A-53E3-F68F-F56071E3427B}"/>
              </a:ext>
            </a:extLst>
          </p:cNvPr>
          <p:cNvSpPr/>
          <p:nvPr/>
        </p:nvSpPr>
        <p:spPr>
          <a:xfrm>
            <a:off x="15173940" y="1232149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26" name="Graphic 25" descr="Laptop outline">
            <a:extLst>
              <a:ext uri="{FF2B5EF4-FFF2-40B4-BE49-F238E27FC236}">
                <a16:creationId xmlns:a16="http://schemas.microsoft.com/office/drawing/2014/main" id="{997169CA-2C7A-5E09-691D-E801BF3BE1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37F95F96-86E3-6D24-B3DF-F84B7FEBC9E1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089F5965-BBA5-7469-2247-7E4EE6F9DD86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3D80967A-B0B3-6780-C272-B3BCCF111B85}"/>
              </a:ext>
            </a:extLst>
          </p:cNvPr>
          <p:cNvSpPr/>
          <p:nvPr/>
        </p:nvSpPr>
        <p:spPr>
          <a:xfrm>
            <a:off x="-1855813" y="7481097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3" name="Freeform 49">
            <a:extLst>
              <a:ext uri="{FF2B5EF4-FFF2-40B4-BE49-F238E27FC236}">
                <a16:creationId xmlns:a16="http://schemas.microsoft.com/office/drawing/2014/main" id="{880DCECD-D3DC-B62C-0010-08E5D2E8F365}"/>
              </a:ext>
            </a:extLst>
          </p:cNvPr>
          <p:cNvSpPr/>
          <p:nvPr/>
        </p:nvSpPr>
        <p:spPr>
          <a:xfrm rot="19788342">
            <a:off x="15879363" y="8228659"/>
            <a:ext cx="2165139" cy="1704668"/>
          </a:xfrm>
          <a:custGeom>
            <a:avLst/>
            <a:gdLst>
              <a:gd name="connsiteX0" fmla="*/ 0 w 3552598"/>
              <a:gd name="connsiteY0" fmla="*/ 0 h 3552598"/>
              <a:gd name="connsiteX1" fmla="*/ 3552598 w 3552598"/>
              <a:gd name="connsiteY1" fmla="*/ 0 h 3552598"/>
              <a:gd name="connsiteX2" fmla="*/ 2891372 w 3552598"/>
              <a:gd name="connsiteY2" fmla="*/ 2751606 h 3552598"/>
              <a:gd name="connsiteX3" fmla="*/ 0 w 3552598"/>
              <a:gd name="connsiteY3" fmla="*/ 3552598 h 3552598"/>
              <a:gd name="connsiteX4" fmla="*/ 0 w 3552598"/>
              <a:gd name="connsiteY4" fmla="*/ 0 h 3552598"/>
              <a:gd name="connsiteX0" fmla="*/ 0 w 3552598"/>
              <a:gd name="connsiteY0" fmla="*/ 0 h 2751606"/>
              <a:gd name="connsiteX1" fmla="*/ 3552598 w 3552598"/>
              <a:gd name="connsiteY1" fmla="*/ 0 h 2751606"/>
              <a:gd name="connsiteX2" fmla="*/ 2891372 w 3552598"/>
              <a:gd name="connsiteY2" fmla="*/ 2751606 h 2751606"/>
              <a:gd name="connsiteX3" fmla="*/ 823383 w 3552598"/>
              <a:gd name="connsiteY3" fmla="*/ 2644253 h 2751606"/>
              <a:gd name="connsiteX4" fmla="*/ 0 w 3552598"/>
              <a:gd name="connsiteY4" fmla="*/ 0 h 2751606"/>
              <a:gd name="connsiteX0" fmla="*/ 0 w 2891372"/>
              <a:gd name="connsiteY0" fmla="*/ 0 h 2751606"/>
              <a:gd name="connsiteX1" fmla="*/ 2387609 w 2891372"/>
              <a:gd name="connsiteY1" fmla="*/ 1316584 h 2751606"/>
              <a:gd name="connsiteX2" fmla="*/ 2891372 w 2891372"/>
              <a:gd name="connsiteY2" fmla="*/ 2751606 h 2751606"/>
              <a:gd name="connsiteX3" fmla="*/ 823383 w 2891372"/>
              <a:gd name="connsiteY3" fmla="*/ 2644253 h 2751606"/>
              <a:gd name="connsiteX4" fmla="*/ 0 w 2891372"/>
              <a:gd name="connsiteY4" fmla="*/ 0 h 2751606"/>
              <a:gd name="connsiteX0" fmla="*/ 0 w 2165139"/>
              <a:gd name="connsiteY0" fmla="*/ 0 h 1704668"/>
              <a:gd name="connsiteX1" fmla="*/ 1661376 w 2165139"/>
              <a:gd name="connsiteY1" fmla="*/ 269646 h 1704668"/>
              <a:gd name="connsiteX2" fmla="*/ 2165139 w 2165139"/>
              <a:gd name="connsiteY2" fmla="*/ 1704668 h 1704668"/>
              <a:gd name="connsiteX3" fmla="*/ 97150 w 2165139"/>
              <a:gd name="connsiteY3" fmla="*/ 1597315 h 1704668"/>
              <a:gd name="connsiteX4" fmla="*/ 0 w 2165139"/>
              <a:gd name="connsiteY4" fmla="*/ 0 h 170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139" h="1704668">
                <a:moveTo>
                  <a:pt x="0" y="0"/>
                </a:moveTo>
                <a:lnTo>
                  <a:pt x="1661376" y="269646"/>
                </a:lnTo>
                <a:lnTo>
                  <a:pt x="2165139" y="1704668"/>
                </a:lnTo>
                <a:lnTo>
                  <a:pt x="97150" y="159731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6"/>
            </a:outerShdw>
          </a:effectLst>
        </p:spPr>
        <p:txBody>
          <a:bodyPr/>
          <a:lstStyle/>
          <a:p>
            <a:endParaRPr lang="fr-MA" dirty="0">
              <a:solidFill>
                <a:schemeClr val="tx2">
                  <a:lumMod val="60000"/>
                  <a:lumOff val="40000"/>
                  <a:alpha val="71000"/>
                </a:schemeClr>
              </a:solidFill>
            </a:endParaRPr>
          </a:p>
        </p:txBody>
      </p:sp>
      <p:pic>
        <p:nvPicPr>
          <p:cNvPr id="37" name="Picture 3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ABB863CF-790D-A9C5-3112-5A144BA3D7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44" y="591687"/>
            <a:ext cx="324015" cy="324015"/>
          </a:xfrm>
          <a:prstGeom prst="rect">
            <a:avLst/>
          </a:prstGeom>
        </p:spPr>
      </p:pic>
      <p:pic>
        <p:nvPicPr>
          <p:cNvPr id="38" name="Picture 3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EE32C377-74D1-1171-8632-D33F501DCA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68" y="824724"/>
            <a:ext cx="324015" cy="324015"/>
          </a:xfrm>
          <a:prstGeom prst="rect">
            <a:avLst/>
          </a:prstGeom>
        </p:spPr>
      </p:pic>
      <p:pic>
        <p:nvPicPr>
          <p:cNvPr id="39" name="Picture 38" descr="A star with a white center&#10;&#10;AI-generated content may be incorrect.">
            <a:extLst>
              <a:ext uri="{FF2B5EF4-FFF2-40B4-BE49-F238E27FC236}">
                <a16:creationId xmlns:a16="http://schemas.microsoft.com/office/drawing/2014/main" id="{7CD444C6-C41F-BE78-06C8-AB73FCECC5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94" y="1170236"/>
            <a:ext cx="324015" cy="324015"/>
          </a:xfrm>
          <a:prstGeom prst="rect">
            <a:avLst/>
          </a:prstGeom>
        </p:spPr>
      </p:pic>
      <p:pic>
        <p:nvPicPr>
          <p:cNvPr id="40" name="Picture 39" descr="A star with a white center&#10;&#10;AI-generated content may be incorrect.">
            <a:extLst>
              <a:ext uri="{FF2B5EF4-FFF2-40B4-BE49-F238E27FC236}">
                <a16:creationId xmlns:a16="http://schemas.microsoft.com/office/drawing/2014/main" id="{089A0F1C-438D-EE2F-E1EE-D89639BD75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318" y="628423"/>
            <a:ext cx="324015" cy="324015"/>
          </a:xfrm>
          <a:prstGeom prst="rect">
            <a:avLst/>
          </a:prstGeom>
        </p:spPr>
      </p:pic>
      <p:pic>
        <p:nvPicPr>
          <p:cNvPr id="41" name="Picture 40" descr="A star with a white center&#10;&#10;AI-generated content may be incorrect.">
            <a:extLst>
              <a:ext uri="{FF2B5EF4-FFF2-40B4-BE49-F238E27FC236}">
                <a16:creationId xmlns:a16="http://schemas.microsoft.com/office/drawing/2014/main" id="{B7D0DE36-A543-04F2-88D3-72A97DC133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152" y="868383"/>
            <a:ext cx="324015" cy="324015"/>
          </a:xfrm>
          <a:prstGeom prst="rect">
            <a:avLst/>
          </a:prstGeom>
        </p:spPr>
      </p:pic>
      <p:pic>
        <p:nvPicPr>
          <p:cNvPr id="42" name="Picture 41" descr="A star with a white center&#10;&#10;AI-generated content may be incorrect.">
            <a:extLst>
              <a:ext uri="{FF2B5EF4-FFF2-40B4-BE49-F238E27FC236}">
                <a16:creationId xmlns:a16="http://schemas.microsoft.com/office/drawing/2014/main" id="{2BAD6239-6C5C-93FE-2B2A-791F901589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288" y="1186617"/>
            <a:ext cx="324015" cy="324015"/>
          </a:xfrm>
          <a:prstGeom prst="rect">
            <a:avLst/>
          </a:prstGeom>
        </p:spPr>
      </p:pic>
      <p:sp>
        <p:nvSpPr>
          <p:cNvPr id="43" name="Rectangle: Single Corner Snipped 42">
            <a:extLst>
              <a:ext uri="{FF2B5EF4-FFF2-40B4-BE49-F238E27FC236}">
                <a16:creationId xmlns:a16="http://schemas.microsoft.com/office/drawing/2014/main" id="{ADED9434-8889-0515-2C9B-184D50484515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88E9BFE0-2BC9-B753-D6AF-618C60AEC67D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17</a:t>
            </a:r>
          </a:p>
        </p:txBody>
      </p:sp>
      <p:pic>
        <p:nvPicPr>
          <p:cNvPr id="3" name="Graphic 2" descr="Good Idea outline">
            <a:extLst>
              <a:ext uri="{FF2B5EF4-FFF2-40B4-BE49-F238E27FC236}">
                <a16:creationId xmlns:a16="http://schemas.microsoft.com/office/drawing/2014/main" id="{B4B6D8DA-A33B-0A84-7FB5-03B6F5A5C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3062" y="868955"/>
            <a:ext cx="804387" cy="647251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706BFB7A-891B-E2C2-9AED-D28F35A0E9B2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72C80DA6-0093-9241-7129-D9D0CBB4AACE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EED62455-9346-1AD0-58E4-12698AEF5146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E43EECF-463D-1588-5335-A5F919484E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099" y="1441127"/>
            <a:ext cx="16665226" cy="87641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E22045-13DB-50F2-5AB5-C0B09648FB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0245" y="2929006"/>
            <a:ext cx="8874834" cy="441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3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9E861-F8D4-48B9-7986-727BF13F1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>
            <a:extLst>
              <a:ext uri="{FF2B5EF4-FFF2-40B4-BE49-F238E27FC236}">
                <a16:creationId xmlns:a16="http://schemas.microsoft.com/office/drawing/2014/main" id="{EF898071-905F-9D09-2062-A4729AB1D521}"/>
              </a:ext>
            </a:extLst>
          </p:cNvPr>
          <p:cNvSpPr/>
          <p:nvPr/>
        </p:nvSpPr>
        <p:spPr>
          <a:xfrm>
            <a:off x="1028700" y="730007"/>
            <a:ext cx="297607" cy="298693"/>
          </a:xfrm>
          <a:custGeom>
            <a:avLst/>
            <a:gdLst/>
            <a:ahLst/>
            <a:cxnLst/>
            <a:rect l="l" t="t" r="r" b="b"/>
            <a:pathLst>
              <a:path w="297607" h="298693">
                <a:moveTo>
                  <a:pt x="0" y="0"/>
                </a:moveTo>
                <a:lnTo>
                  <a:pt x="297607" y="0"/>
                </a:lnTo>
                <a:lnTo>
                  <a:pt x="297607" y="298693"/>
                </a:lnTo>
                <a:lnTo>
                  <a:pt x="0" y="298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A"/>
          </a:p>
        </p:txBody>
      </p:sp>
      <p:pic>
        <p:nvPicPr>
          <p:cNvPr id="52" name="Graphic 51" descr="Laptop outline">
            <a:extLst>
              <a:ext uri="{FF2B5EF4-FFF2-40B4-BE49-F238E27FC236}">
                <a16:creationId xmlns:a16="http://schemas.microsoft.com/office/drawing/2014/main" id="{91B70095-81BE-9E93-9F8B-A2F1B65C9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655BC004-0B2B-84ED-03EB-044D26CFEDC3}"/>
              </a:ext>
            </a:extLst>
          </p:cNvPr>
          <p:cNvSpPr txBox="1"/>
          <p:nvPr/>
        </p:nvSpPr>
        <p:spPr>
          <a:xfrm>
            <a:off x="1392051" y="733376"/>
            <a:ext cx="11102833" cy="633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92"/>
              </a:lnSpc>
            </a:pPr>
            <a:r>
              <a:rPr lang="en-US" sz="4200" b="1" spc="596" dirty="0">
                <a:solidFill>
                  <a:srgbClr val="00B05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interface:</a:t>
            </a:r>
          </a:p>
        </p:txBody>
      </p:sp>
      <p:grpSp>
        <p:nvGrpSpPr>
          <p:cNvPr id="22" name="Group 3">
            <a:extLst>
              <a:ext uri="{FF2B5EF4-FFF2-40B4-BE49-F238E27FC236}">
                <a16:creationId xmlns:a16="http://schemas.microsoft.com/office/drawing/2014/main" id="{67B430B3-FCCC-0206-81B7-289BA8C9ECC1}"/>
              </a:ext>
            </a:extLst>
          </p:cNvPr>
          <p:cNvGrpSpPr/>
          <p:nvPr/>
        </p:nvGrpSpPr>
        <p:grpSpPr>
          <a:xfrm rot="1295334">
            <a:off x="12410251" y="-3695156"/>
            <a:ext cx="7330889" cy="6609232"/>
            <a:chOff x="0" y="0"/>
            <a:chExt cx="812800" cy="732787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F29424AD-373B-3E62-F252-631D87A6780F}"/>
                </a:ext>
              </a:extLst>
            </p:cNvPr>
            <p:cNvSpPr/>
            <p:nvPr/>
          </p:nvSpPr>
          <p:spPr>
            <a:xfrm>
              <a:off x="0" y="0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46FCC3C5-D4B2-B3E8-CBC2-4AEEAC98DC08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5" name="Hexagon 24">
            <a:extLst>
              <a:ext uri="{FF2B5EF4-FFF2-40B4-BE49-F238E27FC236}">
                <a16:creationId xmlns:a16="http://schemas.microsoft.com/office/drawing/2014/main" id="{F10FC1DB-F649-859C-18B5-C9A20166F895}"/>
              </a:ext>
            </a:extLst>
          </p:cNvPr>
          <p:cNvSpPr/>
          <p:nvPr/>
        </p:nvSpPr>
        <p:spPr>
          <a:xfrm>
            <a:off x="15173940" y="1232149"/>
            <a:ext cx="3053557" cy="2520745"/>
          </a:xfrm>
          <a:prstGeom prst="hexago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pic>
        <p:nvPicPr>
          <p:cNvPr id="26" name="Graphic 25" descr="Laptop outline">
            <a:extLst>
              <a:ext uri="{FF2B5EF4-FFF2-40B4-BE49-F238E27FC236}">
                <a16:creationId xmlns:a16="http://schemas.microsoft.com/office/drawing/2014/main" id="{4007ABA8-CDC9-C906-C418-1DA57D3FB3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1162" y="1711787"/>
            <a:ext cx="1136238" cy="113623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CADFFD5A-8D60-6407-BF34-D9D9559AE673}"/>
              </a:ext>
            </a:extLst>
          </p:cNvPr>
          <p:cNvSpPr/>
          <p:nvPr/>
        </p:nvSpPr>
        <p:spPr>
          <a:xfrm>
            <a:off x="12671255" y="729939"/>
            <a:ext cx="927649" cy="8668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A288449B-A5E5-2E5E-1082-C75AE5007D68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B944DD90-EC69-6647-F31A-4975CD9B5E16}"/>
              </a:ext>
            </a:extLst>
          </p:cNvPr>
          <p:cNvSpPr/>
          <p:nvPr/>
        </p:nvSpPr>
        <p:spPr>
          <a:xfrm>
            <a:off x="-1855813" y="7481097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33" name="Freeform 49">
            <a:extLst>
              <a:ext uri="{FF2B5EF4-FFF2-40B4-BE49-F238E27FC236}">
                <a16:creationId xmlns:a16="http://schemas.microsoft.com/office/drawing/2014/main" id="{CD98991D-B35E-9162-843A-FFC55DF5A768}"/>
              </a:ext>
            </a:extLst>
          </p:cNvPr>
          <p:cNvSpPr/>
          <p:nvPr/>
        </p:nvSpPr>
        <p:spPr>
          <a:xfrm rot="19788342">
            <a:off x="15879363" y="8228659"/>
            <a:ext cx="2165139" cy="1704668"/>
          </a:xfrm>
          <a:custGeom>
            <a:avLst/>
            <a:gdLst>
              <a:gd name="connsiteX0" fmla="*/ 0 w 3552598"/>
              <a:gd name="connsiteY0" fmla="*/ 0 h 3552598"/>
              <a:gd name="connsiteX1" fmla="*/ 3552598 w 3552598"/>
              <a:gd name="connsiteY1" fmla="*/ 0 h 3552598"/>
              <a:gd name="connsiteX2" fmla="*/ 2891372 w 3552598"/>
              <a:gd name="connsiteY2" fmla="*/ 2751606 h 3552598"/>
              <a:gd name="connsiteX3" fmla="*/ 0 w 3552598"/>
              <a:gd name="connsiteY3" fmla="*/ 3552598 h 3552598"/>
              <a:gd name="connsiteX4" fmla="*/ 0 w 3552598"/>
              <a:gd name="connsiteY4" fmla="*/ 0 h 3552598"/>
              <a:gd name="connsiteX0" fmla="*/ 0 w 3552598"/>
              <a:gd name="connsiteY0" fmla="*/ 0 h 2751606"/>
              <a:gd name="connsiteX1" fmla="*/ 3552598 w 3552598"/>
              <a:gd name="connsiteY1" fmla="*/ 0 h 2751606"/>
              <a:gd name="connsiteX2" fmla="*/ 2891372 w 3552598"/>
              <a:gd name="connsiteY2" fmla="*/ 2751606 h 2751606"/>
              <a:gd name="connsiteX3" fmla="*/ 823383 w 3552598"/>
              <a:gd name="connsiteY3" fmla="*/ 2644253 h 2751606"/>
              <a:gd name="connsiteX4" fmla="*/ 0 w 3552598"/>
              <a:gd name="connsiteY4" fmla="*/ 0 h 2751606"/>
              <a:gd name="connsiteX0" fmla="*/ 0 w 2891372"/>
              <a:gd name="connsiteY0" fmla="*/ 0 h 2751606"/>
              <a:gd name="connsiteX1" fmla="*/ 2387609 w 2891372"/>
              <a:gd name="connsiteY1" fmla="*/ 1316584 h 2751606"/>
              <a:gd name="connsiteX2" fmla="*/ 2891372 w 2891372"/>
              <a:gd name="connsiteY2" fmla="*/ 2751606 h 2751606"/>
              <a:gd name="connsiteX3" fmla="*/ 823383 w 2891372"/>
              <a:gd name="connsiteY3" fmla="*/ 2644253 h 2751606"/>
              <a:gd name="connsiteX4" fmla="*/ 0 w 2891372"/>
              <a:gd name="connsiteY4" fmla="*/ 0 h 2751606"/>
              <a:gd name="connsiteX0" fmla="*/ 0 w 2165139"/>
              <a:gd name="connsiteY0" fmla="*/ 0 h 1704668"/>
              <a:gd name="connsiteX1" fmla="*/ 1661376 w 2165139"/>
              <a:gd name="connsiteY1" fmla="*/ 269646 h 1704668"/>
              <a:gd name="connsiteX2" fmla="*/ 2165139 w 2165139"/>
              <a:gd name="connsiteY2" fmla="*/ 1704668 h 1704668"/>
              <a:gd name="connsiteX3" fmla="*/ 97150 w 2165139"/>
              <a:gd name="connsiteY3" fmla="*/ 1597315 h 1704668"/>
              <a:gd name="connsiteX4" fmla="*/ 0 w 2165139"/>
              <a:gd name="connsiteY4" fmla="*/ 0 h 170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139" h="1704668">
                <a:moveTo>
                  <a:pt x="0" y="0"/>
                </a:moveTo>
                <a:lnTo>
                  <a:pt x="1661376" y="269646"/>
                </a:lnTo>
                <a:lnTo>
                  <a:pt x="2165139" y="1704668"/>
                </a:lnTo>
                <a:lnTo>
                  <a:pt x="97150" y="159731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6"/>
            </a:outerShdw>
          </a:effectLst>
        </p:spPr>
        <p:txBody>
          <a:bodyPr/>
          <a:lstStyle/>
          <a:p>
            <a:endParaRPr lang="fr-MA" dirty="0">
              <a:solidFill>
                <a:schemeClr val="tx2">
                  <a:lumMod val="60000"/>
                  <a:lumOff val="40000"/>
                  <a:alpha val="71000"/>
                </a:schemeClr>
              </a:solidFill>
            </a:endParaRPr>
          </a:p>
        </p:txBody>
      </p:sp>
      <p:pic>
        <p:nvPicPr>
          <p:cNvPr id="37" name="Picture 36" descr="A star with a white center&#10;&#10;AI-generated content may be incorrect.">
            <a:extLst>
              <a:ext uri="{FF2B5EF4-FFF2-40B4-BE49-F238E27FC236}">
                <a16:creationId xmlns:a16="http://schemas.microsoft.com/office/drawing/2014/main" id="{2EAC2D72-54A5-9C18-D71E-6510235ABF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44" y="591687"/>
            <a:ext cx="324015" cy="324015"/>
          </a:xfrm>
          <a:prstGeom prst="rect">
            <a:avLst/>
          </a:prstGeom>
        </p:spPr>
      </p:pic>
      <p:pic>
        <p:nvPicPr>
          <p:cNvPr id="38" name="Picture 37" descr="A star with a white center&#10;&#10;AI-generated content may be incorrect.">
            <a:extLst>
              <a:ext uri="{FF2B5EF4-FFF2-40B4-BE49-F238E27FC236}">
                <a16:creationId xmlns:a16="http://schemas.microsoft.com/office/drawing/2014/main" id="{9215743E-C858-B521-1013-5AB9C661B1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68" y="824724"/>
            <a:ext cx="324015" cy="324015"/>
          </a:xfrm>
          <a:prstGeom prst="rect">
            <a:avLst/>
          </a:prstGeom>
        </p:spPr>
      </p:pic>
      <p:pic>
        <p:nvPicPr>
          <p:cNvPr id="39" name="Picture 38" descr="A star with a white center&#10;&#10;AI-generated content may be incorrect.">
            <a:extLst>
              <a:ext uri="{FF2B5EF4-FFF2-40B4-BE49-F238E27FC236}">
                <a16:creationId xmlns:a16="http://schemas.microsoft.com/office/drawing/2014/main" id="{A4AF0859-F084-2F72-DA7E-050DD17866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94" y="1170236"/>
            <a:ext cx="324015" cy="324015"/>
          </a:xfrm>
          <a:prstGeom prst="rect">
            <a:avLst/>
          </a:prstGeom>
        </p:spPr>
      </p:pic>
      <p:pic>
        <p:nvPicPr>
          <p:cNvPr id="40" name="Picture 39" descr="A star with a white center&#10;&#10;AI-generated content may be incorrect.">
            <a:extLst>
              <a:ext uri="{FF2B5EF4-FFF2-40B4-BE49-F238E27FC236}">
                <a16:creationId xmlns:a16="http://schemas.microsoft.com/office/drawing/2014/main" id="{676ED5CB-099F-6BBC-0BA8-FFD82A40C4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318" y="628423"/>
            <a:ext cx="324015" cy="324015"/>
          </a:xfrm>
          <a:prstGeom prst="rect">
            <a:avLst/>
          </a:prstGeom>
        </p:spPr>
      </p:pic>
      <p:pic>
        <p:nvPicPr>
          <p:cNvPr id="41" name="Picture 40" descr="A star with a white center&#10;&#10;AI-generated content may be incorrect.">
            <a:extLst>
              <a:ext uri="{FF2B5EF4-FFF2-40B4-BE49-F238E27FC236}">
                <a16:creationId xmlns:a16="http://schemas.microsoft.com/office/drawing/2014/main" id="{144C6A9E-2E49-B9D5-2F3B-114F6CB200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152" y="868383"/>
            <a:ext cx="324015" cy="324015"/>
          </a:xfrm>
          <a:prstGeom prst="rect">
            <a:avLst/>
          </a:prstGeom>
        </p:spPr>
      </p:pic>
      <p:pic>
        <p:nvPicPr>
          <p:cNvPr id="42" name="Picture 41" descr="A star with a white center&#10;&#10;AI-generated content may be incorrect.">
            <a:extLst>
              <a:ext uri="{FF2B5EF4-FFF2-40B4-BE49-F238E27FC236}">
                <a16:creationId xmlns:a16="http://schemas.microsoft.com/office/drawing/2014/main" id="{7A6A117C-7177-9414-0100-9DFA5EAAF2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288" y="1186617"/>
            <a:ext cx="324015" cy="324015"/>
          </a:xfrm>
          <a:prstGeom prst="rect">
            <a:avLst/>
          </a:prstGeom>
        </p:spPr>
      </p:pic>
      <p:sp>
        <p:nvSpPr>
          <p:cNvPr id="43" name="Rectangle: Single Corner Snipped 42">
            <a:extLst>
              <a:ext uri="{FF2B5EF4-FFF2-40B4-BE49-F238E27FC236}">
                <a16:creationId xmlns:a16="http://schemas.microsoft.com/office/drawing/2014/main" id="{B1BE9721-8569-65EA-712A-22041E0A5AF8}"/>
              </a:ext>
            </a:extLst>
          </p:cNvPr>
          <p:cNvSpPr/>
          <p:nvPr/>
        </p:nvSpPr>
        <p:spPr>
          <a:xfrm>
            <a:off x="-221157" y="9653947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E18ACA3E-4198-A623-3524-7CDE90B87C2F}"/>
              </a:ext>
            </a:extLst>
          </p:cNvPr>
          <p:cNvSpPr txBox="1"/>
          <p:nvPr/>
        </p:nvSpPr>
        <p:spPr>
          <a:xfrm>
            <a:off x="36308" y="9408108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18</a:t>
            </a:r>
          </a:p>
        </p:txBody>
      </p:sp>
      <p:pic>
        <p:nvPicPr>
          <p:cNvPr id="3" name="Graphic 2" descr="Good Idea outline">
            <a:extLst>
              <a:ext uri="{FF2B5EF4-FFF2-40B4-BE49-F238E27FC236}">
                <a16:creationId xmlns:a16="http://schemas.microsoft.com/office/drawing/2014/main" id="{8F45A2BF-FEB9-557A-DA1B-2C8CA5A594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3062" y="868955"/>
            <a:ext cx="804387" cy="647251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AAEF0437-98D5-3068-D94E-BA72167FC499}"/>
              </a:ext>
            </a:extLst>
          </p:cNvPr>
          <p:cNvGrpSpPr/>
          <p:nvPr/>
        </p:nvGrpSpPr>
        <p:grpSpPr>
          <a:xfrm>
            <a:off x="15232803" y="7717878"/>
            <a:ext cx="4065551" cy="3924212"/>
            <a:chOff x="0" y="0"/>
            <a:chExt cx="628154" cy="8128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8A7BC474-430F-D079-CA5C-22162833872A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49BFFE4B-A9F5-8307-08AB-8CBBB68D0030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A935C18-746C-A91B-742B-363C7665DD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099" y="1441127"/>
            <a:ext cx="16665226" cy="87641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B743FA-5FA3-E4E5-C226-EB6537A4FF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0245" y="2848025"/>
            <a:ext cx="8874834" cy="449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2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195D5-E39C-0443-D67E-126926ECB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F3412AA-8609-A56C-ECA0-19852E2A6D17}"/>
              </a:ext>
            </a:extLst>
          </p:cNvPr>
          <p:cNvGrpSpPr/>
          <p:nvPr/>
        </p:nvGrpSpPr>
        <p:grpSpPr>
          <a:xfrm>
            <a:off x="-2123887" y="-2346523"/>
            <a:ext cx="4693046" cy="4693046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4A744F9-357A-6D42-6820-460DBE50B9A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A71C1CF-8148-99F4-47C4-A1EEA24332E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AF47B02D-3884-690F-258A-B3DB2AA3BF7F}"/>
              </a:ext>
            </a:extLst>
          </p:cNvPr>
          <p:cNvSpPr txBox="1"/>
          <p:nvPr/>
        </p:nvSpPr>
        <p:spPr>
          <a:xfrm>
            <a:off x="4170502" y="461482"/>
            <a:ext cx="8169783" cy="590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91"/>
              </a:lnSpc>
              <a:spcBef>
                <a:spcPct val="0"/>
              </a:spcBef>
            </a:pPr>
            <a:r>
              <a:rPr lang="en-US" sz="4400" spc="-64" dirty="0" err="1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Défis</a:t>
            </a:r>
            <a:r>
              <a:rPr lang="en-US" sz="4400" spc="-64" dirty="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 Techniques &amp; Solutions</a:t>
            </a:r>
            <a:endParaRPr lang="en-US" sz="4400" u="none" strike="noStrike" spc="-64" dirty="0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75277C62-54F0-525F-E27D-AE9709467748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070D9C51-EDB7-49F5-529A-FDD42A5B8AB8}"/>
              </a:ext>
            </a:extLst>
          </p:cNvPr>
          <p:cNvGrpSpPr/>
          <p:nvPr/>
        </p:nvGrpSpPr>
        <p:grpSpPr>
          <a:xfrm rot="1295334">
            <a:off x="14140525" y="-4124097"/>
            <a:ext cx="7330889" cy="6634612"/>
            <a:chOff x="376084" y="334007"/>
            <a:chExt cx="812800" cy="735601"/>
          </a:xfrm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D39A089C-2A5E-E221-812F-642EE9D54DA5}"/>
                </a:ext>
              </a:extLst>
            </p:cNvPr>
            <p:cNvSpPr/>
            <p:nvPr/>
          </p:nvSpPr>
          <p:spPr>
            <a:xfrm>
              <a:off x="376084" y="336821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EA51590A-BC84-FF71-1B77-1BACCFC0C3BA}"/>
                </a:ext>
              </a:extLst>
            </p:cNvPr>
            <p:cNvSpPr txBox="1"/>
            <p:nvPr/>
          </p:nvSpPr>
          <p:spPr>
            <a:xfrm>
              <a:off x="440400" y="334007"/>
              <a:ext cx="660400" cy="633490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20" name="Group 2">
            <a:extLst>
              <a:ext uri="{FF2B5EF4-FFF2-40B4-BE49-F238E27FC236}">
                <a16:creationId xmlns:a16="http://schemas.microsoft.com/office/drawing/2014/main" id="{CC137BFF-E5EF-896D-2C15-E6CC61412827}"/>
              </a:ext>
            </a:extLst>
          </p:cNvPr>
          <p:cNvGrpSpPr/>
          <p:nvPr/>
        </p:nvGrpSpPr>
        <p:grpSpPr>
          <a:xfrm>
            <a:off x="-6900308" y="-2445901"/>
            <a:ext cx="11730590" cy="15178802"/>
            <a:chOff x="0" y="0"/>
            <a:chExt cx="628154" cy="812800"/>
          </a:xfrm>
        </p:grpSpPr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id="{FC770E36-A082-F2F5-E39D-0E9B2DB5D63B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2" name="TextBox 4">
              <a:extLst>
                <a:ext uri="{FF2B5EF4-FFF2-40B4-BE49-F238E27FC236}">
                  <a16:creationId xmlns:a16="http://schemas.microsoft.com/office/drawing/2014/main" id="{F6CFA42D-E5D2-4A55-76F3-23EE7D4DBBF6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4A1E085-B143-C8EB-3552-485BB560D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0021" y="1708932"/>
            <a:ext cx="5291090" cy="4544531"/>
          </a:xfrm>
          <a:prstGeom prst="rect">
            <a:avLst/>
          </a:prstGeom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E3BB5158-5218-84FD-BC6A-12279E760175}"/>
              </a:ext>
            </a:extLst>
          </p:cNvPr>
          <p:cNvSpPr/>
          <p:nvPr/>
        </p:nvSpPr>
        <p:spPr>
          <a:xfrm>
            <a:off x="-253585" y="5947360"/>
            <a:ext cx="7657999" cy="1512455"/>
          </a:xfrm>
          <a:custGeom>
            <a:avLst/>
            <a:gdLst/>
            <a:ahLst/>
            <a:cxnLst/>
            <a:rect l="l" t="t" r="r" b="b"/>
            <a:pathLst>
              <a:path w="7657999" h="1512455">
                <a:moveTo>
                  <a:pt x="0" y="0"/>
                </a:moveTo>
                <a:lnTo>
                  <a:pt x="7657999" y="0"/>
                </a:lnTo>
                <a:lnTo>
                  <a:pt x="7657999" y="1512455"/>
                </a:lnTo>
                <a:lnTo>
                  <a:pt x="0" y="15124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7649304C-4762-10B3-5F1A-5E773330AAE7}"/>
              </a:ext>
            </a:extLst>
          </p:cNvPr>
          <p:cNvSpPr/>
          <p:nvPr/>
        </p:nvSpPr>
        <p:spPr>
          <a:xfrm>
            <a:off x="-2177270" y="7524301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BF39D8EF-3651-2F84-CE3E-B5C21D3D3E99}"/>
              </a:ext>
            </a:extLst>
          </p:cNvPr>
          <p:cNvSpPr/>
          <p:nvPr/>
        </p:nvSpPr>
        <p:spPr>
          <a:xfrm>
            <a:off x="17268618" y="9548591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3DBE1757-0DC6-B0BA-4CC7-32870FACDA93}"/>
              </a:ext>
            </a:extLst>
          </p:cNvPr>
          <p:cNvSpPr txBox="1"/>
          <p:nvPr/>
        </p:nvSpPr>
        <p:spPr>
          <a:xfrm>
            <a:off x="17515408" y="9302752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19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3701957-93E8-B806-6DA0-B2385CDBFA0A}"/>
              </a:ext>
            </a:extLst>
          </p:cNvPr>
          <p:cNvSpPr txBox="1"/>
          <p:nvPr/>
        </p:nvSpPr>
        <p:spPr>
          <a:xfrm>
            <a:off x="6898925" y="1708932"/>
            <a:ext cx="6871519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fr-MA" sz="2800" b="1" i="0" dirty="0">
                <a:effectLst/>
                <a:latin typeface="+mj-lt"/>
              </a:rPr>
              <a:t>1 : Algorithme SGV Pondéré</a:t>
            </a:r>
          </a:p>
          <a:p>
            <a:pPr marL="342900" indent="-342900" algn="l" rtl="0" fontAlgn="base" latinLnBrk="0">
              <a:buFont typeface="Wingdings" panose="05000000000000000000" pitchFamily="2" charset="2"/>
              <a:buChar char="v"/>
            </a:pPr>
            <a:r>
              <a:rPr lang="fr-MA" sz="2400" b="0" i="0" dirty="0">
                <a:effectLst/>
                <a:latin typeface="+mj-lt"/>
              </a:rPr>
              <a:t>Coefficients par niveau de réputation + recalcul asynchrone </a:t>
            </a:r>
            <a:r>
              <a:rPr lang="fr-MA" sz="2400" b="0" i="0" dirty="0" err="1">
                <a:effectLst/>
                <a:latin typeface="+mj-lt"/>
              </a:rPr>
              <a:t>Celery</a:t>
            </a:r>
            <a:endParaRPr lang="fr-MA" sz="2400" b="0" i="0" dirty="0">
              <a:effectLst/>
              <a:latin typeface="+mj-lt"/>
            </a:endParaRPr>
          </a:p>
          <a:p>
            <a:pPr algn="l" rtl="0" fontAlgn="base" latinLnBrk="0">
              <a:buNone/>
            </a:pPr>
            <a:endParaRPr lang="fr-MA" sz="2400" b="0" i="0" dirty="0">
              <a:effectLst/>
              <a:latin typeface="+mj-lt"/>
            </a:endParaRPr>
          </a:p>
          <a:p>
            <a:pPr algn="l" rtl="0" fontAlgn="base" latinLnBrk="0">
              <a:buNone/>
            </a:pPr>
            <a:r>
              <a:rPr lang="fr-MA" sz="2800" b="1" i="0" dirty="0">
                <a:effectLst/>
                <a:latin typeface="+mj-lt"/>
              </a:rPr>
              <a:t>2 : Commentaires Imbriqués</a:t>
            </a:r>
          </a:p>
          <a:p>
            <a:pPr marL="342900" indent="-342900" algn="l" rtl="0" fontAlgn="base" latinLnBrk="0">
              <a:buFont typeface="Wingdings" panose="05000000000000000000" pitchFamily="2" charset="2"/>
              <a:buChar char="v"/>
            </a:pPr>
            <a:r>
              <a:rPr lang="fr-MA" sz="2400" b="0" i="0" dirty="0">
                <a:effectLst/>
                <a:latin typeface="+mj-lt"/>
              </a:rPr>
              <a:t> Modèle récursif avec parent FK + </a:t>
            </a:r>
            <a:r>
              <a:rPr lang="fr-MA" sz="2400" b="0" i="0" dirty="0" err="1">
                <a:effectLst/>
                <a:latin typeface="+mj-lt"/>
              </a:rPr>
              <a:t>serializer</a:t>
            </a:r>
            <a:r>
              <a:rPr lang="fr-MA" sz="2400" b="0" i="0" dirty="0">
                <a:effectLst/>
                <a:latin typeface="+mj-lt"/>
              </a:rPr>
              <a:t> récursif</a:t>
            </a:r>
          </a:p>
          <a:p>
            <a:pPr algn="l" rtl="0" fontAlgn="base" latinLnBrk="0">
              <a:buNone/>
            </a:pPr>
            <a:endParaRPr lang="fr-MA" sz="2400" b="0" i="0" dirty="0">
              <a:effectLst/>
              <a:latin typeface="+mj-lt"/>
            </a:endParaRPr>
          </a:p>
          <a:p>
            <a:pPr algn="l" rtl="0" fontAlgn="base" latinLnBrk="0">
              <a:buNone/>
            </a:pPr>
            <a:r>
              <a:rPr lang="fr-MA" sz="2800" b="1" i="0" dirty="0">
                <a:effectLst/>
                <a:latin typeface="+mj-lt"/>
              </a:rPr>
              <a:t>3 : Vote Polymorphique</a:t>
            </a:r>
          </a:p>
          <a:p>
            <a:pPr marL="342900" indent="-342900" algn="l" rtl="0" fontAlgn="base" latinLnBrk="0">
              <a:buFont typeface="Wingdings" panose="05000000000000000000" pitchFamily="2" charset="2"/>
              <a:buChar char="v"/>
            </a:pPr>
            <a:r>
              <a:rPr lang="fr-MA" sz="2400" b="0" i="0" dirty="0">
                <a:effectLst/>
                <a:latin typeface="+mj-lt"/>
              </a:rPr>
              <a:t>Modèle Vote avec </a:t>
            </a:r>
            <a:r>
              <a:rPr lang="fr-MA" sz="2400" b="0" i="0" dirty="0" err="1">
                <a:effectLst/>
                <a:latin typeface="+mj-lt"/>
              </a:rPr>
              <a:t>target_type</a:t>
            </a:r>
            <a:r>
              <a:rPr lang="fr-MA" sz="2400" b="0" i="0" dirty="0">
                <a:effectLst/>
                <a:latin typeface="+mj-lt"/>
              </a:rPr>
              <a:t> + </a:t>
            </a:r>
            <a:r>
              <a:rPr lang="fr-MA" sz="2400" b="0" i="0" dirty="0" err="1">
                <a:effectLst/>
                <a:latin typeface="+mj-lt"/>
              </a:rPr>
              <a:t>target_id</a:t>
            </a:r>
            <a:r>
              <a:rPr lang="fr-MA" sz="2400" b="0" i="0" dirty="0">
                <a:effectLst/>
                <a:latin typeface="+mj-lt"/>
              </a:rPr>
              <a:t> + contraintes uniques</a:t>
            </a:r>
          </a:p>
          <a:p>
            <a:pPr algn="l" rtl="0" fontAlgn="base" latinLnBrk="0">
              <a:buNone/>
            </a:pPr>
            <a:endParaRPr lang="fr-MA" sz="2400" b="0" i="0" dirty="0">
              <a:effectLst/>
              <a:latin typeface="+mj-lt"/>
            </a:endParaRPr>
          </a:p>
          <a:p>
            <a:pPr algn="l" rtl="0" fontAlgn="base" latinLnBrk="0">
              <a:buNone/>
            </a:pPr>
            <a:r>
              <a:rPr lang="fr-MA" sz="2800" b="1" i="0" dirty="0">
                <a:effectLst/>
                <a:latin typeface="+mj-lt"/>
              </a:rPr>
              <a:t>4 : Export PDF Asynchrone</a:t>
            </a:r>
          </a:p>
          <a:p>
            <a:pPr marL="342900" indent="-342900" algn="l" rtl="0" fontAlgn="base" latinLnBrk="0">
              <a:buFont typeface="Wingdings" panose="05000000000000000000" pitchFamily="2" charset="2"/>
              <a:buChar char="v"/>
            </a:pPr>
            <a:r>
              <a:rPr lang="fr-MA" sz="2400" b="0" i="0" dirty="0" err="1">
                <a:effectLst/>
                <a:latin typeface="+mj-lt"/>
              </a:rPr>
              <a:t>Celery</a:t>
            </a:r>
            <a:r>
              <a:rPr lang="fr-MA" sz="2400" b="0" i="0" dirty="0">
                <a:effectLst/>
                <a:latin typeface="+mj-lt"/>
              </a:rPr>
              <a:t> + </a:t>
            </a:r>
            <a:r>
              <a:rPr lang="fr-MA" sz="2400" dirty="0" err="1">
                <a:latin typeface="+mj-lt"/>
              </a:rPr>
              <a:t>Reportlab</a:t>
            </a:r>
            <a:r>
              <a:rPr lang="fr-MA" sz="2400" b="0" i="0" dirty="0">
                <a:effectLst/>
                <a:latin typeface="+mj-lt"/>
              </a:rPr>
              <a:t> sans bloquer l'API REST</a:t>
            </a:r>
          </a:p>
          <a:p>
            <a:pPr algn="l" rtl="0" fontAlgn="base" latinLnBrk="0">
              <a:buNone/>
            </a:pPr>
            <a:endParaRPr lang="fr-MA" sz="2400" b="0" i="0" dirty="0">
              <a:effectLst/>
              <a:latin typeface="+mj-lt"/>
            </a:endParaRPr>
          </a:p>
          <a:p>
            <a:pPr algn="l" rtl="0" fontAlgn="base" latinLnBrk="0">
              <a:buNone/>
            </a:pPr>
            <a:r>
              <a:rPr lang="fr-MA" sz="2800" b="1" i="0" dirty="0">
                <a:effectLst/>
                <a:latin typeface="+mj-lt"/>
              </a:rPr>
              <a:t>5 : Compatibilité MySQL</a:t>
            </a:r>
          </a:p>
          <a:p>
            <a:pPr marL="342900" indent="-342900" algn="l" rtl="0" fontAlgn="base" latinLnBrk="0">
              <a:buFont typeface="Wingdings" panose="05000000000000000000" pitchFamily="2" charset="2"/>
              <a:buChar char="v"/>
            </a:pPr>
            <a:r>
              <a:rPr lang="fr-MA" sz="2400" b="0" i="0" dirty="0" err="1">
                <a:effectLst/>
                <a:latin typeface="+mj-lt"/>
              </a:rPr>
              <a:t>BigAutoField</a:t>
            </a:r>
            <a:r>
              <a:rPr lang="fr-MA" sz="2400" b="0" i="0" dirty="0">
                <a:effectLst/>
                <a:latin typeface="+mj-lt"/>
              </a:rPr>
              <a:t> cohérent + </a:t>
            </a:r>
            <a:r>
              <a:rPr lang="fr-MA" sz="2400" b="0" i="0" dirty="0" err="1">
                <a:effectLst/>
                <a:latin typeface="+mj-lt"/>
              </a:rPr>
              <a:t>CharField</a:t>
            </a:r>
            <a:r>
              <a:rPr lang="fr-MA" sz="2400" b="0" i="0" dirty="0">
                <a:effectLst/>
                <a:latin typeface="+mj-lt"/>
              </a:rPr>
              <a:t> pour IDs polymorphes</a:t>
            </a:r>
          </a:p>
        </p:txBody>
      </p:sp>
    </p:spTree>
    <p:extLst>
      <p:ext uri="{BB962C8B-B14F-4D97-AF65-F5344CB8AC3E}">
        <p14:creationId xmlns:p14="http://schemas.microsoft.com/office/powerpoint/2010/main" val="256090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BC27-6DC7-A889-87DB-91915BB8C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CC7EFB-E717-4FEF-6132-6270F9406B2F}"/>
              </a:ext>
            </a:extLst>
          </p:cNvPr>
          <p:cNvGrpSpPr/>
          <p:nvPr/>
        </p:nvGrpSpPr>
        <p:grpSpPr>
          <a:xfrm>
            <a:off x="-2123887" y="-2346523"/>
            <a:ext cx="4693046" cy="4693046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00AED78-3ECE-740C-B45B-99FBF687D93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028411A-59BA-B20B-3164-24E00D0E5D2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1F87191-2B55-ACF7-E8AE-D9341E4BAEEF}"/>
              </a:ext>
            </a:extLst>
          </p:cNvPr>
          <p:cNvSpPr txBox="1"/>
          <p:nvPr/>
        </p:nvSpPr>
        <p:spPr>
          <a:xfrm>
            <a:off x="4114800" y="2172871"/>
            <a:ext cx="8169783" cy="590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91"/>
              </a:lnSpc>
              <a:spcBef>
                <a:spcPct val="0"/>
              </a:spcBef>
            </a:pPr>
            <a:r>
              <a:rPr lang="en-US" sz="4400" b="1" spc="-64" dirty="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Conclusion </a:t>
            </a:r>
            <a:endParaRPr lang="en-US" sz="4400" b="1" u="none" strike="noStrike" spc="-64" dirty="0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002C344A-AF0E-77CA-9B6D-91930A8DFDC7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51B3C5F3-BDB0-FF60-CA21-46CB777626F6}"/>
              </a:ext>
            </a:extLst>
          </p:cNvPr>
          <p:cNvGrpSpPr/>
          <p:nvPr/>
        </p:nvGrpSpPr>
        <p:grpSpPr>
          <a:xfrm rot="1295334">
            <a:off x="14140525" y="-4124097"/>
            <a:ext cx="7330889" cy="6634612"/>
            <a:chOff x="376084" y="334007"/>
            <a:chExt cx="812800" cy="735601"/>
          </a:xfrm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0A404DCE-EB1F-99F7-A267-CC295C7C569E}"/>
                </a:ext>
              </a:extLst>
            </p:cNvPr>
            <p:cNvSpPr/>
            <p:nvPr/>
          </p:nvSpPr>
          <p:spPr>
            <a:xfrm>
              <a:off x="376084" y="336821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5E2678A9-726A-B4DE-2C2B-D8FBB7734FA5}"/>
                </a:ext>
              </a:extLst>
            </p:cNvPr>
            <p:cNvSpPr txBox="1"/>
            <p:nvPr/>
          </p:nvSpPr>
          <p:spPr>
            <a:xfrm>
              <a:off x="440400" y="334007"/>
              <a:ext cx="660400" cy="633490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20" name="Group 2">
            <a:extLst>
              <a:ext uri="{FF2B5EF4-FFF2-40B4-BE49-F238E27FC236}">
                <a16:creationId xmlns:a16="http://schemas.microsoft.com/office/drawing/2014/main" id="{A312B4F3-5454-866B-4D3D-EC8EA6A22F8D}"/>
              </a:ext>
            </a:extLst>
          </p:cNvPr>
          <p:cNvGrpSpPr/>
          <p:nvPr/>
        </p:nvGrpSpPr>
        <p:grpSpPr>
          <a:xfrm>
            <a:off x="-6900308" y="-2445901"/>
            <a:ext cx="11730590" cy="15178802"/>
            <a:chOff x="0" y="0"/>
            <a:chExt cx="628154" cy="812800"/>
          </a:xfrm>
        </p:grpSpPr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id="{D37D9AE7-60E8-D9B0-9585-45F8387036C5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2" name="TextBox 4">
              <a:extLst>
                <a:ext uri="{FF2B5EF4-FFF2-40B4-BE49-F238E27FC236}">
                  <a16:creationId xmlns:a16="http://schemas.microsoft.com/office/drawing/2014/main" id="{24287E62-92DB-686C-DAB3-BC10AB83B9BA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BC8BA79E-254C-9D38-68E7-9BAAE4694FFA}"/>
              </a:ext>
            </a:extLst>
          </p:cNvPr>
          <p:cNvSpPr/>
          <p:nvPr/>
        </p:nvSpPr>
        <p:spPr>
          <a:xfrm>
            <a:off x="-253585" y="5947360"/>
            <a:ext cx="7657999" cy="1512455"/>
          </a:xfrm>
          <a:custGeom>
            <a:avLst/>
            <a:gdLst/>
            <a:ahLst/>
            <a:cxnLst/>
            <a:rect l="l" t="t" r="r" b="b"/>
            <a:pathLst>
              <a:path w="7657999" h="1512455">
                <a:moveTo>
                  <a:pt x="0" y="0"/>
                </a:moveTo>
                <a:lnTo>
                  <a:pt x="7657999" y="0"/>
                </a:lnTo>
                <a:lnTo>
                  <a:pt x="7657999" y="1512455"/>
                </a:lnTo>
                <a:lnTo>
                  <a:pt x="0" y="1512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359144CF-675A-371F-4CD0-0ADAABB82F56}"/>
              </a:ext>
            </a:extLst>
          </p:cNvPr>
          <p:cNvSpPr/>
          <p:nvPr/>
        </p:nvSpPr>
        <p:spPr>
          <a:xfrm>
            <a:off x="-2177270" y="7524301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9FC0DA01-D433-18D8-383D-E8CD3572D66D}"/>
              </a:ext>
            </a:extLst>
          </p:cNvPr>
          <p:cNvSpPr/>
          <p:nvPr/>
        </p:nvSpPr>
        <p:spPr>
          <a:xfrm>
            <a:off x="17268618" y="9548591"/>
            <a:ext cx="1214238" cy="401261"/>
          </a:xfrm>
          <a:prstGeom prst="snip1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D0EF8B0F-90C7-6A97-F5F1-C432834F8D8E}"/>
              </a:ext>
            </a:extLst>
          </p:cNvPr>
          <p:cNvSpPr txBox="1"/>
          <p:nvPr/>
        </p:nvSpPr>
        <p:spPr>
          <a:xfrm>
            <a:off x="17515408" y="9302752"/>
            <a:ext cx="60958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993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20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9F4C36-9BC7-A687-E5DF-6828CDE313FA}"/>
              </a:ext>
            </a:extLst>
          </p:cNvPr>
          <p:cNvSpPr txBox="1"/>
          <p:nvPr/>
        </p:nvSpPr>
        <p:spPr>
          <a:xfrm>
            <a:off x="4934466" y="3085442"/>
            <a:ext cx="131905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fr-FR" sz="2800" dirty="0" err="1"/>
              <a:t>IdeaLab</a:t>
            </a:r>
            <a:r>
              <a:rPr lang="fr-FR" sz="2800" dirty="0"/>
              <a:t> est une plateforme web complète de validation d'idées de startups, développée avec Django REST et </a:t>
            </a:r>
            <a:r>
              <a:rPr lang="fr-FR" sz="2800" dirty="0" err="1"/>
              <a:t>React</a:t>
            </a:r>
            <a:r>
              <a:rPr lang="fr-FR" sz="2800" dirty="0"/>
              <a:t>, qui connecte entrepreneurs et </a:t>
            </a:r>
            <a:r>
              <a:rPr lang="fr-FR" sz="2800" dirty="0" err="1"/>
              <a:t>reviewers</a:t>
            </a:r>
            <a:r>
              <a:rPr lang="fr-FR" sz="2800" dirty="0"/>
              <a:t> experts via un système d'évaluation structuré sur 4 dimensions et un algorithme SGV pondéré par réputation. L'architecture moderne — containerisée avec Docker, sécurisée par JWT, et optimisée par </a:t>
            </a:r>
            <a:r>
              <a:rPr lang="fr-FR" sz="2800" dirty="0" err="1"/>
              <a:t>Celery</a:t>
            </a:r>
            <a:r>
              <a:rPr lang="fr-FR" sz="2800" dirty="0"/>
              <a:t> pour les tâches asynchrones — garantit scalabilité et performance. Avec 85% de couverture de tests, des </a:t>
            </a:r>
            <a:r>
              <a:rPr lang="fr-FR" sz="2800" dirty="0" err="1"/>
              <a:t>dashboards</a:t>
            </a:r>
            <a:r>
              <a:rPr lang="fr-FR" sz="2800" dirty="0"/>
              <a:t> analytiques par rôle, et des fonctionnalités avancées comme les commentaires imbriqués, votes polymorphiques et exports asynchrones, </a:t>
            </a:r>
            <a:r>
              <a:rPr lang="fr-FR" sz="2800" dirty="0" err="1"/>
              <a:t>IdeaLab</a:t>
            </a:r>
            <a:r>
              <a:rPr lang="fr-FR" sz="2800" dirty="0"/>
              <a:t> constitue une solution robuste et évolutive, prête à évoluer vers un marketplace d'idées et un incubateur virtuel.</a:t>
            </a:r>
            <a:endParaRPr lang="fr-MA" sz="2800" b="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691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80EA8-DABC-DEAD-05B2-542C9D0EB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4542EE1-D74A-B106-9C16-B8C04B6EF7FB}"/>
              </a:ext>
            </a:extLst>
          </p:cNvPr>
          <p:cNvGrpSpPr/>
          <p:nvPr/>
        </p:nvGrpSpPr>
        <p:grpSpPr>
          <a:xfrm>
            <a:off x="-2123887" y="-2346523"/>
            <a:ext cx="4693046" cy="4693046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C38AB7-4240-AA0E-29AC-127CC337251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1B27D47-C08D-A8D0-AD35-7E0BC678E78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8D23C148-1090-E0B9-A2C2-573D24F930CE}"/>
              </a:ext>
            </a:extLst>
          </p:cNvPr>
          <p:cNvSpPr txBox="1"/>
          <p:nvPr/>
        </p:nvSpPr>
        <p:spPr>
          <a:xfrm>
            <a:off x="772592" y="840984"/>
            <a:ext cx="16707443" cy="898037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99371BFE-FBC1-1107-2F6C-CD608C740241}"/>
              </a:ext>
            </a:extLst>
          </p:cNvPr>
          <p:cNvSpPr/>
          <p:nvPr/>
        </p:nvSpPr>
        <p:spPr>
          <a:xfrm>
            <a:off x="14539891" y="6917285"/>
            <a:ext cx="5451376" cy="5525398"/>
          </a:xfrm>
          <a:prstGeom prst="flowChartConnector">
            <a:avLst/>
          </a:prstGeom>
          <a:noFill/>
          <a:ln w="685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D545A540-91ED-592D-05C1-291BCF4DED86}"/>
              </a:ext>
            </a:extLst>
          </p:cNvPr>
          <p:cNvGrpSpPr/>
          <p:nvPr/>
        </p:nvGrpSpPr>
        <p:grpSpPr>
          <a:xfrm rot="1295334">
            <a:off x="12473465" y="-3542542"/>
            <a:ext cx="7330889" cy="6609232"/>
            <a:chOff x="12743" y="13155"/>
            <a:chExt cx="812800" cy="732787"/>
          </a:xfrm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368F0850-3FEA-90CC-BF5B-FADD2EDEB732}"/>
                </a:ext>
              </a:extLst>
            </p:cNvPr>
            <p:cNvSpPr/>
            <p:nvPr/>
          </p:nvSpPr>
          <p:spPr>
            <a:xfrm>
              <a:off x="12743" y="13155"/>
              <a:ext cx="812800" cy="732787"/>
            </a:xfrm>
            <a:custGeom>
              <a:avLst/>
              <a:gdLst/>
              <a:ahLst/>
              <a:cxnLst/>
              <a:rect l="l" t="t" r="r" b="b"/>
              <a:pathLst>
                <a:path w="812800" h="732787">
                  <a:moveTo>
                    <a:pt x="406400" y="0"/>
                  </a:moveTo>
                  <a:cubicBezTo>
                    <a:pt x="181951" y="0"/>
                    <a:pt x="0" y="164040"/>
                    <a:pt x="0" y="366394"/>
                  </a:cubicBezTo>
                  <a:cubicBezTo>
                    <a:pt x="0" y="568747"/>
                    <a:pt x="181951" y="732787"/>
                    <a:pt x="406400" y="732787"/>
                  </a:cubicBezTo>
                  <a:cubicBezTo>
                    <a:pt x="630849" y="732787"/>
                    <a:pt x="812800" y="568747"/>
                    <a:pt x="812800" y="366394"/>
                  </a:cubicBezTo>
                  <a:cubicBezTo>
                    <a:pt x="812800" y="16404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fr-MA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58CA1872-E6BB-C9D6-A0A9-E1A8D6A5263B}"/>
                </a:ext>
              </a:extLst>
            </p:cNvPr>
            <p:cNvSpPr txBox="1"/>
            <p:nvPr/>
          </p:nvSpPr>
          <p:spPr>
            <a:xfrm>
              <a:off x="76200" y="30599"/>
              <a:ext cx="660400" cy="633490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20" name="Group 2">
            <a:extLst>
              <a:ext uri="{FF2B5EF4-FFF2-40B4-BE49-F238E27FC236}">
                <a16:creationId xmlns:a16="http://schemas.microsoft.com/office/drawing/2014/main" id="{0558E1B9-CAAD-EB81-28B7-199963C3ED53}"/>
              </a:ext>
            </a:extLst>
          </p:cNvPr>
          <p:cNvGrpSpPr/>
          <p:nvPr/>
        </p:nvGrpSpPr>
        <p:grpSpPr>
          <a:xfrm>
            <a:off x="-9231688" y="-2445901"/>
            <a:ext cx="11730590" cy="15178802"/>
            <a:chOff x="0" y="0"/>
            <a:chExt cx="628154" cy="812800"/>
          </a:xfrm>
        </p:grpSpPr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id="{222CF692-C54C-5101-1075-86AF507B228A}"/>
                </a:ext>
              </a:extLst>
            </p:cNvPr>
            <p:cNvSpPr/>
            <p:nvPr/>
          </p:nvSpPr>
          <p:spPr>
            <a:xfrm>
              <a:off x="0" y="0"/>
              <a:ext cx="628154" cy="812800"/>
            </a:xfrm>
            <a:custGeom>
              <a:avLst/>
              <a:gdLst/>
              <a:ahLst/>
              <a:cxnLst/>
              <a:rect l="l" t="t" r="r" b="b"/>
              <a:pathLst>
                <a:path w="628154" h="812800">
                  <a:moveTo>
                    <a:pt x="314077" y="0"/>
                  </a:moveTo>
                  <a:cubicBezTo>
                    <a:pt x="140617" y="0"/>
                    <a:pt x="0" y="181951"/>
                    <a:pt x="0" y="406400"/>
                  </a:cubicBezTo>
                  <a:cubicBezTo>
                    <a:pt x="0" y="630849"/>
                    <a:pt x="140617" y="812800"/>
                    <a:pt x="314077" y="812800"/>
                  </a:cubicBezTo>
                  <a:cubicBezTo>
                    <a:pt x="487537" y="812800"/>
                    <a:pt x="628154" y="630849"/>
                    <a:pt x="628154" y="406400"/>
                  </a:cubicBezTo>
                  <a:cubicBezTo>
                    <a:pt x="628154" y="181951"/>
                    <a:pt x="487537" y="0"/>
                    <a:pt x="314077" y="0"/>
                  </a:cubicBezTo>
                  <a:close/>
                </a:path>
              </a:pathLst>
            </a:custGeom>
            <a:solidFill>
              <a:srgbClr val="00B050"/>
            </a:solidFill>
            <a:ln w="38100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2" name="TextBox 4">
              <a:extLst>
                <a:ext uri="{FF2B5EF4-FFF2-40B4-BE49-F238E27FC236}">
                  <a16:creationId xmlns:a16="http://schemas.microsoft.com/office/drawing/2014/main" id="{ABBDEBF5-3FE0-4D52-CEAA-C0D2D8BE3013}"/>
                </a:ext>
              </a:extLst>
            </p:cNvPr>
            <p:cNvSpPr txBox="1"/>
            <p:nvPr/>
          </p:nvSpPr>
          <p:spPr>
            <a:xfrm>
              <a:off x="58889" y="38100"/>
              <a:ext cx="510375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0970A65-480F-9672-D467-55CB96DC0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1294" y="1834107"/>
            <a:ext cx="4392535" cy="3772760"/>
          </a:xfrm>
          <a:prstGeom prst="rect">
            <a:avLst/>
          </a:prstGeom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94D06484-3012-FFEE-7C8D-16E83AAE770C}"/>
              </a:ext>
            </a:extLst>
          </p:cNvPr>
          <p:cNvSpPr/>
          <p:nvPr/>
        </p:nvSpPr>
        <p:spPr>
          <a:xfrm>
            <a:off x="-906431" y="5143500"/>
            <a:ext cx="7657999" cy="1512455"/>
          </a:xfrm>
          <a:custGeom>
            <a:avLst/>
            <a:gdLst/>
            <a:ahLst/>
            <a:cxnLst/>
            <a:rect l="l" t="t" r="r" b="b"/>
            <a:pathLst>
              <a:path w="7657999" h="1512455">
                <a:moveTo>
                  <a:pt x="0" y="0"/>
                </a:moveTo>
                <a:lnTo>
                  <a:pt x="7657999" y="0"/>
                </a:lnTo>
                <a:lnTo>
                  <a:pt x="7657999" y="1512455"/>
                </a:lnTo>
                <a:lnTo>
                  <a:pt x="0" y="1512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9CAD0E5-C1B2-D733-3AF4-234C149FFAC5}"/>
                  </a:ext>
                </a:extLst>
              </p14:cNvPr>
              <p14:cNvContentPartPr/>
              <p14:nvPr/>
            </p14:nvContentPartPr>
            <p14:xfrm>
              <a:off x="13788280" y="4803886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9CAD0E5-C1B2-D733-3AF4-234C149FFA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70280" y="4786246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7C404A8-9DF1-9375-FA31-30512DBAEB00}"/>
              </a:ext>
            </a:extLst>
          </p:cNvPr>
          <p:cNvSpPr txBox="1"/>
          <p:nvPr/>
        </p:nvSpPr>
        <p:spPr>
          <a:xfrm>
            <a:off x="4788080" y="2394344"/>
            <a:ext cx="9637245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600" b="1" i="0" dirty="0">
                <a:solidFill>
                  <a:srgbClr val="00B0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Merci</a:t>
            </a:r>
            <a:r>
              <a:rPr lang="fr-MA" sz="9600" b="1" i="0" dirty="0">
                <a:solidFill>
                  <a:srgbClr val="00B0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fr-MA" sz="3600" b="1" i="0" dirty="0">
                <a:solidFill>
                  <a:srgbClr val="00B0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                Pour        </a:t>
            </a:r>
          </a:p>
          <a:p>
            <a:r>
              <a:rPr lang="fr-MA" sz="3600" b="1" i="0" dirty="0">
                <a:solidFill>
                  <a:srgbClr val="00B0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                  Votre </a:t>
            </a:r>
          </a:p>
          <a:p>
            <a:r>
              <a:rPr lang="fr-MA" sz="3600" b="1" i="0" dirty="0">
                <a:solidFill>
                  <a:srgbClr val="00B0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                     Attention</a:t>
            </a:r>
            <a:endParaRPr lang="fr-MA" sz="3600" dirty="0">
              <a:solidFill>
                <a:srgbClr val="00B05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81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445</TotalTime>
  <Words>819</Words>
  <Application>Microsoft Office PowerPoint</Application>
  <PresentationFormat>Custom</PresentationFormat>
  <Paragraphs>141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Canva Sans Bold Italics</vt:lpstr>
      <vt:lpstr>Wingdings</vt:lpstr>
      <vt:lpstr>Arial</vt:lpstr>
      <vt:lpstr>Poppins</vt:lpstr>
      <vt:lpstr>Canva Sans</vt:lpstr>
      <vt:lpstr>Open Sauce Bold</vt:lpstr>
      <vt:lpstr>Open Sans Extra Bold</vt:lpstr>
      <vt:lpstr>Century Gothic Paneuropean Bold</vt:lpstr>
      <vt:lpstr>Baskerville Old Face</vt:lpstr>
      <vt:lpstr>Canva Sans Bold</vt:lpstr>
      <vt:lpstr>Calibri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Yassine</dc:creator>
  <cp:lastModifiedBy>ELKORTIH YASSINE</cp:lastModifiedBy>
  <cp:revision>18</cp:revision>
  <dcterms:created xsi:type="dcterms:W3CDTF">2006-08-16T00:00:00Z</dcterms:created>
  <dcterms:modified xsi:type="dcterms:W3CDTF">2026-05-12T16:49:52Z</dcterms:modified>
  <dc:identifier>DAGlMZnrUM0</dc:identifier>
</cp:coreProperties>
</file>