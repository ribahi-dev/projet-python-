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75" r:id="rId9"/>
    <p:sldId id="263" r:id="rId10"/>
    <p:sldId id="264" r:id="rId11"/>
    <p:sldId id="276" r:id="rId12"/>
    <p:sldId id="265" r:id="rId13"/>
    <p:sldId id="277" r:id="rId14"/>
    <p:sldId id="266" r:id="rId15"/>
    <p:sldId id="267" r:id="rId16"/>
    <p:sldId id="268" r:id="rId17"/>
    <p:sldId id="269" r:id="rId18"/>
    <p:sldId id="270" r:id="rId19"/>
    <p:sldId id="271" r:id="rId20"/>
    <p:sldId id="272" r:id="rId21"/>
    <p:sldId id="273" r:id="rId22"/>
    <p:sldId id="274"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Style à thème 1 - Accentuation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1" d="100"/>
          <a:sy n="91" d="100"/>
        </p:scale>
        <p:origin x="5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8722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
« Bonjour à tous. Je suis [Prénom NOM], et avec mon collègue [Prénom NOM], nous allons vous présenter notre projet : une application web complète de coaching fitness, développée dans le cadre du module Développement Web Avancé.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Avant de présenter la solution technique, je vais vous exposer le contexte. De nombreux coachs sportifs manquent d'outils professionnels pour gérer leur activité en ligne. Notre application répond directement à ce besoin.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Notre application vise six objectifs principaux. Chacun correspond à un module développé dans l'application. Voyons maintenant comment nous avons conçu l'architecture pour répondre à ces objectifs.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L'architecture de notre application est de type client-serveur. Le frontend React envoie des requêtes HTTP à l'API Django, qui traite les données et retourne des réponses JSON. L'authentification se fait par token JWT à chaque requête.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Nous avons choisi des technologies modernes et largement adoptées dans le monde professionnel. React pour le frontend, Django et DRF pour le backend, JWT pour la sécurité, et Swagger pour documenter notre API.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Notre système implique trois acteurs principaux avec des droits distincts. Le client consulte et interagit avec son suivi. Le coach gère les contenus. L'administrateur supervise tout depuis le back-office Django.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Ce diagramme montre les cas d'utilisation pour chaque acteur. On voit clairement que le client et le coach ont des accès très différents dans l'application.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Notre diagramme de classes identifie 8 modèles principaux. Chaque modèle correspond à une table en base de données via l'ORM de Django. Les relations entre ces modèles gèrent les associations entre utilisateurs, programmes et contenus.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Voici le processus d'authentification. L'utilisateur envoie ses identifiants, Django les vérifie et retourne deux tokens. Le token d'accès est utilisé pour toutes les requêtes suivantes. Quand il expire, le refresh token permet d'en obtenir un nouveau.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Le processus de paiement se déroule en 6 étapes. La commande est d'abord créée avec un statut en attente, puis validée après traitement. L'historique est automatiquement mis à jour pour le client et le coach.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Voici la page d'accueil de notre application. Elle présente clairement le service proposé et donne accès aux pages d'inscription et de connexion. Le design est volontairement simple et moderne pour donner une bonne première impression.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Le module des programmes est le cœur de l'application. Le coach peut créer des programmes, y ajouter des exercices et les assigner à ses clients. Côté client, l'interface permet de consulter le programme en détail avec toutes les informations nécessaires.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Le dashboard client centralise toutes les informations importantes en une seule page. Le client voit son programme actif, ses prochains rendez-vous, ses messages et sa progression. L'idée était de réduire les clics et d'améliorer l'expérience utilisateur.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Le dashboard coach lui donne une vue d'ensemble de son activité : ses clients, ses RDV à venir, ses messages en attente. C'est l'interface principale depuis laquelle il gère l'ensemble de son travail sur la plateforme.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Ces deux modules sont essentiels pour la relation coach-client. Les rendez-vous ont un système de statuts : le client demande, le coach confirme ou refuse. La messagerie permet une communication directe, un peu comme une messagerie classique mais intégrée à la plateforme.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Nous avons documenté toute notre API avec Swagger. Cette interface permet à n'importe quel développeur de comprendre et de tester nos endpoints sans avoir à lire le code source. C'est un standard dans les projets professionnels.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La sécurité était une priorité dans notre projet. Nous avons utilisé JWT pour l'authentification et défini des permissions précises pour chaque rôle. Un coach, par exemple, ne peut voir que les données de ses propres clients.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 À L'ORAL :
« Comme tout projet, nous avons rencontré des obstacles techniques. Je vais en citer les quatre principales. Le plus difficile était la gestion des CORS et du renouvellement automatique des tokens JWT côté React. Ces problèmes nous ont appris à lire la documentation et à chercher des solutions de manière autonome.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 Pour conclure, ce projet nous a permis de couvrir un cycle complet de développement web : de l'analyse des besoins jusqu'à la réalisation d'une application fonctionnelle et sécurisée. Nous avons acquis des compétences techniques solides et appris à travailler en équipe. Nous restons ouverts à vos questions.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4A261"/>
          </a:solidFill>
          <a:ln w="12700">
            <a:solidFill>
              <a:srgbClr val="F4A261"/>
            </a:solidFill>
            <a:prstDash val="solid"/>
          </a:ln>
        </p:spPr>
      </p:sp>
      <p:sp>
        <p:nvSpPr>
          <p:cNvPr id="3" name="Text 1"/>
          <p:cNvSpPr/>
          <p:nvPr/>
        </p:nvSpPr>
        <p:spPr>
          <a:xfrm>
            <a:off x="365760" y="320040"/>
            <a:ext cx="8412480" cy="320040"/>
          </a:xfrm>
          <a:prstGeom prst="rect">
            <a:avLst/>
          </a:prstGeom>
          <a:noFill/>
          <a:ln/>
        </p:spPr>
        <p:txBody>
          <a:bodyPr wrap="square" rtlCol="0" anchor="ctr"/>
          <a:lstStyle/>
          <a:p>
            <a:pPr marL="0" indent="0" algn="l">
              <a:buNone/>
            </a:pPr>
            <a:r>
              <a:rPr lang="en-US" sz="1300" b="1" kern="0" spc="400" dirty="0">
                <a:solidFill>
                  <a:srgbClr val="F4A261"/>
                </a:solidFill>
                <a:latin typeface="Calibri" pitchFamily="34" charset="0"/>
                <a:ea typeface="Calibri" pitchFamily="34" charset="-122"/>
                <a:cs typeface="Calibri" pitchFamily="34" charset="-120"/>
              </a:rPr>
              <a:t>EMSI — CASABLANCA</a:t>
            </a:r>
            <a:endParaRPr lang="en-US" sz="1300" dirty="0"/>
          </a:p>
        </p:txBody>
      </p:sp>
      <p:sp>
        <p:nvSpPr>
          <p:cNvPr id="4" name="Text 2"/>
          <p:cNvSpPr/>
          <p:nvPr/>
        </p:nvSpPr>
        <p:spPr>
          <a:xfrm>
            <a:off x="365760" y="621792"/>
            <a:ext cx="8412480" cy="256032"/>
          </a:xfrm>
          <a:prstGeom prst="rect">
            <a:avLst/>
          </a:prstGeom>
          <a:noFill/>
          <a:ln/>
        </p:spPr>
        <p:txBody>
          <a:bodyPr wrap="square" rtlCol="0" anchor="ctr"/>
          <a:lstStyle/>
          <a:p>
            <a:pPr marL="0" indent="0" algn="l">
              <a:buNone/>
            </a:pPr>
            <a:r>
              <a:rPr lang="en-US" sz="1100" i="1" dirty="0">
                <a:solidFill>
                  <a:srgbClr val="AAAAAA"/>
                </a:solidFill>
                <a:latin typeface="Calibri" pitchFamily="34" charset="0"/>
                <a:ea typeface="Calibri" pitchFamily="34" charset="-122"/>
                <a:cs typeface="Calibri" pitchFamily="34" charset="-120"/>
              </a:rPr>
              <a:t>Année </a:t>
            </a:r>
            <a:r>
              <a:rPr lang="en-US" sz="1100" i="1" dirty="0" err="1">
                <a:solidFill>
                  <a:srgbClr val="AAAAAA"/>
                </a:solidFill>
                <a:latin typeface="Calibri" pitchFamily="34" charset="0"/>
                <a:ea typeface="Calibri" pitchFamily="34" charset="-122"/>
                <a:cs typeface="Calibri" pitchFamily="34" charset="-120"/>
              </a:rPr>
              <a:t>universitaire</a:t>
            </a:r>
            <a:r>
              <a:rPr lang="en-US" sz="1100" i="1" dirty="0">
                <a:solidFill>
                  <a:srgbClr val="AAAAAA"/>
                </a:solidFill>
                <a:latin typeface="Calibri" pitchFamily="34" charset="0"/>
                <a:ea typeface="Calibri" pitchFamily="34" charset="-122"/>
                <a:cs typeface="Calibri" pitchFamily="34" charset="-120"/>
              </a:rPr>
              <a:t> </a:t>
            </a:r>
            <a:r>
              <a:rPr lang="en-US" sz="1100" i="1" dirty="0" smtClean="0">
                <a:solidFill>
                  <a:srgbClr val="AAAAAA"/>
                </a:solidFill>
                <a:latin typeface="Calibri" pitchFamily="34" charset="0"/>
                <a:ea typeface="Calibri" pitchFamily="34" charset="-122"/>
                <a:cs typeface="Calibri" pitchFamily="34" charset="-120"/>
              </a:rPr>
              <a:t>2025 </a:t>
            </a:r>
            <a:r>
              <a:rPr lang="en-US" sz="1100" i="1" dirty="0">
                <a:solidFill>
                  <a:srgbClr val="AAAAAA"/>
                </a:solidFill>
                <a:latin typeface="Calibri" pitchFamily="34" charset="0"/>
                <a:ea typeface="Calibri" pitchFamily="34" charset="-122"/>
                <a:cs typeface="Calibri" pitchFamily="34" charset="-120"/>
              </a:rPr>
              <a:t>/ </a:t>
            </a:r>
            <a:r>
              <a:rPr lang="en-US" sz="1100" i="1" dirty="0" smtClean="0">
                <a:solidFill>
                  <a:srgbClr val="AAAAAA"/>
                </a:solidFill>
                <a:latin typeface="Calibri" pitchFamily="34" charset="0"/>
                <a:ea typeface="Calibri" pitchFamily="34" charset="-122"/>
                <a:cs typeface="Calibri" pitchFamily="34" charset="-120"/>
              </a:rPr>
              <a:t>2026</a:t>
            </a:r>
            <a:endParaRPr lang="en-US" sz="1100" dirty="0"/>
          </a:p>
        </p:txBody>
      </p:sp>
      <p:sp>
        <p:nvSpPr>
          <p:cNvPr id="5" name="Text 3"/>
          <p:cNvSpPr/>
          <p:nvPr/>
        </p:nvSpPr>
        <p:spPr>
          <a:xfrm>
            <a:off x="365760" y="1051560"/>
            <a:ext cx="6858000" cy="1737360"/>
          </a:xfrm>
          <a:prstGeom prst="rect">
            <a:avLst/>
          </a:prstGeom>
          <a:noFill/>
          <a:ln/>
        </p:spPr>
        <p:txBody>
          <a:bodyPr wrap="square" rtlCol="0" anchor="t"/>
          <a:lstStyle/>
          <a:p>
            <a:pPr marL="0" indent="0" algn="l">
              <a:buNone/>
            </a:pPr>
            <a:r>
              <a:rPr lang="en-US" sz="4000" b="1" dirty="0">
                <a:solidFill>
                  <a:srgbClr val="FFFFFF"/>
                </a:solidFill>
                <a:latin typeface="Calibri" pitchFamily="34" charset="0"/>
                <a:ea typeface="Calibri" pitchFamily="34" charset="-122"/>
                <a:cs typeface="Calibri" pitchFamily="34" charset="-120"/>
              </a:rPr>
              <a:t>Application Web de</a:t>
            </a:r>
            <a:endParaRPr lang="en-US" sz="4000" dirty="0"/>
          </a:p>
          <a:p>
            <a:pPr marL="0" indent="0" algn="l">
              <a:buNone/>
            </a:pPr>
            <a:r>
              <a:rPr lang="en-US" sz="4000" b="1" dirty="0">
                <a:solidFill>
                  <a:srgbClr val="FFFFFF"/>
                </a:solidFill>
                <a:latin typeface="Calibri" pitchFamily="34" charset="0"/>
                <a:ea typeface="Calibri" pitchFamily="34" charset="-122"/>
                <a:cs typeface="Calibri" pitchFamily="34" charset="-120"/>
              </a:rPr>
              <a:t>Coaching Fitness</a:t>
            </a:r>
            <a:endParaRPr lang="en-US" sz="4000" dirty="0"/>
          </a:p>
        </p:txBody>
      </p:sp>
      <p:sp>
        <p:nvSpPr>
          <p:cNvPr id="6" name="Text 4"/>
          <p:cNvSpPr/>
          <p:nvPr/>
        </p:nvSpPr>
        <p:spPr>
          <a:xfrm>
            <a:off x="365760" y="2743200"/>
            <a:ext cx="6858000" cy="640080"/>
          </a:xfrm>
          <a:prstGeom prst="rect">
            <a:avLst/>
          </a:prstGeom>
          <a:noFill/>
          <a:ln/>
        </p:spPr>
        <p:txBody>
          <a:bodyPr wrap="square" rtlCol="0" anchor="ctr"/>
          <a:lstStyle/>
          <a:p>
            <a:pPr marL="0" indent="0" algn="l">
              <a:buNone/>
            </a:pPr>
            <a:r>
              <a:rPr lang="en-US" sz="1300" i="1" dirty="0">
                <a:solidFill>
                  <a:srgbClr val="AAAAAA"/>
                </a:solidFill>
                <a:latin typeface="Calibri" pitchFamily="34" charset="0"/>
                <a:ea typeface="Calibri" pitchFamily="34" charset="-122"/>
                <a:cs typeface="Calibri" pitchFamily="34" charset="-120"/>
              </a:rPr>
              <a:t>Plateforme complète de gestion fitness : programmes, nutrition,</a:t>
            </a:r>
            <a:endParaRPr lang="en-US" sz="1300" dirty="0"/>
          </a:p>
          <a:p>
            <a:pPr marL="0" indent="0" algn="l">
              <a:buNone/>
            </a:pPr>
            <a:r>
              <a:rPr lang="en-US" sz="1300" i="1" dirty="0">
                <a:solidFill>
                  <a:srgbClr val="AAAAAA"/>
                </a:solidFill>
                <a:latin typeface="Calibri" pitchFamily="34" charset="0"/>
                <a:ea typeface="Calibri" pitchFamily="34" charset="-122"/>
                <a:cs typeface="Calibri" pitchFamily="34" charset="-120"/>
              </a:rPr>
              <a:t>rendez-vous, messagerie et suivi de progression</a:t>
            </a:r>
            <a:endParaRPr lang="en-US" sz="1300" dirty="0"/>
          </a:p>
        </p:txBody>
      </p:sp>
      <p:sp>
        <p:nvSpPr>
          <p:cNvPr id="7" name="Shape 5"/>
          <p:cNvSpPr/>
          <p:nvPr/>
        </p:nvSpPr>
        <p:spPr>
          <a:xfrm>
            <a:off x="365760" y="3474720"/>
            <a:ext cx="2743200" cy="27432"/>
          </a:xfrm>
          <a:prstGeom prst="rect">
            <a:avLst/>
          </a:prstGeom>
          <a:solidFill>
            <a:srgbClr val="2E86AB"/>
          </a:solidFill>
          <a:ln w="12700">
            <a:solidFill>
              <a:srgbClr val="2E86AB"/>
            </a:solidFill>
            <a:prstDash val="solid"/>
          </a:ln>
        </p:spPr>
      </p:sp>
      <p:sp>
        <p:nvSpPr>
          <p:cNvPr id="8" name="Text 6"/>
          <p:cNvSpPr/>
          <p:nvPr/>
        </p:nvSpPr>
        <p:spPr>
          <a:xfrm>
            <a:off x="365760" y="3611880"/>
            <a:ext cx="8412480" cy="292608"/>
          </a:xfrm>
          <a:prstGeom prst="rect">
            <a:avLst/>
          </a:prstGeom>
          <a:noFill/>
          <a:ln/>
        </p:spPr>
        <p:txBody>
          <a:bodyPr wrap="square" rtlCol="0" anchor="ctr"/>
          <a:lstStyle/>
          <a:p>
            <a:pPr marL="0" indent="0" algn="l">
              <a:buNone/>
            </a:pPr>
            <a:r>
              <a:rPr lang="en-US" sz="1300" b="1" dirty="0" smtClean="0">
                <a:solidFill>
                  <a:srgbClr val="FFFFFF"/>
                </a:solidFill>
                <a:latin typeface="Calibri" pitchFamily="34" charset="0"/>
                <a:ea typeface="Calibri" pitchFamily="34" charset="-122"/>
                <a:cs typeface="Calibri" pitchFamily="34" charset="-120"/>
              </a:rPr>
              <a:t>Tazi </a:t>
            </a:r>
            <a:r>
              <a:rPr lang="en-US" sz="1300" b="1" dirty="0" err="1" smtClean="0">
                <a:solidFill>
                  <a:srgbClr val="FFFFFF"/>
                </a:solidFill>
                <a:latin typeface="Calibri" pitchFamily="34" charset="0"/>
                <a:ea typeface="Calibri" pitchFamily="34" charset="-122"/>
                <a:cs typeface="Calibri" pitchFamily="34" charset="-120"/>
              </a:rPr>
              <a:t>Ayoub</a:t>
            </a:r>
            <a:r>
              <a:rPr lang="en-US" sz="1300" b="1" dirty="0" smtClean="0">
                <a:solidFill>
                  <a:srgbClr val="FFFFFF"/>
                </a:solidFill>
                <a:latin typeface="Calibri" pitchFamily="34" charset="0"/>
                <a:ea typeface="Calibri" pitchFamily="34" charset="-122"/>
                <a:cs typeface="Calibri" pitchFamily="34" charset="-120"/>
              </a:rPr>
              <a:t> </a:t>
            </a:r>
            <a:r>
              <a:rPr lang="en-US" sz="1300" b="1" dirty="0">
                <a:solidFill>
                  <a:srgbClr val="FFFFFF"/>
                </a:solidFill>
                <a:latin typeface="Calibri" pitchFamily="34" charset="0"/>
                <a:ea typeface="Calibri" pitchFamily="34" charset="-122"/>
                <a:cs typeface="Calibri" pitchFamily="34" charset="-120"/>
              </a:rPr>
              <a:t>— </a:t>
            </a:r>
            <a:r>
              <a:rPr lang="en-US" sz="1300" b="1" dirty="0" smtClean="0">
                <a:solidFill>
                  <a:srgbClr val="FFFFFF"/>
                </a:solidFill>
                <a:latin typeface="Calibri" pitchFamily="34" charset="0"/>
                <a:ea typeface="Calibri" pitchFamily="34" charset="-122"/>
                <a:cs typeface="Calibri" pitchFamily="34" charset="-120"/>
              </a:rPr>
              <a:t>El </a:t>
            </a:r>
            <a:r>
              <a:rPr lang="en-US" sz="1300" b="1" dirty="0" err="1" smtClean="0">
                <a:solidFill>
                  <a:srgbClr val="FFFFFF"/>
                </a:solidFill>
                <a:latin typeface="Calibri" pitchFamily="34" charset="0"/>
                <a:ea typeface="Calibri" pitchFamily="34" charset="-122"/>
                <a:cs typeface="Calibri" pitchFamily="34" charset="-120"/>
              </a:rPr>
              <a:t>Azzaoui</a:t>
            </a:r>
            <a:r>
              <a:rPr lang="en-US" sz="1300" b="1" dirty="0" smtClean="0">
                <a:solidFill>
                  <a:srgbClr val="FFFFFF"/>
                </a:solidFill>
                <a:latin typeface="Calibri" pitchFamily="34" charset="0"/>
                <a:ea typeface="Calibri" pitchFamily="34" charset="-122"/>
                <a:cs typeface="Calibri" pitchFamily="34" charset="-120"/>
              </a:rPr>
              <a:t> </a:t>
            </a:r>
            <a:r>
              <a:rPr lang="en-US" sz="1300" b="1" dirty="0" err="1" smtClean="0">
                <a:solidFill>
                  <a:srgbClr val="FFFFFF"/>
                </a:solidFill>
                <a:latin typeface="Calibri" pitchFamily="34" charset="0"/>
                <a:ea typeface="Calibri" pitchFamily="34" charset="-122"/>
                <a:cs typeface="Calibri" pitchFamily="34" charset="-120"/>
              </a:rPr>
              <a:t>Marwa</a:t>
            </a:r>
            <a:endParaRPr lang="en-US" sz="1300" dirty="0"/>
          </a:p>
        </p:txBody>
      </p:sp>
      <p:sp>
        <p:nvSpPr>
          <p:cNvPr id="9" name="Text 7"/>
          <p:cNvSpPr/>
          <p:nvPr/>
        </p:nvSpPr>
        <p:spPr>
          <a:xfrm>
            <a:off x="365760" y="3913632"/>
            <a:ext cx="8412480" cy="256032"/>
          </a:xfrm>
          <a:prstGeom prst="rect">
            <a:avLst/>
          </a:prstGeom>
          <a:noFill/>
          <a:ln/>
        </p:spPr>
        <p:txBody>
          <a:bodyPr wrap="square" rtlCol="0" anchor="ctr"/>
          <a:lstStyle/>
          <a:p>
            <a:pPr marL="0" indent="0" algn="l">
              <a:buNone/>
            </a:pPr>
            <a:r>
              <a:rPr lang="en-US" sz="1100" i="1" dirty="0">
                <a:solidFill>
                  <a:srgbClr val="AAAAAA"/>
                </a:solidFill>
                <a:latin typeface="Calibri" pitchFamily="34" charset="0"/>
                <a:ea typeface="Calibri" pitchFamily="34" charset="-122"/>
                <a:cs typeface="Calibri" pitchFamily="34" charset="-120"/>
              </a:rPr>
              <a:t>Encadrant : </a:t>
            </a:r>
            <a:r>
              <a:rPr lang="en-US" sz="1100" i="1" dirty="0" err="1" smtClean="0">
                <a:solidFill>
                  <a:srgbClr val="AAAAAA"/>
                </a:solidFill>
                <a:latin typeface="Calibri" pitchFamily="34" charset="0"/>
                <a:ea typeface="Calibri" pitchFamily="34" charset="-122"/>
                <a:cs typeface="Calibri" pitchFamily="34" charset="-120"/>
              </a:rPr>
              <a:t>Kassid</a:t>
            </a:r>
            <a:r>
              <a:rPr lang="en-US" sz="1100" i="1" dirty="0" smtClean="0">
                <a:solidFill>
                  <a:srgbClr val="AAAAAA"/>
                </a:solidFill>
                <a:latin typeface="Calibri" pitchFamily="34" charset="0"/>
                <a:ea typeface="Calibri" pitchFamily="34" charset="-122"/>
                <a:cs typeface="Calibri" pitchFamily="34" charset="-120"/>
              </a:rPr>
              <a:t> </a:t>
            </a:r>
            <a:r>
              <a:rPr lang="en-US" sz="1100" i="1" dirty="0" err="1" smtClean="0">
                <a:solidFill>
                  <a:srgbClr val="AAAAAA"/>
                </a:solidFill>
                <a:latin typeface="Calibri" pitchFamily="34" charset="0"/>
                <a:ea typeface="Calibri" pitchFamily="34" charset="-122"/>
                <a:cs typeface="Calibri" pitchFamily="34" charset="-120"/>
              </a:rPr>
              <a:t>Assmaa</a:t>
            </a:r>
            <a:endParaRPr lang="en-US" sz="1100" dirty="0"/>
          </a:p>
        </p:txBody>
      </p:sp>
      <p:sp>
        <p:nvSpPr>
          <p:cNvPr id="10" name="Shape 8"/>
          <p:cNvSpPr/>
          <p:nvPr/>
        </p:nvSpPr>
        <p:spPr>
          <a:xfrm>
            <a:off x="7132320" y="914400"/>
            <a:ext cx="2286000" cy="2286000"/>
          </a:xfrm>
          <a:prstGeom prst="ellipse">
            <a:avLst/>
          </a:prstGeom>
          <a:solidFill>
            <a:srgbClr val="2E86AB">
              <a:alpha val="25000"/>
            </a:srgbClr>
          </a:solidFill>
          <a:ln w="12700">
            <a:solidFill>
              <a:srgbClr val="2E86AB">
                <a:alpha val="50000"/>
              </a:srgbClr>
            </a:solidFill>
            <a:prstDash val="solid"/>
          </a:ln>
        </p:spPr>
      </p:sp>
      <p:sp>
        <p:nvSpPr>
          <p:cNvPr id="11" name="Shape 9"/>
          <p:cNvSpPr/>
          <p:nvPr/>
        </p:nvSpPr>
        <p:spPr>
          <a:xfrm>
            <a:off x="7589520" y="2560320"/>
            <a:ext cx="1371600" cy="1371600"/>
          </a:xfrm>
          <a:prstGeom prst="ellipse">
            <a:avLst/>
          </a:prstGeom>
          <a:solidFill>
            <a:srgbClr val="F4A261">
              <a:alpha val="20000"/>
            </a:srgbClr>
          </a:solidFill>
          <a:ln w="12700">
            <a:solidFill>
              <a:srgbClr val="F4A261">
                <a:alpha val="40000"/>
              </a:srgbClr>
            </a:solidFill>
            <a:prstDash val="solid"/>
          </a:ln>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Contexte &amp; Problématique</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2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2 / 19</a:t>
            </a:r>
            <a:endParaRPr lang="en-US" sz="900" dirty="0"/>
          </a:p>
        </p:txBody>
      </p:sp>
      <p:sp>
        <p:nvSpPr>
          <p:cNvPr id="6" name="Shape 4"/>
          <p:cNvSpPr/>
          <p:nvPr/>
        </p:nvSpPr>
        <p:spPr>
          <a:xfrm>
            <a:off x="274320" y="1097280"/>
            <a:ext cx="3931920" cy="1463040"/>
          </a:xfrm>
          <a:prstGeom prst="rect">
            <a:avLst/>
          </a:prstGeom>
          <a:solidFill>
            <a:srgbClr val="FFFFFF"/>
          </a:solidFill>
          <a:ln w="12700">
            <a:solidFill>
              <a:srgbClr val="E0E8F0"/>
            </a:solidFill>
            <a:prstDash val="solid"/>
          </a:ln>
          <a:effectLst>
            <a:outerShdw blurRad="101600" dist="38100" dir="8100000" algn="bl" rotWithShape="0">
              <a:srgbClr val="000000">
                <a:alpha val="12000"/>
              </a:srgbClr>
            </a:outerShdw>
          </a:effectLst>
        </p:spPr>
      </p:sp>
      <p:sp>
        <p:nvSpPr>
          <p:cNvPr id="7" name="Shape 5"/>
          <p:cNvSpPr/>
          <p:nvPr/>
        </p:nvSpPr>
        <p:spPr>
          <a:xfrm>
            <a:off x="274320" y="1097280"/>
            <a:ext cx="54864" cy="1463040"/>
          </a:xfrm>
          <a:prstGeom prst="rect">
            <a:avLst/>
          </a:prstGeom>
          <a:solidFill>
            <a:srgbClr val="2E86AB"/>
          </a:solidFill>
          <a:ln w="12700">
            <a:solidFill>
              <a:srgbClr val="2E86AB"/>
            </a:solidFill>
            <a:prstDash val="solid"/>
          </a:ln>
        </p:spPr>
      </p:sp>
      <p:sp>
        <p:nvSpPr>
          <p:cNvPr id="8" name="Text 6"/>
          <p:cNvSpPr/>
          <p:nvPr/>
        </p:nvSpPr>
        <p:spPr>
          <a:xfrm>
            <a:off x="384048" y="1188720"/>
            <a:ext cx="3749040" cy="25603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Contexte</a:t>
            </a:r>
            <a:endParaRPr lang="en-US" sz="1100" dirty="0"/>
          </a:p>
        </p:txBody>
      </p:sp>
      <p:sp>
        <p:nvSpPr>
          <p:cNvPr id="9" name="Text 7"/>
          <p:cNvSpPr/>
          <p:nvPr/>
        </p:nvSpPr>
        <p:spPr>
          <a:xfrm>
            <a:off x="384048" y="1463040"/>
            <a:ext cx="3749040" cy="960120"/>
          </a:xfrm>
          <a:prstGeom prst="rect">
            <a:avLst/>
          </a:prstGeom>
          <a:noFill/>
          <a:ln/>
        </p:spPr>
        <p:txBody>
          <a:bodyPr wrap="square" rtlCol="0" anchor="t"/>
          <a:lstStyle/>
          <a:p>
            <a:pPr marL="0" indent="0">
              <a:buNone/>
            </a:pPr>
            <a:r>
              <a:rPr lang="en-US" sz="1000" dirty="0">
                <a:solidFill>
                  <a:srgbClr val="444444"/>
                </a:solidFill>
                <a:latin typeface="Calibri" pitchFamily="34" charset="0"/>
                <a:ea typeface="Calibri" pitchFamily="34" charset="-122"/>
                <a:cs typeface="Calibri" pitchFamily="34" charset="-120"/>
              </a:rPr>
              <a:t>La demande de coaching sportif en ligne a explosé ces dernières années. Les coachs utilisent souvent plusieurs outils séparés (WhatsApp, Excel, PayPal) ce qui manque de professionnalisme.</a:t>
            </a:r>
            <a:endParaRPr lang="en-US" sz="1000" dirty="0"/>
          </a:p>
        </p:txBody>
      </p:sp>
      <p:sp>
        <p:nvSpPr>
          <p:cNvPr id="10" name="Shape 8"/>
          <p:cNvSpPr/>
          <p:nvPr/>
        </p:nvSpPr>
        <p:spPr>
          <a:xfrm>
            <a:off x="4663440" y="1097280"/>
            <a:ext cx="3931920" cy="1463040"/>
          </a:xfrm>
          <a:prstGeom prst="rect">
            <a:avLst/>
          </a:prstGeom>
          <a:solidFill>
            <a:srgbClr val="FFFFFF"/>
          </a:solidFill>
          <a:ln w="12700">
            <a:solidFill>
              <a:srgbClr val="E0E8F0"/>
            </a:solidFill>
            <a:prstDash val="solid"/>
          </a:ln>
          <a:effectLst>
            <a:outerShdw blurRad="101600" dist="38100" dir="8100000" algn="bl" rotWithShape="0">
              <a:srgbClr val="000000">
                <a:alpha val="12000"/>
              </a:srgbClr>
            </a:outerShdw>
          </a:effectLst>
        </p:spPr>
      </p:sp>
      <p:sp>
        <p:nvSpPr>
          <p:cNvPr id="11" name="Shape 9"/>
          <p:cNvSpPr/>
          <p:nvPr/>
        </p:nvSpPr>
        <p:spPr>
          <a:xfrm>
            <a:off x="4663440" y="1097280"/>
            <a:ext cx="54864" cy="1463040"/>
          </a:xfrm>
          <a:prstGeom prst="rect">
            <a:avLst/>
          </a:prstGeom>
          <a:solidFill>
            <a:srgbClr val="E74C3C"/>
          </a:solidFill>
          <a:ln w="12700">
            <a:solidFill>
              <a:srgbClr val="E74C3C"/>
            </a:solidFill>
            <a:prstDash val="solid"/>
          </a:ln>
        </p:spPr>
      </p:sp>
      <p:sp>
        <p:nvSpPr>
          <p:cNvPr id="12" name="Text 10"/>
          <p:cNvSpPr/>
          <p:nvPr/>
        </p:nvSpPr>
        <p:spPr>
          <a:xfrm>
            <a:off x="4773168" y="1188720"/>
            <a:ext cx="3749040" cy="25603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Problème identifié</a:t>
            </a:r>
            <a:endParaRPr lang="en-US" sz="1100" dirty="0"/>
          </a:p>
        </p:txBody>
      </p:sp>
      <p:sp>
        <p:nvSpPr>
          <p:cNvPr id="13" name="Text 11"/>
          <p:cNvSpPr/>
          <p:nvPr/>
        </p:nvSpPr>
        <p:spPr>
          <a:xfrm>
            <a:off x="4773168" y="1463040"/>
            <a:ext cx="3749040" cy="960120"/>
          </a:xfrm>
          <a:prstGeom prst="rect">
            <a:avLst/>
          </a:prstGeom>
          <a:noFill/>
          <a:ln/>
        </p:spPr>
        <p:txBody>
          <a:bodyPr wrap="square" rtlCol="0" anchor="t"/>
          <a:lstStyle/>
          <a:p>
            <a:pPr marL="0" indent="0">
              <a:buNone/>
            </a:pPr>
            <a:r>
              <a:rPr lang="en-US" sz="1000" dirty="0">
                <a:solidFill>
                  <a:srgbClr val="444444"/>
                </a:solidFill>
                <a:latin typeface="Calibri" pitchFamily="34" charset="0"/>
                <a:ea typeface="Calibri" pitchFamily="34" charset="-122"/>
                <a:cs typeface="Calibri" pitchFamily="34" charset="-120"/>
              </a:rPr>
              <a:t>Il n'existe pas de plateforme unique, abordable et complète, qui permette au coach de gérer ses clients, programmes, rendez-vous et paiements en un seul endroit.</a:t>
            </a:r>
            <a:endParaRPr lang="en-US" sz="1000" dirty="0"/>
          </a:p>
        </p:txBody>
      </p:sp>
      <p:sp>
        <p:nvSpPr>
          <p:cNvPr id="14" name="Shape 12"/>
          <p:cNvSpPr/>
          <p:nvPr/>
        </p:nvSpPr>
        <p:spPr>
          <a:xfrm>
            <a:off x="274320" y="2697480"/>
            <a:ext cx="8321040" cy="1371600"/>
          </a:xfrm>
          <a:prstGeom prst="rect">
            <a:avLst/>
          </a:prstGeom>
          <a:solidFill>
            <a:srgbClr val="FFFFFF"/>
          </a:solidFill>
          <a:ln w="12700">
            <a:solidFill>
              <a:srgbClr val="E0E8F0"/>
            </a:solidFill>
            <a:prstDash val="solid"/>
          </a:ln>
          <a:effectLst>
            <a:outerShdw blurRad="101600" dist="38100" dir="8100000" algn="bl" rotWithShape="0">
              <a:srgbClr val="000000">
                <a:alpha val="12000"/>
              </a:srgbClr>
            </a:outerShdw>
          </a:effectLst>
        </p:spPr>
      </p:sp>
      <p:sp>
        <p:nvSpPr>
          <p:cNvPr id="15" name="Shape 13"/>
          <p:cNvSpPr/>
          <p:nvPr/>
        </p:nvSpPr>
        <p:spPr>
          <a:xfrm>
            <a:off x="274320" y="2697480"/>
            <a:ext cx="54864" cy="1371600"/>
          </a:xfrm>
          <a:prstGeom prst="rect">
            <a:avLst/>
          </a:prstGeom>
          <a:solidFill>
            <a:srgbClr val="27AE60"/>
          </a:solidFill>
          <a:ln w="12700">
            <a:solidFill>
              <a:srgbClr val="27AE60"/>
            </a:solidFill>
            <a:prstDash val="solid"/>
          </a:ln>
        </p:spPr>
      </p:sp>
      <p:sp>
        <p:nvSpPr>
          <p:cNvPr id="16" name="Text 14"/>
          <p:cNvSpPr/>
          <p:nvPr/>
        </p:nvSpPr>
        <p:spPr>
          <a:xfrm>
            <a:off x="384048" y="2788920"/>
            <a:ext cx="8138160" cy="25603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Notre réponse</a:t>
            </a:r>
            <a:endParaRPr lang="en-US" sz="1100" dirty="0"/>
          </a:p>
        </p:txBody>
      </p:sp>
      <p:sp>
        <p:nvSpPr>
          <p:cNvPr id="17" name="Text 15"/>
          <p:cNvSpPr/>
          <p:nvPr/>
        </p:nvSpPr>
        <p:spPr>
          <a:xfrm>
            <a:off x="384048" y="3063240"/>
            <a:ext cx="8138160" cy="868680"/>
          </a:xfrm>
          <a:prstGeom prst="rect">
            <a:avLst/>
          </a:prstGeom>
          <a:noFill/>
          <a:ln/>
        </p:spPr>
        <p:txBody>
          <a:bodyPr wrap="square" rtlCol="0" anchor="t"/>
          <a:lstStyle/>
          <a:p>
            <a:pPr marL="0" indent="0">
              <a:buNone/>
            </a:pPr>
            <a:r>
              <a:rPr lang="en-US" sz="1000" dirty="0">
                <a:solidFill>
                  <a:srgbClr val="444444"/>
                </a:solidFill>
                <a:latin typeface="Calibri" pitchFamily="34" charset="0"/>
                <a:ea typeface="Calibri" pitchFamily="34" charset="-122"/>
                <a:cs typeface="Calibri" pitchFamily="34" charset="-120"/>
              </a:rPr>
              <a:t>Développer une application web full-stack avec React + Django REST Framework, offrant une expérience fluide pour les clients, les coachs et les administrateurs.</a:t>
            </a:r>
            <a:endParaRPr lang="en-US" sz="1000" dirty="0"/>
          </a:p>
        </p:txBody>
      </p:sp>
      <p:sp>
        <p:nvSpPr>
          <p:cNvPr id="18" name="Text 16"/>
          <p:cNvSpPr/>
          <p:nvPr/>
        </p:nvSpPr>
        <p:spPr>
          <a:xfrm>
            <a:off x="274320" y="4160520"/>
            <a:ext cx="8321040" cy="502920"/>
          </a:xfrm>
          <a:prstGeom prst="rect">
            <a:avLst/>
          </a:prstGeom>
          <a:noFill/>
          <a:ln/>
        </p:spPr>
        <p:txBody>
          <a:bodyPr wrap="square" rtlCol="0" anchor="ctr"/>
          <a:lstStyle/>
          <a:p>
            <a:pPr marL="0" indent="0" algn="ctr">
              <a:buNone/>
            </a:pP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Objectifs du projet</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3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3 / 19</a:t>
            </a:r>
            <a:endParaRPr lang="en-US" sz="900" dirty="0"/>
          </a:p>
        </p:txBody>
      </p:sp>
      <p:sp>
        <p:nvSpPr>
          <p:cNvPr id="6" name="Shape 4"/>
          <p:cNvSpPr/>
          <p:nvPr/>
        </p:nvSpPr>
        <p:spPr>
          <a:xfrm>
            <a:off x="274320" y="1143000"/>
            <a:ext cx="4114800" cy="914400"/>
          </a:xfrm>
          <a:prstGeom prst="rect">
            <a:avLst/>
          </a:prstGeom>
          <a:solidFill>
            <a:srgbClr val="EEF7FF"/>
          </a:solidFill>
          <a:ln w="12700">
            <a:solidFill>
              <a:srgbClr val="D0E8F5"/>
            </a:solidFill>
            <a:prstDash val="solid"/>
          </a:ln>
          <a:effectLst>
            <a:outerShdw blurRad="101600" dist="38100" dir="8100000" algn="bl" rotWithShape="0">
              <a:srgbClr val="000000">
                <a:alpha val="12000"/>
              </a:srgbClr>
            </a:outerShdw>
          </a:effectLst>
        </p:spPr>
      </p:sp>
      <p:sp>
        <p:nvSpPr>
          <p:cNvPr id="7" name="Shape 5"/>
          <p:cNvSpPr/>
          <p:nvPr/>
        </p:nvSpPr>
        <p:spPr>
          <a:xfrm>
            <a:off x="274320" y="1143000"/>
            <a:ext cx="45720" cy="914400"/>
          </a:xfrm>
          <a:prstGeom prst="rect">
            <a:avLst/>
          </a:prstGeom>
          <a:solidFill>
            <a:srgbClr val="2E86AB"/>
          </a:solidFill>
          <a:ln w="12700">
            <a:solidFill>
              <a:srgbClr val="2E86AB"/>
            </a:solidFill>
            <a:prstDash val="solid"/>
          </a:ln>
        </p:spPr>
      </p:sp>
      <p:sp>
        <p:nvSpPr>
          <p:cNvPr id="8" name="Text 6"/>
          <p:cNvSpPr/>
          <p:nvPr/>
        </p:nvSpPr>
        <p:spPr>
          <a:xfrm>
            <a:off x="384048" y="1216152"/>
            <a:ext cx="3840480" cy="292608"/>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Authentification sécurisée</a:t>
            </a:r>
            <a:endParaRPr lang="en-US" sz="1100" dirty="0"/>
          </a:p>
        </p:txBody>
      </p:sp>
      <p:sp>
        <p:nvSpPr>
          <p:cNvPr id="9" name="Text 7"/>
          <p:cNvSpPr/>
          <p:nvPr/>
        </p:nvSpPr>
        <p:spPr>
          <a:xfrm>
            <a:off x="384048" y="1527048"/>
            <a:ext cx="3840480" cy="45720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JWT + gestion des rôles client / coach / admin</a:t>
            </a:r>
            <a:endParaRPr lang="en-US" sz="1000" dirty="0"/>
          </a:p>
        </p:txBody>
      </p:sp>
      <p:sp>
        <p:nvSpPr>
          <p:cNvPr id="10" name="Shape 8"/>
          <p:cNvSpPr/>
          <p:nvPr/>
        </p:nvSpPr>
        <p:spPr>
          <a:xfrm>
            <a:off x="274320" y="2240280"/>
            <a:ext cx="4114800" cy="914400"/>
          </a:xfrm>
          <a:prstGeom prst="rect">
            <a:avLst/>
          </a:prstGeom>
          <a:solidFill>
            <a:srgbClr val="F5FAFF"/>
          </a:solidFill>
          <a:ln w="12700">
            <a:solidFill>
              <a:srgbClr val="D0E8F5"/>
            </a:solidFill>
            <a:prstDash val="solid"/>
          </a:ln>
          <a:effectLst>
            <a:outerShdw blurRad="101600" dist="38100" dir="8100000" algn="bl" rotWithShape="0">
              <a:srgbClr val="000000">
                <a:alpha val="12000"/>
              </a:srgbClr>
            </a:outerShdw>
          </a:effectLst>
        </p:spPr>
      </p:sp>
      <p:sp>
        <p:nvSpPr>
          <p:cNvPr id="11" name="Shape 9"/>
          <p:cNvSpPr/>
          <p:nvPr/>
        </p:nvSpPr>
        <p:spPr>
          <a:xfrm>
            <a:off x="274320" y="2240280"/>
            <a:ext cx="45720" cy="914400"/>
          </a:xfrm>
          <a:prstGeom prst="rect">
            <a:avLst/>
          </a:prstGeom>
          <a:solidFill>
            <a:srgbClr val="2E86AB"/>
          </a:solidFill>
          <a:ln w="12700">
            <a:solidFill>
              <a:srgbClr val="2E86AB"/>
            </a:solidFill>
            <a:prstDash val="solid"/>
          </a:ln>
        </p:spPr>
      </p:sp>
      <p:sp>
        <p:nvSpPr>
          <p:cNvPr id="12" name="Text 10"/>
          <p:cNvSpPr/>
          <p:nvPr/>
        </p:nvSpPr>
        <p:spPr>
          <a:xfrm>
            <a:off x="384048" y="2313432"/>
            <a:ext cx="3840480" cy="292608"/>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Gestion des programmes</a:t>
            </a:r>
            <a:endParaRPr lang="en-US" sz="1100" dirty="0"/>
          </a:p>
        </p:txBody>
      </p:sp>
      <p:sp>
        <p:nvSpPr>
          <p:cNvPr id="13" name="Text 11"/>
          <p:cNvSpPr/>
          <p:nvPr/>
        </p:nvSpPr>
        <p:spPr>
          <a:xfrm>
            <a:off x="384048" y="2624328"/>
            <a:ext cx="3840480" cy="457200"/>
          </a:xfrm>
          <a:prstGeom prst="rect">
            <a:avLst/>
          </a:prstGeom>
          <a:noFill/>
          <a:ln/>
        </p:spPr>
        <p:txBody>
          <a:bodyPr wrap="square" rtlCol="0" anchor="ctr"/>
          <a:lstStyle/>
          <a:p>
            <a:pPr marL="0" indent="0">
              <a:buNone/>
            </a:pPr>
            <a:r>
              <a:rPr lang="en-US" sz="1000" dirty="0" err="1" smtClean="0">
                <a:solidFill>
                  <a:srgbClr val="444444"/>
                </a:solidFill>
                <a:latin typeface="Calibri" pitchFamily="34" charset="0"/>
                <a:ea typeface="Calibri" pitchFamily="34" charset="-122"/>
                <a:cs typeface="Calibri" pitchFamily="34" charset="-120"/>
              </a:rPr>
              <a:t>Création</a:t>
            </a:r>
            <a:r>
              <a:rPr lang="en-US" sz="1000" dirty="0" smtClean="0">
                <a:solidFill>
                  <a:srgbClr val="444444"/>
                </a:solidFill>
                <a:latin typeface="Calibri" pitchFamily="34" charset="0"/>
                <a:ea typeface="Calibri" pitchFamily="34" charset="-122"/>
                <a:cs typeface="Calibri" pitchFamily="34" charset="-120"/>
              </a:rPr>
              <a:t> </a:t>
            </a:r>
            <a:r>
              <a:rPr lang="en-US" sz="1000" dirty="0">
                <a:solidFill>
                  <a:srgbClr val="444444"/>
                </a:solidFill>
                <a:latin typeface="Calibri" pitchFamily="34" charset="0"/>
                <a:ea typeface="Calibri" pitchFamily="34" charset="-122"/>
                <a:cs typeface="Calibri" pitchFamily="34" charset="-120"/>
              </a:rPr>
              <a:t>et suivi des programmes fitness</a:t>
            </a:r>
            <a:endParaRPr lang="en-US" sz="1000" dirty="0"/>
          </a:p>
        </p:txBody>
      </p:sp>
      <p:sp>
        <p:nvSpPr>
          <p:cNvPr id="14" name="Shape 12"/>
          <p:cNvSpPr/>
          <p:nvPr/>
        </p:nvSpPr>
        <p:spPr>
          <a:xfrm>
            <a:off x="274320" y="3337560"/>
            <a:ext cx="4114800" cy="914400"/>
          </a:xfrm>
          <a:prstGeom prst="rect">
            <a:avLst/>
          </a:prstGeom>
          <a:solidFill>
            <a:srgbClr val="EEF7FF"/>
          </a:solidFill>
          <a:ln w="12700">
            <a:solidFill>
              <a:srgbClr val="D0E8F5"/>
            </a:solidFill>
            <a:prstDash val="solid"/>
          </a:ln>
          <a:effectLst>
            <a:outerShdw blurRad="101600" dist="38100" dir="8100000" algn="bl" rotWithShape="0">
              <a:srgbClr val="000000">
                <a:alpha val="12000"/>
              </a:srgbClr>
            </a:outerShdw>
          </a:effectLst>
        </p:spPr>
      </p:sp>
      <p:sp>
        <p:nvSpPr>
          <p:cNvPr id="15" name="Shape 13"/>
          <p:cNvSpPr/>
          <p:nvPr/>
        </p:nvSpPr>
        <p:spPr>
          <a:xfrm>
            <a:off x="274320" y="3337560"/>
            <a:ext cx="45720" cy="914400"/>
          </a:xfrm>
          <a:prstGeom prst="rect">
            <a:avLst/>
          </a:prstGeom>
          <a:solidFill>
            <a:srgbClr val="2E86AB"/>
          </a:solidFill>
          <a:ln w="12700">
            <a:solidFill>
              <a:srgbClr val="2E86AB"/>
            </a:solidFill>
            <a:prstDash val="solid"/>
          </a:ln>
        </p:spPr>
      </p:sp>
      <p:sp>
        <p:nvSpPr>
          <p:cNvPr id="16" name="Text 14"/>
          <p:cNvSpPr/>
          <p:nvPr/>
        </p:nvSpPr>
        <p:spPr>
          <a:xfrm>
            <a:off x="384048" y="3410712"/>
            <a:ext cx="3840480" cy="292608"/>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Plans nutritionnels</a:t>
            </a:r>
            <a:endParaRPr lang="en-US" sz="1100" dirty="0"/>
          </a:p>
        </p:txBody>
      </p:sp>
      <p:sp>
        <p:nvSpPr>
          <p:cNvPr id="17" name="Text 15"/>
          <p:cNvSpPr/>
          <p:nvPr/>
        </p:nvSpPr>
        <p:spPr>
          <a:xfrm>
            <a:off x="384048" y="3721608"/>
            <a:ext cx="3840480" cy="45720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Plans personnalisés avec objectifs caloriques</a:t>
            </a:r>
            <a:endParaRPr lang="en-US" sz="1000" dirty="0"/>
          </a:p>
        </p:txBody>
      </p:sp>
      <p:sp>
        <p:nvSpPr>
          <p:cNvPr id="18" name="Shape 16"/>
          <p:cNvSpPr/>
          <p:nvPr/>
        </p:nvSpPr>
        <p:spPr>
          <a:xfrm>
            <a:off x="4663440" y="1143000"/>
            <a:ext cx="4114800" cy="914400"/>
          </a:xfrm>
          <a:prstGeom prst="rect">
            <a:avLst/>
          </a:prstGeom>
          <a:solidFill>
            <a:srgbClr val="F5FAFF"/>
          </a:solidFill>
          <a:ln w="12700">
            <a:solidFill>
              <a:srgbClr val="D0E8F5"/>
            </a:solidFill>
            <a:prstDash val="solid"/>
          </a:ln>
          <a:effectLst>
            <a:outerShdw blurRad="101600" dist="38100" dir="8100000" algn="bl" rotWithShape="0">
              <a:srgbClr val="000000">
                <a:alpha val="12000"/>
              </a:srgbClr>
            </a:outerShdw>
          </a:effectLst>
        </p:spPr>
      </p:sp>
      <p:sp>
        <p:nvSpPr>
          <p:cNvPr id="19" name="Shape 17"/>
          <p:cNvSpPr/>
          <p:nvPr/>
        </p:nvSpPr>
        <p:spPr>
          <a:xfrm>
            <a:off x="4663440" y="1143000"/>
            <a:ext cx="45720" cy="914400"/>
          </a:xfrm>
          <a:prstGeom prst="rect">
            <a:avLst/>
          </a:prstGeom>
          <a:solidFill>
            <a:srgbClr val="2E86AB"/>
          </a:solidFill>
          <a:ln w="12700">
            <a:solidFill>
              <a:srgbClr val="2E86AB"/>
            </a:solidFill>
            <a:prstDash val="solid"/>
          </a:ln>
        </p:spPr>
      </p:sp>
      <p:sp>
        <p:nvSpPr>
          <p:cNvPr id="20" name="Text 18"/>
          <p:cNvSpPr/>
          <p:nvPr/>
        </p:nvSpPr>
        <p:spPr>
          <a:xfrm>
            <a:off x="4773168" y="1216152"/>
            <a:ext cx="3840480" cy="292608"/>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Rendez-vous</a:t>
            </a:r>
            <a:endParaRPr lang="en-US" sz="1100" dirty="0"/>
          </a:p>
        </p:txBody>
      </p:sp>
      <p:sp>
        <p:nvSpPr>
          <p:cNvPr id="21" name="Text 19"/>
          <p:cNvSpPr/>
          <p:nvPr/>
        </p:nvSpPr>
        <p:spPr>
          <a:xfrm>
            <a:off x="4773168" y="1527048"/>
            <a:ext cx="3840480" cy="45720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Prise et confirmation des RDV entre coach et client</a:t>
            </a:r>
            <a:endParaRPr lang="en-US" sz="1000" dirty="0"/>
          </a:p>
        </p:txBody>
      </p:sp>
      <p:sp>
        <p:nvSpPr>
          <p:cNvPr id="22" name="Shape 20"/>
          <p:cNvSpPr/>
          <p:nvPr/>
        </p:nvSpPr>
        <p:spPr>
          <a:xfrm>
            <a:off x="4663440" y="2240280"/>
            <a:ext cx="4114800" cy="914400"/>
          </a:xfrm>
          <a:prstGeom prst="rect">
            <a:avLst/>
          </a:prstGeom>
          <a:solidFill>
            <a:srgbClr val="EEF7FF"/>
          </a:solidFill>
          <a:ln w="12700">
            <a:solidFill>
              <a:srgbClr val="D0E8F5"/>
            </a:solidFill>
            <a:prstDash val="solid"/>
          </a:ln>
          <a:effectLst>
            <a:outerShdw blurRad="101600" dist="38100" dir="8100000" algn="bl" rotWithShape="0">
              <a:srgbClr val="000000">
                <a:alpha val="12000"/>
              </a:srgbClr>
            </a:outerShdw>
          </a:effectLst>
        </p:spPr>
      </p:sp>
      <p:sp>
        <p:nvSpPr>
          <p:cNvPr id="23" name="Shape 21"/>
          <p:cNvSpPr/>
          <p:nvPr/>
        </p:nvSpPr>
        <p:spPr>
          <a:xfrm>
            <a:off x="4663440" y="2240280"/>
            <a:ext cx="45720" cy="914400"/>
          </a:xfrm>
          <a:prstGeom prst="rect">
            <a:avLst/>
          </a:prstGeom>
          <a:solidFill>
            <a:srgbClr val="2E86AB"/>
          </a:solidFill>
          <a:ln w="12700">
            <a:solidFill>
              <a:srgbClr val="2E86AB"/>
            </a:solidFill>
            <a:prstDash val="solid"/>
          </a:ln>
        </p:spPr>
      </p:sp>
      <p:sp>
        <p:nvSpPr>
          <p:cNvPr id="24" name="Text 22"/>
          <p:cNvSpPr/>
          <p:nvPr/>
        </p:nvSpPr>
        <p:spPr>
          <a:xfrm>
            <a:off x="4773168" y="2313432"/>
            <a:ext cx="3840480" cy="292608"/>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Messagerie</a:t>
            </a:r>
            <a:endParaRPr lang="en-US" sz="1100" dirty="0"/>
          </a:p>
        </p:txBody>
      </p:sp>
      <p:sp>
        <p:nvSpPr>
          <p:cNvPr id="25" name="Text 23"/>
          <p:cNvSpPr/>
          <p:nvPr/>
        </p:nvSpPr>
        <p:spPr>
          <a:xfrm>
            <a:off x="4773168" y="2624328"/>
            <a:ext cx="3840480" cy="45720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Communication directe coach-client intégrée</a:t>
            </a:r>
            <a:endParaRPr lang="en-US" sz="1000" dirty="0"/>
          </a:p>
        </p:txBody>
      </p:sp>
      <p:sp>
        <p:nvSpPr>
          <p:cNvPr id="26" name="Shape 24"/>
          <p:cNvSpPr/>
          <p:nvPr/>
        </p:nvSpPr>
        <p:spPr>
          <a:xfrm>
            <a:off x="4663440" y="3337560"/>
            <a:ext cx="4114800" cy="914400"/>
          </a:xfrm>
          <a:prstGeom prst="rect">
            <a:avLst/>
          </a:prstGeom>
          <a:solidFill>
            <a:srgbClr val="F5FAFF"/>
          </a:solidFill>
          <a:ln w="12700">
            <a:solidFill>
              <a:srgbClr val="D0E8F5"/>
            </a:solidFill>
            <a:prstDash val="solid"/>
          </a:ln>
          <a:effectLst>
            <a:outerShdw blurRad="101600" dist="38100" dir="8100000" algn="bl" rotWithShape="0">
              <a:srgbClr val="000000">
                <a:alpha val="12000"/>
              </a:srgbClr>
            </a:outerShdw>
          </a:effectLst>
        </p:spPr>
      </p:sp>
      <p:sp>
        <p:nvSpPr>
          <p:cNvPr id="27" name="Shape 25"/>
          <p:cNvSpPr/>
          <p:nvPr/>
        </p:nvSpPr>
        <p:spPr>
          <a:xfrm>
            <a:off x="4663440" y="3337560"/>
            <a:ext cx="45720" cy="914400"/>
          </a:xfrm>
          <a:prstGeom prst="rect">
            <a:avLst/>
          </a:prstGeom>
          <a:solidFill>
            <a:srgbClr val="2E86AB"/>
          </a:solidFill>
          <a:ln w="12700">
            <a:solidFill>
              <a:srgbClr val="2E86AB"/>
            </a:solidFill>
            <a:prstDash val="solid"/>
          </a:ln>
        </p:spPr>
      </p:sp>
      <p:sp>
        <p:nvSpPr>
          <p:cNvPr id="28" name="Text 26"/>
          <p:cNvSpPr/>
          <p:nvPr/>
        </p:nvSpPr>
        <p:spPr>
          <a:xfrm>
            <a:off x="4773168" y="3410712"/>
            <a:ext cx="3840480" cy="292608"/>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Paiements</a:t>
            </a:r>
            <a:endParaRPr lang="en-US" sz="1100" dirty="0"/>
          </a:p>
        </p:txBody>
      </p:sp>
      <p:sp>
        <p:nvSpPr>
          <p:cNvPr id="29" name="Text 27"/>
          <p:cNvSpPr/>
          <p:nvPr/>
        </p:nvSpPr>
        <p:spPr>
          <a:xfrm>
            <a:off x="4773168" y="3721608"/>
            <a:ext cx="3840480" cy="45720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Gestion des transactions et historique</a:t>
            </a:r>
            <a:endParaRPr lang="en-US" sz="1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Architecture générale du système</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4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4 / 19</a:t>
            </a:r>
            <a:endParaRPr lang="en-US" sz="900" dirty="0"/>
          </a:p>
        </p:txBody>
      </p:sp>
      <p:sp>
        <p:nvSpPr>
          <p:cNvPr id="6" name="Shape 4"/>
          <p:cNvSpPr/>
          <p:nvPr/>
        </p:nvSpPr>
        <p:spPr>
          <a:xfrm>
            <a:off x="274320" y="1188720"/>
            <a:ext cx="2194560" cy="2286000"/>
          </a:xfrm>
          <a:prstGeom prst="rect">
            <a:avLst/>
          </a:prstGeom>
          <a:solidFill>
            <a:srgbClr val="EEF7FF"/>
          </a:solidFill>
          <a:ln w="25400">
            <a:solidFill>
              <a:srgbClr val="2E86AB"/>
            </a:solidFill>
            <a:prstDash val="solid"/>
          </a:ln>
          <a:effectLst>
            <a:outerShdw blurRad="101600" dist="38100" dir="8100000" algn="bl" rotWithShape="0">
              <a:srgbClr val="000000">
                <a:alpha val="12000"/>
              </a:srgbClr>
            </a:outerShdw>
          </a:effectLst>
        </p:spPr>
      </p:sp>
      <p:sp>
        <p:nvSpPr>
          <p:cNvPr id="7" name="Text 5"/>
          <p:cNvSpPr/>
          <p:nvPr/>
        </p:nvSpPr>
        <p:spPr>
          <a:xfrm>
            <a:off x="274320" y="1188720"/>
            <a:ext cx="2194560" cy="502920"/>
          </a:xfrm>
          <a:prstGeom prst="rect">
            <a:avLst/>
          </a:prstGeom>
          <a:solidFill>
            <a:srgbClr val="1E3A5F"/>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CLIENT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Navigateur</a:t>
            </a:r>
            <a:endParaRPr lang="en-US" sz="1200" dirty="0"/>
          </a:p>
        </p:txBody>
      </p:sp>
      <p:sp>
        <p:nvSpPr>
          <p:cNvPr id="8" name="Text 6"/>
          <p:cNvSpPr/>
          <p:nvPr/>
        </p:nvSpPr>
        <p:spPr>
          <a:xfrm>
            <a:off x="365760" y="1737360"/>
            <a:ext cx="2011680" cy="1645920"/>
          </a:xfrm>
          <a:prstGeom prst="rect">
            <a:avLst/>
          </a:prstGeom>
          <a:noFill/>
          <a:ln/>
        </p:spPr>
        <p:txBody>
          <a:bodyPr wrap="square" rtlCol="0" anchor="t"/>
          <a:lstStyle/>
          <a:p>
            <a:pPr marL="0" indent="0">
              <a:buNone/>
            </a:pPr>
            <a:r>
              <a:rPr lang="en-US" sz="1000" dirty="0">
                <a:solidFill>
                  <a:srgbClr val="1E3A5F"/>
                </a:solidFill>
                <a:latin typeface="Calibri" pitchFamily="34" charset="0"/>
                <a:ea typeface="Calibri" pitchFamily="34" charset="-122"/>
                <a:cs typeface="Calibri" pitchFamily="34" charset="-120"/>
              </a:rPr>
              <a:t>React SPA</a:t>
            </a:r>
            <a:endParaRPr lang="en-US" sz="1000" dirty="0"/>
          </a:p>
          <a:p>
            <a:pPr marL="0" indent="0">
              <a:buNone/>
            </a:pPr>
            <a:r>
              <a:rPr lang="en-US" sz="1000" dirty="0" smtClean="0">
                <a:solidFill>
                  <a:srgbClr val="1E3A5F"/>
                </a:solidFill>
                <a:latin typeface="Calibri" pitchFamily="34" charset="0"/>
                <a:ea typeface="Calibri" pitchFamily="34" charset="-122"/>
                <a:cs typeface="Calibri" pitchFamily="34" charset="-120"/>
              </a:rPr>
              <a:t>Fetch</a:t>
            </a:r>
            <a:r>
              <a:rPr lang="en-US" sz="1000" dirty="0" smtClean="0">
                <a:solidFill>
                  <a:srgbClr val="1E3A5F"/>
                </a:solidFill>
                <a:latin typeface="Calibri" pitchFamily="34" charset="0"/>
                <a:ea typeface="Calibri" pitchFamily="34" charset="-122"/>
                <a:cs typeface="Calibri" pitchFamily="34" charset="-120"/>
              </a:rPr>
              <a:t> </a:t>
            </a:r>
            <a:r>
              <a:rPr lang="en-US" sz="1000" dirty="0">
                <a:solidFill>
                  <a:srgbClr val="1E3A5F"/>
                </a:solidFill>
                <a:latin typeface="Calibri" pitchFamily="34" charset="0"/>
                <a:ea typeface="Calibri" pitchFamily="34" charset="-122"/>
                <a:cs typeface="Calibri" pitchFamily="34" charset="-120"/>
              </a:rPr>
              <a:t>(HTTP)</a:t>
            </a:r>
            <a:endParaRPr lang="en-US" sz="1000" dirty="0"/>
          </a:p>
          <a:p>
            <a:pPr marL="0" indent="0">
              <a:buNone/>
            </a:pPr>
            <a:r>
              <a:rPr lang="en-US" sz="1000" dirty="0">
                <a:solidFill>
                  <a:srgbClr val="1E3A5F"/>
                </a:solidFill>
                <a:latin typeface="Calibri" pitchFamily="34" charset="0"/>
                <a:ea typeface="Calibri" pitchFamily="34" charset="-122"/>
                <a:cs typeface="Calibri" pitchFamily="34" charset="-120"/>
              </a:rPr>
              <a:t>JWT Token Storage</a:t>
            </a:r>
            <a:endParaRPr lang="en-US" sz="1000" dirty="0"/>
          </a:p>
          <a:p>
            <a:pPr marL="0" indent="0">
              <a:buNone/>
            </a:pPr>
            <a:r>
              <a:rPr lang="en-US" sz="1000" dirty="0">
                <a:solidFill>
                  <a:srgbClr val="1E3A5F"/>
                </a:solidFill>
                <a:latin typeface="Calibri" pitchFamily="34" charset="0"/>
                <a:ea typeface="Calibri" pitchFamily="34" charset="-122"/>
                <a:cs typeface="Calibri" pitchFamily="34" charset="-120"/>
              </a:rPr>
              <a:t>React Router</a:t>
            </a:r>
            <a:endParaRPr lang="en-US" sz="1000" dirty="0"/>
          </a:p>
        </p:txBody>
      </p:sp>
      <p:sp>
        <p:nvSpPr>
          <p:cNvPr id="9" name="Shape 7"/>
          <p:cNvSpPr/>
          <p:nvPr/>
        </p:nvSpPr>
        <p:spPr>
          <a:xfrm>
            <a:off x="2487168" y="2331720"/>
            <a:ext cx="914400" cy="0"/>
          </a:xfrm>
          <a:prstGeom prst="line">
            <a:avLst/>
          </a:prstGeom>
          <a:noFill/>
          <a:ln w="31750">
            <a:solidFill>
              <a:srgbClr val="F4A261"/>
            </a:solidFill>
            <a:prstDash val="solid"/>
          </a:ln>
        </p:spPr>
      </p:sp>
      <p:sp>
        <p:nvSpPr>
          <p:cNvPr id="10" name="Text 8"/>
          <p:cNvSpPr/>
          <p:nvPr/>
        </p:nvSpPr>
        <p:spPr>
          <a:xfrm>
            <a:off x="2560320" y="2011680"/>
            <a:ext cx="822960" cy="502920"/>
          </a:xfrm>
          <a:prstGeom prst="rect">
            <a:avLst/>
          </a:prstGeom>
          <a:noFill/>
          <a:ln/>
        </p:spPr>
        <p:txBody>
          <a:bodyPr wrap="square" rtlCol="0" anchor="ctr"/>
          <a:lstStyle/>
          <a:p>
            <a:pPr marL="0" indent="0" algn="ctr">
              <a:buNone/>
            </a:pPr>
            <a:r>
              <a:rPr lang="en-US" sz="800" b="1" dirty="0">
                <a:solidFill>
                  <a:srgbClr val="F4A261"/>
                </a:solidFill>
                <a:latin typeface="Calibri" pitchFamily="34" charset="0"/>
                <a:ea typeface="Calibri" pitchFamily="34" charset="-122"/>
                <a:cs typeface="Calibri" pitchFamily="34" charset="-120"/>
              </a:rPr>
              <a:t>REST API</a:t>
            </a:r>
            <a:endParaRPr lang="en-US" sz="800" dirty="0"/>
          </a:p>
          <a:p>
            <a:pPr marL="0" indent="0" algn="ctr">
              <a:buNone/>
            </a:pPr>
            <a:r>
              <a:rPr lang="en-US" sz="800" b="1" dirty="0">
                <a:solidFill>
                  <a:srgbClr val="F4A261"/>
                </a:solidFill>
                <a:latin typeface="Calibri" pitchFamily="34" charset="0"/>
                <a:ea typeface="Calibri" pitchFamily="34" charset="-122"/>
                <a:cs typeface="Calibri" pitchFamily="34" charset="-120"/>
              </a:rPr>
              <a:t>JWT</a:t>
            </a:r>
            <a:endParaRPr lang="en-US" sz="800" dirty="0"/>
          </a:p>
        </p:txBody>
      </p:sp>
      <p:sp>
        <p:nvSpPr>
          <p:cNvPr id="11" name="Shape 9"/>
          <p:cNvSpPr/>
          <p:nvPr/>
        </p:nvSpPr>
        <p:spPr>
          <a:xfrm>
            <a:off x="3429000" y="1188720"/>
            <a:ext cx="2377440" cy="2286000"/>
          </a:xfrm>
          <a:prstGeom prst="rect">
            <a:avLst/>
          </a:prstGeom>
          <a:solidFill>
            <a:srgbClr val="EEF7FF"/>
          </a:solidFill>
          <a:ln w="25400">
            <a:solidFill>
              <a:srgbClr val="27AE60"/>
            </a:solidFill>
            <a:prstDash val="solid"/>
          </a:ln>
          <a:effectLst>
            <a:outerShdw blurRad="101600" dist="38100" dir="8100000" algn="bl" rotWithShape="0">
              <a:srgbClr val="000000">
                <a:alpha val="12000"/>
              </a:srgbClr>
            </a:outerShdw>
          </a:effectLst>
        </p:spPr>
      </p:sp>
      <p:sp>
        <p:nvSpPr>
          <p:cNvPr id="12" name="Text 10"/>
          <p:cNvSpPr/>
          <p:nvPr/>
        </p:nvSpPr>
        <p:spPr>
          <a:xfrm>
            <a:off x="3429000" y="1188720"/>
            <a:ext cx="2377440" cy="502920"/>
          </a:xfrm>
          <a:prstGeom prst="rect">
            <a:avLst/>
          </a:prstGeom>
          <a:solidFill>
            <a:srgbClr val="27AE60"/>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BACKEND</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Django</a:t>
            </a:r>
            <a:endParaRPr lang="en-US" sz="1200" dirty="0"/>
          </a:p>
        </p:txBody>
      </p:sp>
      <p:sp>
        <p:nvSpPr>
          <p:cNvPr id="13" name="Text 11"/>
          <p:cNvSpPr/>
          <p:nvPr/>
        </p:nvSpPr>
        <p:spPr>
          <a:xfrm>
            <a:off x="3520440" y="1737360"/>
            <a:ext cx="2194560" cy="1645920"/>
          </a:xfrm>
          <a:prstGeom prst="rect">
            <a:avLst/>
          </a:prstGeom>
          <a:noFill/>
          <a:ln/>
        </p:spPr>
        <p:txBody>
          <a:bodyPr wrap="square" rtlCol="0" anchor="t"/>
          <a:lstStyle/>
          <a:p>
            <a:pPr marL="0" indent="0">
              <a:buNone/>
            </a:pPr>
            <a:r>
              <a:rPr lang="en-US" sz="1000" dirty="0">
                <a:solidFill>
                  <a:srgbClr val="1E3A5F"/>
                </a:solidFill>
                <a:latin typeface="Calibri" pitchFamily="34" charset="0"/>
                <a:ea typeface="Calibri" pitchFamily="34" charset="-122"/>
                <a:cs typeface="Calibri" pitchFamily="34" charset="-120"/>
              </a:rPr>
              <a:t>Django REST Framework</a:t>
            </a:r>
            <a:endParaRPr lang="en-US" sz="1000" dirty="0"/>
          </a:p>
          <a:p>
            <a:pPr marL="0" indent="0">
              <a:buNone/>
            </a:pPr>
            <a:r>
              <a:rPr lang="en-US" sz="1000" dirty="0">
                <a:solidFill>
                  <a:srgbClr val="1E3A5F"/>
                </a:solidFill>
                <a:latin typeface="Calibri" pitchFamily="34" charset="0"/>
                <a:ea typeface="Calibri" pitchFamily="34" charset="-122"/>
                <a:cs typeface="Calibri" pitchFamily="34" charset="-120"/>
              </a:rPr>
              <a:t>Simple JWT (auth)</a:t>
            </a:r>
            <a:endParaRPr lang="en-US" sz="1000" dirty="0"/>
          </a:p>
          <a:p>
            <a:pPr marL="0" indent="0">
              <a:buNone/>
            </a:pPr>
            <a:r>
              <a:rPr lang="en-US" sz="1000" dirty="0">
                <a:solidFill>
                  <a:srgbClr val="1E3A5F"/>
                </a:solidFill>
                <a:latin typeface="Calibri" pitchFamily="34" charset="0"/>
                <a:ea typeface="Calibri" pitchFamily="34" charset="-122"/>
                <a:cs typeface="Calibri" pitchFamily="34" charset="-120"/>
              </a:rPr>
              <a:t>Swagger / drf-yasg</a:t>
            </a:r>
            <a:endParaRPr lang="en-US" sz="1000" dirty="0"/>
          </a:p>
          <a:p>
            <a:pPr marL="0" indent="0">
              <a:buNone/>
            </a:pPr>
            <a:r>
              <a:rPr lang="en-US" sz="1000" dirty="0">
                <a:solidFill>
                  <a:srgbClr val="1E3A5F"/>
                </a:solidFill>
                <a:latin typeface="Calibri" pitchFamily="34" charset="0"/>
                <a:ea typeface="Calibri" pitchFamily="34" charset="-122"/>
                <a:cs typeface="Calibri" pitchFamily="34" charset="-120"/>
              </a:rPr>
              <a:t>Django Admin</a:t>
            </a:r>
            <a:endParaRPr lang="en-US" sz="1000" dirty="0"/>
          </a:p>
        </p:txBody>
      </p:sp>
      <p:sp>
        <p:nvSpPr>
          <p:cNvPr id="14" name="Shape 12"/>
          <p:cNvSpPr/>
          <p:nvPr/>
        </p:nvSpPr>
        <p:spPr>
          <a:xfrm>
            <a:off x="5833872" y="2331720"/>
            <a:ext cx="914400" cy="0"/>
          </a:xfrm>
          <a:prstGeom prst="line">
            <a:avLst/>
          </a:prstGeom>
          <a:noFill/>
          <a:ln w="31750">
            <a:solidFill>
              <a:srgbClr val="F4A261"/>
            </a:solidFill>
            <a:prstDash val="solid"/>
          </a:ln>
        </p:spPr>
      </p:sp>
      <p:sp>
        <p:nvSpPr>
          <p:cNvPr id="15" name="Text 13"/>
          <p:cNvSpPr/>
          <p:nvPr/>
        </p:nvSpPr>
        <p:spPr>
          <a:xfrm>
            <a:off x="5897880" y="2011680"/>
            <a:ext cx="822960" cy="502920"/>
          </a:xfrm>
          <a:prstGeom prst="rect">
            <a:avLst/>
          </a:prstGeom>
          <a:noFill/>
          <a:ln/>
        </p:spPr>
        <p:txBody>
          <a:bodyPr wrap="square" rtlCol="0" anchor="ctr"/>
          <a:lstStyle/>
          <a:p>
            <a:pPr marL="0" indent="0" algn="ctr">
              <a:buNone/>
            </a:pPr>
            <a:r>
              <a:rPr lang="en-US" sz="800" b="1" dirty="0">
                <a:solidFill>
                  <a:srgbClr val="F4A261"/>
                </a:solidFill>
                <a:latin typeface="Calibri" pitchFamily="34" charset="0"/>
                <a:ea typeface="Calibri" pitchFamily="34" charset="-122"/>
                <a:cs typeface="Calibri" pitchFamily="34" charset="-120"/>
              </a:rPr>
              <a:t>ORM</a:t>
            </a:r>
            <a:endParaRPr lang="en-US" sz="800" dirty="0"/>
          </a:p>
          <a:p>
            <a:pPr marL="0" indent="0" algn="ctr">
              <a:buNone/>
            </a:pPr>
            <a:r>
              <a:rPr lang="en-US" sz="800" b="1" dirty="0">
                <a:solidFill>
                  <a:srgbClr val="F4A261"/>
                </a:solidFill>
                <a:latin typeface="Calibri" pitchFamily="34" charset="0"/>
                <a:ea typeface="Calibri" pitchFamily="34" charset="-122"/>
                <a:cs typeface="Calibri" pitchFamily="34" charset="-120"/>
              </a:rPr>
              <a:t>SQL</a:t>
            </a:r>
            <a:endParaRPr lang="en-US" sz="800" dirty="0"/>
          </a:p>
        </p:txBody>
      </p:sp>
      <p:sp>
        <p:nvSpPr>
          <p:cNvPr id="16" name="Shape 14"/>
          <p:cNvSpPr/>
          <p:nvPr/>
        </p:nvSpPr>
        <p:spPr>
          <a:xfrm>
            <a:off x="6766560" y="1188720"/>
            <a:ext cx="2011680" cy="2286000"/>
          </a:xfrm>
          <a:prstGeom prst="rect">
            <a:avLst/>
          </a:prstGeom>
          <a:solidFill>
            <a:srgbClr val="EEF7FF"/>
          </a:solidFill>
          <a:ln w="25400">
            <a:solidFill>
              <a:srgbClr val="F4A261"/>
            </a:solidFill>
            <a:prstDash val="solid"/>
          </a:ln>
          <a:effectLst>
            <a:outerShdw blurRad="101600" dist="38100" dir="8100000" algn="bl" rotWithShape="0">
              <a:srgbClr val="000000">
                <a:alpha val="12000"/>
              </a:srgbClr>
            </a:outerShdw>
          </a:effectLst>
        </p:spPr>
      </p:sp>
      <p:sp>
        <p:nvSpPr>
          <p:cNvPr id="17" name="Text 15"/>
          <p:cNvSpPr/>
          <p:nvPr/>
        </p:nvSpPr>
        <p:spPr>
          <a:xfrm>
            <a:off x="6766560" y="1188720"/>
            <a:ext cx="2011680" cy="502920"/>
          </a:xfrm>
          <a:prstGeom prst="rect">
            <a:avLst/>
          </a:prstGeom>
          <a:solidFill>
            <a:srgbClr val="F4A261"/>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BASE DE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DONNÉES</a:t>
            </a:r>
            <a:endParaRPr lang="en-US" sz="1200" dirty="0"/>
          </a:p>
        </p:txBody>
      </p:sp>
      <p:sp>
        <p:nvSpPr>
          <p:cNvPr id="18" name="Text 16"/>
          <p:cNvSpPr/>
          <p:nvPr/>
        </p:nvSpPr>
        <p:spPr>
          <a:xfrm>
            <a:off x="6858000" y="1737360"/>
            <a:ext cx="1828800" cy="1645920"/>
          </a:xfrm>
          <a:prstGeom prst="rect">
            <a:avLst/>
          </a:prstGeom>
          <a:noFill/>
          <a:ln/>
        </p:spPr>
        <p:txBody>
          <a:bodyPr wrap="square" rtlCol="0" anchor="t"/>
          <a:lstStyle/>
          <a:p>
            <a:pPr marL="0" indent="0">
              <a:buNone/>
            </a:pPr>
            <a:r>
              <a:rPr lang="en-US" sz="1000" dirty="0" smtClean="0">
                <a:solidFill>
                  <a:srgbClr val="1E3A5F"/>
                </a:solidFill>
                <a:latin typeface="Calibri" pitchFamily="34" charset="0"/>
                <a:ea typeface="Calibri" pitchFamily="34" charset="-122"/>
                <a:cs typeface="Calibri" pitchFamily="34" charset="-120"/>
              </a:rPr>
              <a:t>SQLite</a:t>
            </a:r>
            <a:endParaRPr lang="en-US" sz="1000" dirty="0"/>
          </a:p>
          <a:p>
            <a:pPr marL="0" indent="0">
              <a:buNone/>
            </a:pPr>
            <a:r>
              <a:rPr lang="en-US" sz="1000" dirty="0">
                <a:solidFill>
                  <a:srgbClr val="1E3A5F"/>
                </a:solidFill>
                <a:latin typeface="Calibri" pitchFamily="34" charset="0"/>
                <a:ea typeface="Calibri" pitchFamily="34" charset="-122"/>
                <a:cs typeface="Calibri" pitchFamily="34" charset="-120"/>
              </a:rPr>
              <a:t>Modèles Django</a:t>
            </a:r>
            <a:endParaRPr lang="en-US" sz="1000" dirty="0"/>
          </a:p>
          <a:p>
            <a:pPr marL="0" indent="0">
              <a:buNone/>
            </a:pPr>
            <a:r>
              <a:rPr lang="en-US" sz="1000" dirty="0">
                <a:solidFill>
                  <a:srgbClr val="1E3A5F"/>
                </a:solidFill>
                <a:latin typeface="Calibri" pitchFamily="34" charset="0"/>
                <a:ea typeface="Calibri" pitchFamily="34" charset="-122"/>
                <a:cs typeface="Calibri" pitchFamily="34" charset="-120"/>
              </a:rPr>
              <a:t>Migrations</a:t>
            </a:r>
            <a:endParaRPr lang="en-US" sz="1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Technologies utilisées</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5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5 / 19</a:t>
            </a:r>
            <a:endParaRPr lang="en-US" sz="900" dirty="0"/>
          </a:p>
        </p:txBody>
      </p:sp>
      <p:sp>
        <p:nvSpPr>
          <p:cNvPr id="6" name="Shape 4"/>
          <p:cNvSpPr/>
          <p:nvPr/>
        </p:nvSpPr>
        <p:spPr>
          <a:xfrm>
            <a:off x="274320" y="1097280"/>
            <a:ext cx="2743200" cy="960120"/>
          </a:xfrm>
          <a:prstGeom prst="rect">
            <a:avLst/>
          </a:prstGeom>
          <a:solidFill>
            <a:srgbClr val="FFFFFF"/>
          </a:solidFill>
          <a:ln w="12700">
            <a:solidFill>
              <a:srgbClr val="E0E8F0"/>
            </a:solidFill>
            <a:prstDash val="solid"/>
          </a:ln>
          <a:effectLst>
            <a:outerShdw blurRad="101600" dist="38100" dir="8100000" algn="bl" rotWithShape="0">
              <a:srgbClr val="000000">
                <a:alpha val="12000"/>
              </a:srgbClr>
            </a:outerShdw>
          </a:effectLst>
        </p:spPr>
      </p:sp>
      <p:sp>
        <p:nvSpPr>
          <p:cNvPr id="7" name="Shape 5"/>
          <p:cNvSpPr/>
          <p:nvPr/>
        </p:nvSpPr>
        <p:spPr>
          <a:xfrm>
            <a:off x="274320" y="1097280"/>
            <a:ext cx="45720" cy="960120"/>
          </a:xfrm>
          <a:prstGeom prst="rect">
            <a:avLst/>
          </a:prstGeom>
          <a:solidFill>
            <a:srgbClr val="2E86AB"/>
          </a:solidFill>
          <a:ln w="12700">
            <a:solidFill>
              <a:srgbClr val="2E86AB"/>
            </a:solidFill>
            <a:prstDash val="solid"/>
          </a:ln>
        </p:spPr>
      </p:sp>
      <p:sp>
        <p:nvSpPr>
          <p:cNvPr id="8" name="Shape 6"/>
          <p:cNvSpPr/>
          <p:nvPr/>
        </p:nvSpPr>
        <p:spPr>
          <a:xfrm>
            <a:off x="365760" y="1298448"/>
            <a:ext cx="502920" cy="502920"/>
          </a:xfrm>
          <a:prstGeom prst="ellipse">
            <a:avLst/>
          </a:prstGeom>
          <a:solidFill>
            <a:srgbClr val="2E86AB">
              <a:alpha val="20000"/>
            </a:srgbClr>
          </a:solidFill>
          <a:ln w="12700">
            <a:solidFill>
              <a:srgbClr val="2E86AB"/>
            </a:solidFill>
            <a:prstDash val="solid"/>
          </a:ln>
        </p:spPr>
      </p:sp>
      <p:sp>
        <p:nvSpPr>
          <p:cNvPr id="9" name="Text 7"/>
          <p:cNvSpPr/>
          <p:nvPr/>
        </p:nvSpPr>
        <p:spPr>
          <a:xfrm>
            <a:off x="932688" y="1188720"/>
            <a:ext cx="1920240" cy="274320"/>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React</a:t>
            </a:r>
            <a:endParaRPr lang="en-US" sz="1200" dirty="0"/>
          </a:p>
        </p:txBody>
      </p:sp>
      <p:sp>
        <p:nvSpPr>
          <p:cNvPr id="10" name="Text 8"/>
          <p:cNvSpPr/>
          <p:nvPr/>
        </p:nvSpPr>
        <p:spPr>
          <a:xfrm>
            <a:off x="932688" y="1481328"/>
            <a:ext cx="1920240" cy="45720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Frontend SPA</a:t>
            </a:r>
            <a:endParaRPr lang="en-US" sz="1000" dirty="0"/>
          </a:p>
        </p:txBody>
      </p:sp>
      <p:sp>
        <p:nvSpPr>
          <p:cNvPr id="11" name="Shape 9"/>
          <p:cNvSpPr/>
          <p:nvPr/>
        </p:nvSpPr>
        <p:spPr>
          <a:xfrm>
            <a:off x="3200400" y="1097280"/>
            <a:ext cx="2743200" cy="960120"/>
          </a:xfrm>
          <a:prstGeom prst="rect">
            <a:avLst/>
          </a:prstGeom>
          <a:solidFill>
            <a:srgbClr val="FFFFFF"/>
          </a:solidFill>
          <a:ln w="12700">
            <a:solidFill>
              <a:srgbClr val="E0E8F0"/>
            </a:solidFill>
            <a:prstDash val="solid"/>
          </a:ln>
          <a:effectLst>
            <a:outerShdw blurRad="101600" dist="38100" dir="8100000" algn="bl" rotWithShape="0">
              <a:srgbClr val="000000">
                <a:alpha val="12000"/>
              </a:srgbClr>
            </a:outerShdw>
          </a:effectLst>
        </p:spPr>
      </p:sp>
      <p:sp>
        <p:nvSpPr>
          <p:cNvPr id="12" name="Shape 10"/>
          <p:cNvSpPr/>
          <p:nvPr/>
        </p:nvSpPr>
        <p:spPr>
          <a:xfrm>
            <a:off x="3200400" y="1097280"/>
            <a:ext cx="45720" cy="960120"/>
          </a:xfrm>
          <a:prstGeom prst="rect">
            <a:avLst/>
          </a:prstGeom>
          <a:solidFill>
            <a:srgbClr val="27AE60"/>
          </a:solidFill>
          <a:ln w="12700">
            <a:solidFill>
              <a:srgbClr val="27AE60"/>
            </a:solidFill>
            <a:prstDash val="solid"/>
          </a:ln>
        </p:spPr>
      </p:sp>
      <p:sp>
        <p:nvSpPr>
          <p:cNvPr id="13" name="Shape 11"/>
          <p:cNvSpPr/>
          <p:nvPr/>
        </p:nvSpPr>
        <p:spPr>
          <a:xfrm>
            <a:off x="3291840" y="1298448"/>
            <a:ext cx="502920" cy="502920"/>
          </a:xfrm>
          <a:prstGeom prst="ellipse">
            <a:avLst/>
          </a:prstGeom>
          <a:solidFill>
            <a:srgbClr val="27AE60">
              <a:alpha val="20000"/>
            </a:srgbClr>
          </a:solidFill>
          <a:ln w="12700">
            <a:solidFill>
              <a:srgbClr val="27AE60"/>
            </a:solidFill>
            <a:prstDash val="solid"/>
          </a:ln>
        </p:spPr>
      </p:sp>
      <p:sp>
        <p:nvSpPr>
          <p:cNvPr id="14" name="Text 12"/>
          <p:cNvSpPr/>
          <p:nvPr/>
        </p:nvSpPr>
        <p:spPr>
          <a:xfrm>
            <a:off x="3858768" y="1188720"/>
            <a:ext cx="1920240" cy="274320"/>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Django</a:t>
            </a:r>
            <a:endParaRPr lang="en-US" sz="1200" dirty="0"/>
          </a:p>
        </p:txBody>
      </p:sp>
      <p:sp>
        <p:nvSpPr>
          <p:cNvPr id="15" name="Text 13"/>
          <p:cNvSpPr/>
          <p:nvPr/>
        </p:nvSpPr>
        <p:spPr>
          <a:xfrm>
            <a:off x="3858768" y="1481328"/>
            <a:ext cx="1920240" cy="45720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Backend Python</a:t>
            </a:r>
            <a:endParaRPr lang="en-US" sz="1000" dirty="0"/>
          </a:p>
        </p:txBody>
      </p:sp>
      <p:sp>
        <p:nvSpPr>
          <p:cNvPr id="16" name="Shape 14"/>
          <p:cNvSpPr/>
          <p:nvPr/>
        </p:nvSpPr>
        <p:spPr>
          <a:xfrm>
            <a:off x="6126480" y="1097280"/>
            <a:ext cx="2743200" cy="960120"/>
          </a:xfrm>
          <a:prstGeom prst="rect">
            <a:avLst/>
          </a:prstGeom>
          <a:solidFill>
            <a:srgbClr val="FFFFFF"/>
          </a:solidFill>
          <a:ln w="12700">
            <a:solidFill>
              <a:srgbClr val="E0E8F0"/>
            </a:solidFill>
            <a:prstDash val="solid"/>
          </a:ln>
          <a:effectLst>
            <a:outerShdw blurRad="101600" dist="38100" dir="8100000" algn="bl" rotWithShape="0">
              <a:srgbClr val="000000">
                <a:alpha val="12000"/>
              </a:srgbClr>
            </a:outerShdw>
          </a:effectLst>
        </p:spPr>
      </p:sp>
      <p:sp>
        <p:nvSpPr>
          <p:cNvPr id="17" name="Shape 15"/>
          <p:cNvSpPr/>
          <p:nvPr/>
        </p:nvSpPr>
        <p:spPr>
          <a:xfrm>
            <a:off x="6126480" y="1097280"/>
            <a:ext cx="45720" cy="960120"/>
          </a:xfrm>
          <a:prstGeom prst="rect">
            <a:avLst/>
          </a:prstGeom>
          <a:solidFill>
            <a:srgbClr val="1E3A5F"/>
          </a:solidFill>
          <a:ln w="12700">
            <a:solidFill>
              <a:srgbClr val="1E3A5F"/>
            </a:solidFill>
            <a:prstDash val="solid"/>
          </a:ln>
        </p:spPr>
      </p:sp>
      <p:sp>
        <p:nvSpPr>
          <p:cNvPr id="18" name="Shape 16"/>
          <p:cNvSpPr/>
          <p:nvPr/>
        </p:nvSpPr>
        <p:spPr>
          <a:xfrm>
            <a:off x="6217920" y="1298448"/>
            <a:ext cx="502920" cy="502920"/>
          </a:xfrm>
          <a:prstGeom prst="ellipse">
            <a:avLst/>
          </a:prstGeom>
          <a:solidFill>
            <a:srgbClr val="1E3A5F">
              <a:alpha val="20000"/>
            </a:srgbClr>
          </a:solidFill>
          <a:ln w="12700">
            <a:solidFill>
              <a:srgbClr val="1E3A5F"/>
            </a:solidFill>
            <a:prstDash val="solid"/>
          </a:ln>
        </p:spPr>
      </p:sp>
      <p:sp>
        <p:nvSpPr>
          <p:cNvPr id="19" name="Text 17"/>
          <p:cNvSpPr/>
          <p:nvPr/>
        </p:nvSpPr>
        <p:spPr>
          <a:xfrm>
            <a:off x="6784848" y="1188720"/>
            <a:ext cx="1920240" cy="274320"/>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DRF</a:t>
            </a:r>
            <a:endParaRPr lang="en-US" sz="1200" dirty="0"/>
          </a:p>
        </p:txBody>
      </p:sp>
      <p:sp>
        <p:nvSpPr>
          <p:cNvPr id="20" name="Text 18"/>
          <p:cNvSpPr/>
          <p:nvPr/>
        </p:nvSpPr>
        <p:spPr>
          <a:xfrm>
            <a:off x="6784848" y="1481328"/>
            <a:ext cx="1920240" cy="45720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API REST</a:t>
            </a:r>
            <a:endParaRPr lang="en-US" sz="1000" dirty="0"/>
          </a:p>
        </p:txBody>
      </p:sp>
      <p:sp>
        <p:nvSpPr>
          <p:cNvPr id="21" name="Shape 19"/>
          <p:cNvSpPr/>
          <p:nvPr/>
        </p:nvSpPr>
        <p:spPr>
          <a:xfrm>
            <a:off x="274320" y="2240280"/>
            <a:ext cx="2743200" cy="960120"/>
          </a:xfrm>
          <a:prstGeom prst="rect">
            <a:avLst/>
          </a:prstGeom>
          <a:solidFill>
            <a:srgbClr val="FFFFFF"/>
          </a:solidFill>
          <a:ln w="12700">
            <a:solidFill>
              <a:srgbClr val="E0E8F0"/>
            </a:solidFill>
            <a:prstDash val="solid"/>
          </a:ln>
          <a:effectLst>
            <a:outerShdw blurRad="101600" dist="38100" dir="8100000" algn="bl" rotWithShape="0">
              <a:srgbClr val="000000">
                <a:alpha val="12000"/>
              </a:srgbClr>
            </a:outerShdw>
          </a:effectLst>
        </p:spPr>
      </p:sp>
      <p:sp>
        <p:nvSpPr>
          <p:cNvPr id="22" name="Shape 20"/>
          <p:cNvSpPr/>
          <p:nvPr/>
        </p:nvSpPr>
        <p:spPr>
          <a:xfrm>
            <a:off x="274320" y="2240280"/>
            <a:ext cx="45720" cy="960120"/>
          </a:xfrm>
          <a:prstGeom prst="rect">
            <a:avLst/>
          </a:prstGeom>
          <a:solidFill>
            <a:srgbClr val="F4A261"/>
          </a:solidFill>
          <a:ln w="12700">
            <a:solidFill>
              <a:srgbClr val="F4A261"/>
            </a:solidFill>
            <a:prstDash val="solid"/>
          </a:ln>
        </p:spPr>
      </p:sp>
      <p:sp>
        <p:nvSpPr>
          <p:cNvPr id="23" name="Shape 21"/>
          <p:cNvSpPr/>
          <p:nvPr/>
        </p:nvSpPr>
        <p:spPr>
          <a:xfrm>
            <a:off x="365760" y="2441448"/>
            <a:ext cx="502920" cy="502920"/>
          </a:xfrm>
          <a:prstGeom prst="ellipse">
            <a:avLst/>
          </a:prstGeom>
          <a:solidFill>
            <a:srgbClr val="F4A261">
              <a:alpha val="20000"/>
            </a:srgbClr>
          </a:solidFill>
          <a:ln w="12700">
            <a:solidFill>
              <a:srgbClr val="F4A261"/>
            </a:solidFill>
            <a:prstDash val="solid"/>
          </a:ln>
        </p:spPr>
      </p:sp>
      <p:sp>
        <p:nvSpPr>
          <p:cNvPr id="24" name="Text 22"/>
          <p:cNvSpPr/>
          <p:nvPr/>
        </p:nvSpPr>
        <p:spPr>
          <a:xfrm>
            <a:off x="932688" y="2331720"/>
            <a:ext cx="1920240" cy="274320"/>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JWT</a:t>
            </a:r>
            <a:endParaRPr lang="en-US" sz="1200" dirty="0"/>
          </a:p>
        </p:txBody>
      </p:sp>
      <p:sp>
        <p:nvSpPr>
          <p:cNvPr id="25" name="Text 23"/>
          <p:cNvSpPr/>
          <p:nvPr/>
        </p:nvSpPr>
        <p:spPr>
          <a:xfrm>
            <a:off x="932688" y="2624328"/>
            <a:ext cx="1920240" cy="45720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Authentification</a:t>
            </a:r>
            <a:endParaRPr lang="en-US" sz="1000" dirty="0"/>
          </a:p>
        </p:txBody>
      </p:sp>
      <p:sp>
        <p:nvSpPr>
          <p:cNvPr id="26" name="Shape 24"/>
          <p:cNvSpPr/>
          <p:nvPr/>
        </p:nvSpPr>
        <p:spPr>
          <a:xfrm>
            <a:off x="3200400" y="2240280"/>
            <a:ext cx="2743200" cy="960120"/>
          </a:xfrm>
          <a:prstGeom prst="rect">
            <a:avLst/>
          </a:prstGeom>
          <a:solidFill>
            <a:srgbClr val="FFFFFF"/>
          </a:solidFill>
          <a:ln w="12700">
            <a:solidFill>
              <a:srgbClr val="E0E8F0"/>
            </a:solidFill>
            <a:prstDash val="solid"/>
          </a:ln>
          <a:effectLst>
            <a:outerShdw blurRad="101600" dist="38100" dir="8100000" algn="bl" rotWithShape="0">
              <a:srgbClr val="000000">
                <a:alpha val="12000"/>
              </a:srgbClr>
            </a:outerShdw>
          </a:effectLst>
        </p:spPr>
      </p:sp>
      <p:sp>
        <p:nvSpPr>
          <p:cNvPr id="27" name="Shape 25"/>
          <p:cNvSpPr/>
          <p:nvPr/>
        </p:nvSpPr>
        <p:spPr>
          <a:xfrm>
            <a:off x="3200400" y="2240280"/>
            <a:ext cx="45720" cy="960120"/>
          </a:xfrm>
          <a:prstGeom prst="rect">
            <a:avLst/>
          </a:prstGeom>
          <a:solidFill>
            <a:srgbClr val="8E44AD"/>
          </a:solidFill>
          <a:ln w="12700">
            <a:solidFill>
              <a:srgbClr val="8E44AD"/>
            </a:solidFill>
            <a:prstDash val="solid"/>
          </a:ln>
        </p:spPr>
      </p:sp>
      <p:sp>
        <p:nvSpPr>
          <p:cNvPr id="28" name="Shape 26"/>
          <p:cNvSpPr/>
          <p:nvPr/>
        </p:nvSpPr>
        <p:spPr>
          <a:xfrm>
            <a:off x="3291840" y="2441448"/>
            <a:ext cx="502920" cy="502920"/>
          </a:xfrm>
          <a:prstGeom prst="ellipse">
            <a:avLst/>
          </a:prstGeom>
          <a:solidFill>
            <a:srgbClr val="8E44AD">
              <a:alpha val="20000"/>
            </a:srgbClr>
          </a:solidFill>
          <a:ln w="12700">
            <a:solidFill>
              <a:srgbClr val="8E44AD"/>
            </a:solidFill>
            <a:prstDash val="solid"/>
          </a:ln>
        </p:spPr>
      </p:sp>
      <p:sp>
        <p:nvSpPr>
          <p:cNvPr id="29" name="Text 27"/>
          <p:cNvSpPr/>
          <p:nvPr/>
        </p:nvSpPr>
        <p:spPr>
          <a:xfrm>
            <a:off x="3858768" y="2331720"/>
            <a:ext cx="1920240" cy="274320"/>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Swagger</a:t>
            </a:r>
            <a:endParaRPr lang="en-US" sz="1200" dirty="0"/>
          </a:p>
        </p:txBody>
      </p:sp>
      <p:sp>
        <p:nvSpPr>
          <p:cNvPr id="30" name="Text 28"/>
          <p:cNvSpPr/>
          <p:nvPr/>
        </p:nvSpPr>
        <p:spPr>
          <a:xfrm>
            <a:off x="3858768" y="2624328"/>
            <a:ext cx="1920240" cy="45720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Docs API</a:t>
            </a:r>
            <a:endParaRPr lang="en-US" sz="1000" dirty="0"/>
          </a:p>
        </p:txBody>
      </p:sp>
      <p:sp>
        <p:nvSpPr>
          <p:cNvPr id="31" name="Shape 29"/>
          <p:cNvSpPr/>
          <p:nvPr/>
        </p:nvSpPr>
        <p:spPr>
          <a:xfrm>
            <a:off x="6126480" y="2240280"/>
            <a:ext cx="2743200" cy="960120"/>
          </a:xfrm>
          <a:prstGeom prst="rect">
            <a:avLst/>
          </a:prstGeom>
          <a:solidFill>
            <a:srgbClr val="FFFFFF"/>
          </a:solidFill>
          <a:ln w="12700">
            <a:solidFill>
              <a:srgbClr val="E0E8F0"/>
            </a:solidFill>
            <a:prstDash val="solid"/>
          </a:ln>
          <a:effectLst>
            <a:outerShdw blurRad="101600" dist="38100" dir="8100000" algn="bl" rotWithShape="0">
              <a:srgbClr val="000000">
                <a:alpha val="12000"/>
              </a:srgbClr>
            </a:outerShdw>
          </a:effectLst>
        </p:spPr>
      </p:sp>
      <p:sp>
        <p:nvSpPr>
          <p:cNvPr id="32" name="Shape 30"/>
          <p:cNvSpPr/>
          <p:nvPr/>
        </p:nvSpPr>
        <p:spPr>
          <a:xfrm>
            <a:off x="6126480" y="2240280"/>
            <a:ext cx="45720" cy="960120"/>
          </a:xfrm>
          <a:prstGeom prst="rect">
            <a:avLst/>
          </a:prstGeom>
          <a:solidFill>
            <a:srgbClr val="E74C3C"/>
          </a:solidFill>
          <a:ln w="12700">
            <a:solidFill>
              <a:srgbClr val="E74C3C"/>
            </a:solidFill>
            <a:prstDash val="solid"/>
          </a:ln>
        </p:spPr>
      </p:sp>
      <p:sp>
        <p:nvSpPr>
          <p:cNvPr id="33" name="Shape 31"/>
          <p:cNvSpPr/>
          <p:nvPr/>
        </p:nvSpPr>
        <p:spPr>
          <a:xfrm>
            <a:off x="6217920" y="2441448"/>
            <a:ext cx="502920" cy="502920"/>
          </a:xfrm>
          <a:prstGeom prst="ellipse">
            <a:avLst/>
          </a:prstGeom>
          <a:solidFill>
            <a:srgbClr val="E74C3C">
              <a:alpha val="20000"/>
            </a:srgbClr>
          </a:solidFill>
          <a:ln w="12700">
            <a:solidFill>
              <a:srgbClr val="E74C3C"/>
            </a:solidFill>
            <a:prstDash val="solid"/>
          </a:ln>
        </p:spPr>
      </p:sp>
      <p:sp>
        <p:nvSpPr>
          <p:cNvPr id="34" name="Text 32"/>
          <p:cNvSpPr/>
          <p:nvPr/>
        </p:nvSpPr>
        <p:spPr>
          <a:xfrm>
            <a:off x="6784848" y="2331720"/>
            <a:ext cx="1920240" cy="274320"/>
          </a:xfrm>
          <a:prstGeom prst="rect">
            <a:avLst/>
          </a:prstGeom>
          <a:noFill/>
          <a:ln/>
        </p:spPr>
        <p:txBody>
          <a:bodyPr wrap="square" rtlCol="0" anchor="ctr"/>
          <a:lstStyle/>
          <a:p>
            <a:pPr marL="0" indent="0">
              <a:buNone/>
            </a:pPr>
            <a:r>
              <a:rPr lang="en-US" sz="1200" b="1" dirty="0" smtClean="0">
                <a:solidFill>
                  <a:srgbClr val="1E3A5F"/>
                </a:solidFill>
                <a:latin typeface="Calibri" pitchFamily="34" charset="0"/>
                <a:ea typeface="Calibri" pitchFamily="34" charset="-122"/>
                <a:cs typeface="Calibri" pitchFamily="34" charset="-120"/>
              </a:rPr>
              <a:t>SQLite</a:t>
            </a:r>
            <a:endParaRPr lang="en-US" sz="1200" dirty="0"/>
          </a:p>
        </p:txBody>
      </p:sp>
      <p:sp>
        <p:nvSpPr>
          <p:cNvPr id="35" name="Text 33"/>
          <p:cNvSpPr/>
          <p:nvPr/>
        </p:nvSpPr>
        <p:spPr>
          <a:xfrm>
            <a:off x="6784848" y="2624328"/>
            <a:ext cx="1920240" cy="45720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Base de données</a:t>
            </a:r>
            <a:endParaRPr lang="en-US" sz="1000" dirty="0"/>
          </a:p>
        </p:txBody>
      </p:sp>
      <p:sp>
        <p:nvSpPr>
          <p:cNvPr id="36" name="Shape 34"/>
          <p:cNvSpPr/>
          <p:nvPr/>
        </p:nvSpPr>
        <p:spPr>
          <a:xfrm>
            <a:off x="274320" y="3383280"/>
            <a:ext cx="2743200" cy="960120"/>
          </a:xfrm>
          <a:prstGeom prst="rect">
            <a:avLst/>
          </a:prstGeom>
          <a:solidFill>
            <a:srgbClr val="FFFFFF"/>
          </a:solidFill>
          <a:ln w="12700">
            <a:solidFill>
              <a:srgbClr val="E0E8F0"/>
            </a:solidFill>
            <a:prstDash val="solid"/>
          </a:ln>
          <a:effectLst>
            <a:outerShdw blurRad="101600" dist="38100" dir="8100000" algn="bl" rotWithShape="0">
              <a:srgbClr val="000000">
                <a:alpha val="12000"/>
              </a:srgbClr>
            </a:outerShdw>
          </a:effectLst>
        </p:spPr>
      </p:sp>
      <p:sp>
        <p:nvSpPr>
          <p:cNvPr id="37" name="Shape 35"/>
          <p:cNvSpPr/>
          <p:nvPr/>
        </p:nvSpPr>
        <p:spPr>
          <a:xfrm>
            <a:off x="274320" y="3383280"/>
            <a:ext cx="45720" cy="960120"/>
          </a:xfrm>
          <a:prstGeom prst="rect">
            <a:avLst/>
          </a:prstGeom>
          <a:solidFill>
            <a:srgbClr val="16A085"/>
          </a:solidFill>
          <a:ln w="12700">
            <a:solidFill>
              <a:srgbClr val="16A085"/>
            </a:solidFill>
            <a:prstDash val="solid"/>
          </a:ln>
        </p:spPr>
      </p:sp>
      <p:sp>
        <p:nvSpPr>
          <p:cNvPr id="38" name="Shape 36"/>
          <p:cNvSpPr/>
          <p:nvPr/>
        </p:nvSpPr>
        <p:spPr>
          <a:xfrm>
            <a:off x="365760" y="3584448"/>
            <a:ext cx="502920" cy="502920"/>
          </a:xfrm>
          <a:prstGeom prst="ellipse">
            <a:avLst/>
          </a:prstGeom>
          <a:solidFill>
            <a:srgbClr val="16A085">
              <a:alpha val="20000"/>
            </a:srgbClr>
          </a:solidFill>
          <a:ln w="12700">
            <a:solidFill>
              <a:srgbClr val="16A085"/>
            </a:solidFill>
            <a:prstDash val="solid"/>
          </a:ln>
        </p:spPr>
      </p:sp>
      <p:sp>
        <p:nvSpPr>
          <p:cNvPr id="39" name="Text 37"/>
          <p:cNvSpPr/>
          <p:nvPr/>
        </p:nvSpPr>
        <p:spPr>
          <a:xfrm>
            <a:off x="932688" y="3474720"/>
            <a:ext cx="1920240" cy="274320"/>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Django Admin</a:t>
            </a:r>
            <a:endParaRPr lang="en-US" sz="1200" dirty="0"/>
          </a:p>
        </p:txBody>
      </p:sp>
      <p:sp>
        <p:nvSpPr>
          <p:cNvPr id="40" name="Text 38"/>
          <p:cNvSpPr/>
          <p:nvPr/>
        </p:nvSpPr>
        <p:spPr>
          <a:xfrm>
            <a:off x="932688" y="3767328"/>
            <a:ext cx="1920240" cy="45720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Administration</a:t>
            </a:r>
            <a:endParaRPr lang="en-US" sz="1000" dirty="0"/>
          </a:p>
        </p:txBody>
      </p:sp>
      <p:sp>
        <p:nvSpPr>
          <p:cNvPr id="41" name="Shape 39"/>
          <p:cNvSpPr/>
          <p:nvPr/>
        </p:nvSpPr>
        <p:spPr>
          <a:xfrm>
            <a:off x="3200400" y="3383280"/>
            <a:ext cx="2743200" cy="960120"/>
          </a:xfrm>
          <a:prstGeom prst="rect">
            <a:avLst/>
          </a:prstGeom>
          <a:solidFill>
            <a:srgbClr val="FFFFFF"/>
          </a:solidFill>
          <a:ln w="12700">
            <a:solidFill>
              <a:srgbClr val="E0E8F0"/>
            </a:solidFill>
            <a:prstDash val="solid"/>
          </a:ln>
          <a:effectLst>
            <a:outerShdw blurRad="101600" dist="38100" dir="8100000" algn="bl" rotWithShape="0">
              <a:srgbClr val="000000">
                <a:alpha val="12000"/>
              </a:srgbClr>
            </a:outerShdw>
          </a:effectLst>
        </p:spPr>
      </p:sp>
      <p:sp>
        <p:nvSpPr>
          <p:cNvPr id="42" name="Shape 40"/>
          <p:cNvSpPr/>
          <p:nvPr/>
        </p:nvSpPr>
        <p:spPr>
          <a:xfrm>
            <a:off x="3200400" y="3383280"/>
            <a:ext cx="45720" cy="960120"/>
          </a:xfrm>
          <a:prstGeom prst="rect">
            <a:avLst/>
          </a:prstGeom>
          <a:solidFill>
            <a:srgbClr val="F39C12"/>
          </a:solidFill>
          <a:ln w="12700">
            <a:solidFill>
              <a:srgbClr val="F39C12"/>
            </a:solidFill>
            <a:prstDash val="solid"/>
          </a:ln>
        </p:spPr>
      </p:sp>
      <p:sp>
        <p:nvSpPr>
          <p:cNvPr id="43" name="Shape 41"/>
          <p:cNvSpPr/>
          <p:nvPr/>
        </p:nvSpPr>
        <p:spPr>
          <a:xfrm>
            <a:off x="3291840" y="3584448"/>
            <a:ext cx="502920" cy="502920"/>
          </a:xfrm>
          <a:prstGeom prst="ellipse">
            <a:avLst/>
          </a:prstGeom>
          <a:solidFill>
            <a:srgbClr val="F39C12">
              <a:alpha val="20000"/>
            </a:srgbClr>
          </a:solidFill>
          <a:ln w="12700">
            <a:solidFill>
              <a:srgbClr val="F39C12"/>
            </a:solidFill>
            <a:prstDash val="solid"/>
          </a:ln>
        </p:spPr>
      </p:sp>
      <p:sp>
        <p:nvSpPr>
          <p:cNvPr id="44" name="Text 42"/>
          <p:cNvSpPr/>
          <p:nvPr/>
        </p:nvSpPr>
        <p:spPr>
          <a:xfrm>
            <a:off x="3858768" y="3474720"/>
            <a:ext cx="1920240" cy="274320"/>
          </a:xfrm>
          <a:prstGeom prst="rect">
            <a:avLst/>
          </a:prstGeom>
          <a:noFill/>
          <a:ln/>
        </p:spPr>
        <p:txBody>
          <a:bodyPr wrap="square" rtlCol="0" anchor="ctr"/>
          <a:lstStyle/>
          <a:p>
            <a:pPr marL="0" indent="0">
              <a:buNone/>
            </a:pPr>
            <a:r>
              <a:rPr lang="en-US" sz="1200" b="1" dirty="0" smtClean="0">
                <a:solidFill>
                  <a:srgbClr val="1E3A5F"/>
                </a:solidFill>
                <a:latin typeface="Calibri" pitchFamily="34" charset="0"/>
                <a:cs typeface="Calibri" pitchFamily="34" charset="-120"/>
              </a:rPr>
              <a:t>Fetch</a:t>
            </a:r>
            <a:endParaRPr lang="en-US" sz="1200" dirty="0"/>
          </a:p>
        </p:txBody>
      </p:sp>
      <p:sp>
        <p:nvSpPr>
          <p:cNvPr id="45" name="Text 43"/>
          <p:cNvSpPr/>
          <p:nvPr/>
        </p:nvSpPr>
        <p:spPr>
          <a:xfrm>
            <a:off x="3858768" y="3767328"/>
            <a:ext cx="1920240" cy="45720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HTTP Client</a:t>
            </a:r>
            <a:endParaRPr lang="en-US" sz="1000" dirty="0"/>
          </a:p>
        </p:txBody>
      </p:sp>
      <p:sp>
        <p:nvSpPr>
          <p:cNvPr id="46" name="Shape 44"/>
          <p:cNvSpPr/>
          <p:nvPr/>
        </p:nvSpPr>
        <p:spPr>
          <a:xfrm>
            <a:off x="6126480" y="3383280"/>
            <a:ext cx="2743200" cy="960120"/>
          </a:xfrm>
          <a:prstGeom prst="rect">
            <a:avLst/>
          </a:prstGeom>
          <a:solidFill>
            <a:srgbClr val="FFFFFF"/>
          </a:solidFill>
          <a:ln w="12700">
            <a:solidFill>
              <a:srgbClr val="E0E8F0"/>
            </a:solidFill>
            <a:prstDash val="solid"/>
          </a:ln>
          <a:effectLst>
            <a:outerShdw blurRad="101600" dist="38100" dir="8100000" algn="bl" rotWithShape="0">
              <a:srgbClr val="000000">
                <a:alpha val="12000"/>
              </a:srgbClr>
            </a:outerShdw>
          </a:effectLst>
        </p:spPr>
      </p:sp>
      <p:sp>
        <p:nvSpPr>
          <p:cNvPr id="47" name="Shape 45"/>
          <p:cNvSpPr/>
          <p:nvPr/>
        </p:nvSpPr>
        <p:spPr>
          <a:xfrm>
            <a:off x="6126480" y="3383280"/>
            <a:ext cx="45720" cy="960120"/>
          </a:xfrm>
          <a:prstGeom prst="rect">
            <a:avLst/>
          </a:prstGeom>
          <a:solidFill>
            <a:srgbClr val="2980B9"/>
          </a:solidFill>
          <a:ln w="12700">
            <a:solidFill>
              <a:srgbClr val="2980B9"/>
            </a:solidFill>
            <a:prstDash val="solid"/>
          </a:ln>
        </p:spPr>
      </p:sp>
      <p:sp>
        <p:nvSpPr>
          <p:cNvPr id="48" name="Shape 46"/>
          <p:cNvSpPr/>
          <p:nvPr/>
        </p:nvSpPr>
        <p:spPr>
          <a:xfrm>
            <a:off x="6217920" y="3584448"/>
            <a:ext cx="502920" cy="502920"/>
          </a:xfrm>
          <a:prstGeom prst="ellipse">
            <a:avLst/>
          </a:prstGeom>
          <a:solidFill>
            <a:srgbClr val="2980B9">
              <a:alpha val="20000"/>
            </a:srgbClr>
          </a:solidFill>
          <a:ln w="12700">
            <a:solidFill>
              <a:srgbClr val="2980B9"/>
            </a:solidFill>
            <a:prstDash val="solid"/>
          </a:ln>
        </p:spPr>
      </p:sp>
      <p:sp>
        <p:nvSpPr>
          <p:cNvPr id="49" name="Text 47"/>
          <p:cNvSpPr/>
          <p:nvPr/>
        </p:nvSpPr>
        <p:spPr>
          <a:xfrm>
            <a:off x="6784848" y="3474720"/>
            <a:ext cx="1920240" cy="274320"/>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React Router</a:t>
            </a:r>
            <a:endParaRPr lang="en-US" sz="1200" dirty="0"/>
          </a:p>
        </p:txBody>
      </p:sp>
      <p:sp>
        <p:nvSpPr>
          <p:cNvPr id="50" name="Text 48"/>
          <p:cNvSpPr/>
          <p:nvPr/>
        </p:nvSpPr>
        <p:spPr>
          <a:xfrm>
            <a:off x="6784848" y="3767328"/>
            <a:ext cx="1920240" cy="45720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Navigation</a:t>
            </a:r>
            <a:endParaRPr lang="en-US" sz="1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Acteurs du système</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6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6 / 19</a:t>
            </a:r>
            <a:endParaRPr lang="en-US" sz="900" dirty="0"/>
          </a:p>
        </p:txBody>
      </p:sp>
      <p:sp>
        <p:nvSpPr>
          <p:cNvPr id="6" name="Shape 4"/>
          <p:cNvSpPr/>
          <p:nvPr/>
        </p:nvSpPr>
        <p:spPr>
          <a:xfrm>
            <a:off x="274320" y="1097280"/>
            <a:ext cx="2651760" cy="3200400"/>
          </a:xfrm>
          <a:prstGeom prst="rect">
            <a:avLst/>
          </a:prstGeom>
          <a:solidFill>
            <a:srgbClr val="FFFFFF"/>
          </a:solidFill>
          <a:ln w="25400">
            <a:solidFill>
              <a:srgbClr val="2E86AB"/>
            </a:solidFill>
            <a:prstDash val="solid"/>
          </a:ln>
          <a:effectLst>
            <a:outerShdw blurRad="101600" dist="38100" dir="8100000" algn="bl" rotWithShape="0">
              <a:srgbClr val="000000">
                <a:alpha val="12000"/>
              </a:srgbClr>
            </a:outerShdw>
          </a:effectLst>
        </p:spPr>
      </p:sp>
      <p:sp>
        <p:nvSpPr>
          <p:cNvPr id="7" name="Shape 5"/>
          <p:cNvSpPr/>
          <p:nvPr/>
        </p:nvSpPr>
        <p:spPr>
          <a:xfrm>
            <a:off x="274320" y="1097280"/>
            <a:ext cx="2651760" cy="685800"/>
          </a:xfrm>
          <a:prstGeom prst="rect">
            <a:avLst/>
          </a:prstGeom>
          <a:solidFill>
            <a:srgbClr val="2E86AB"/>
          </a:solidFill>
          <a:ln w="12700">
            <a:solidFill>
              <a:srgbClr val="2E86AB"/>
            </a:solidFill>
            <a:prstDash val="solid"/>
          </a:ln>
        </p:spPr>
      </p:sp>
      <p:sp>
        <p:nvSpPr>
          <p:cNvPr id="8" name="Text 6"/>
          <p:cNvSpPr/>
          <p:nvPr/>
        </p:nvSpPr>
        <p:spPr>
          <a:xfrm>
            <a:off x="274320" y="1097280"/>
            <a:ext cx="2651760" cy="6858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365760" y="1828800"/>
            <a:ext cx="2468880" cy="365760"/>
          </a:xfrm>
          <a:prstGeom prst="rect">
            <a:avLst/>
          </a:prstGeom>
          <a:noFill/>
          <a:ln/>
        </p:spPr>
        <p:txBody>
          <a:bodyPr wrap="square"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CLIENT</a:t>
            </a:r>
            <a:endParaRPr lang="en-US" sz="1600" dirty="0"/>
          </a:p>
        </p:txBody>
      </p:sp>
      <p:sp>
        <p:nvSpPr>
          <p:cNvPr id="10" name="Text 8"/>
          <p:cNvSpPr/>
          <p:nvPr/>
        </p:nvSpPr>
        <p:spPr>
          <a:xfrm>
            <a:off x="411480" y="2286000"/>
            <a:ext cx="2377440" cy="1645920"/>
          </a:xfrm>
          <a:prstGeom prst="rect">
            <a:avLst/>
          </a:prstGeom>
          <a:noFill/>
          <a:ln/>
        </p:spPr>
        <p:txBody>
          <a:bodyPr wrap="square" rtlCol="0" anchor="t"/>
          <a:lstStyle/>
          <a:p>
            <a:pPr marL="0" indent="0" algn="l">
              <a:buNone/>
            </a:pPr>
            <a:r>
              <a:rPr lang="en-US" sz="1000" dirty="0">
                <a:solidFill>
                  <a:srgbClr val="444444"/>
                </a:solidFill>
                <a:latin typeface="Calibri" pitchFamily="34" charset="0"/>
                <a:ea typeface="Calibri" pitchFamily="34" charset="-122"/>
                <a:cs typeface="Calibri" pitchFamily="34" charset="-120"/>
              </a:rPr>
              <a:t>Accède à ses programmes, suit sa progression, réserve des RDV, consulte son plan nutritionnel, envoie des messages et effectue ses paiements.</a:t>
            </a:r>
            <a:endParaRPr lang="en-US" sz="1000" dirty="0"/>
          </a:p>
        </p:txBody>
      </p:sp>
      <p:sp>
        <p:nvSpPr>
          <p:cNvPr id="11" name="Shape 9"/>
          <p:cNvSpPr/>
          <p:nvPr/>
        </p:nvSpPr>
        <p:spPr>
          <a:xfrm>
            <a:off x="777240" y="3977640"/>
            <a:ext cx="1645920" cy="256032"/>
          </a:xfrm>
          <a:prstGeom prst="roundRect">
            <a:avLst>
              <a:gd name="adj" fmla="val 17857"/>
            </a:avLst>
          </a:prstGeom>
          <a:solidFill>
            <a:srgbClr val="2E86AB"/>
          </a:solidFill>
          <a:ln w="12700">
            <a:solidFill>
              <a:srgbClr val="2E86AB"/>
            </a:solidFill>
            <a:prstDash val="solid"/>
          </a:ln>
        </p:spPr>
      </p:sp>
      <p:sp>
        <p:nvSpPr>
          <p:cNvPr id="12" name="Text 10"/>
          <p:cNvSpPr/>
          <p:nvPr/>
        </p:nvSpPr>
        <p:spPr>
          <a:xfrm>
            <a:off x="777240" y="3977640"/>
            <a:ext cx="16459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Espace dédié</a:t>
            </a:r>
            <a:endParaRPr lang="en-US" sz="900" dirty="0"/>
          </a:p>
        </p:txBody>
      </p:sp>
      <p:sp>
        <p:nvSpPr>
          <p:cNvPr id="13" name="Shape 11"/>
          <p:cNvSpPr/>
          <p:nvPr/>
        </p:nvSpPr>
        <p:spPr>
          <a:xfrm>
            <a:off x="3154680" y="1097280"/>
            <a:ext cx="2651760" cy="3200400"/>
          </a:xfrm>
          <a:prstGeom prst="rect">
            <a:avLst/>
          </a:prstGeom>
          <a:solidFill>
            <a:srgbClr val="FFFFFF"/>
          </a:solidFill>
          <a:ln w="25400">
            <a:solidFill>
              <a:srgbClr val="27AE60"/>
            </a:solidFill>
            <a:prstDash val="solid"/>
          </a:ln>
          <a:effectLst>
            <a:outerShdw blurRad="101600" dist="38100" dir="8100000" algn="bl" rotWithShape="0">
              <a:srgbClr val="000000">
                <a:alpha val="12000"/>
              </a:srgbClr>
            </a:outerShdw>
          </a:effectLst>
        </p:spPr>
      </p:sp>
      <p:sp>
        <p:nvSpPr>
          <p:cNvPr id="14" name="Shape 12"/>
          <p:cNvSpPr/>
          <p:nvPr/>
        </p:nvSpPr>
        <p:spPr>
          <a:xfrm>
            <a:off x="3154680" y="1097280"/>
            <a:ext cx="2651760" cy="685800"/>
          </a:xfrm>
          <a:prstGeom prst="rect">
            <a:avLst/>
          </a:prstGeom>
          <a:solidFill>
            <a:srgbClr val="27AE60"/>
          </a:solidFill>
          <a:ln w="12700">
            <a:solidFill>
              <a:srgbClr val="27AE60"/>
            </a:solidFill>
            <a:prstDash val="solid"/>
          </a:ln>
        </p:spPr>
      </p:sp>
      <p:sp>
        <p:nvSpPr>
          <p:cNvPr id="15" name="Text 13"/>
          <p:cNvSpPr/>
          <p:nvPr/>
        </p:nvSpPr>
        <p:spPr>
          <a:xfrm>
            <a:off x="3154680" y="1097280"/>
            <a:ext cx="2651760" cy="6858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3246120" y="1828800"/>
            <a:ext cx="2468880" cy="365760"/>
          </a:xfrm>
          <a:prstGeom prst="rect">
            <a:avLst/>
          </a:prstGeom>
          <a:noFill/>
          <a:ln/>
        </p:spPr>
        <p:txBody>
          <a:bodyPr wrap="square" rtlCol="0" anchor="ctr"/>
          <a:lstStyle/>
          <a:p>
            <a:pPr marL="0" indent="0" algn="ctr">
              <a:buNone/>
            </a:pPr>
            <a:r>
              <a:rPr lang="en-US" sz="1600" b="1" dirty="0">
                <a:solidFill>
                  <a:srgbClr val="27AE60"/>
                </a:solidFill>
                <a:latin typeface="Calibri" pitchFamily="34" charset="0"/>
                <a:ea typeface="Calibri" pitchFamily="34" charset="-122"/>
                <a:cs typeface="Calibri" pitchFamily="34" charset="-120"/>
              </a:rPr>
              <a:t>COACH</a:t>
            </a:r>
            <a:endParaRPr lang="en-US" sz="1600" dirty="0"/>
          </a:p>
        </p:txBody>
      </p:sp>
      <p:sp>
        <p:nvSpPr>
          <p:cNvPr id="17" name="Text 15"/>
          <p:cNvSpPr/>
          <p:nvPr/>
        </p:nvSpPr>
        <p:spPr>
          <a:xfrm>
            <a:off x="3291840" y="2286000"/>
            <a:ext cx="2377440" cy="1645920"/>
          </a:xfrm>
          <a:prstGeom prst="rect">
            <a:avLst/>
          </a:prstGeom>
          <a:noFill/>
          <a:ln/>
        </p:spPr>
        <p:txBody>
          <a:bodyPr wrap="square" rtlCol="0" anchor="t"/>
          <a:lstStyle/>
          <a:p>
            <a:pPr marL="0" indent="0" algn="l">
              <a:buNone/>
            </a:pPr>
            <a:r>
              <a:rPr lang="en-US" sz="1000" dirty="0">
                <a:solidFill>
                  <a:srgbClr val="444444"/>
                </a:solidFill>
                <a:latin typeface="Calibri" pitchFamily="34" charset="0"/>
                <a:ea typeface="Calibri" pitchFamily="34" charset="-122"/>
                <a:cs typeface="Calibri" pitchFamily="34" charset="-120"/>
              </a:rPr>
              <a:t>Crée et gère les programmes, les exercices et les plans nutritionnels. Confirme les RDV et suit la progression de ses clients.</a:t>
            </a:r>
            <a:endParaRPr lang="en-US" sz="1000" dirty="0"/>
          </a:p>
        </p:txBody>
      </p:sp>
      <p:sp>
        <p:nvSpPr>
          <p:cNvPr id="18" name="Shape 16"/>
          <p:cNvSpPr/>
          <p:nvPr/>
        </p:nvSpPr>
        <p:spPr>
          <a:xfrm>
            <a:off x="3657600" y="3977640"/>
            <a:ext cx="1645920" cy="256032"/>
          </a:xfrm>
          <a:prstGeom prst="roundRect">
            <a:avLst>
              <a:gd name="adj" fmla="val 17857"/>
            </a:avLst>
          </a:prstGeom>
          <a:solidFill>
            <a:srgbClr val="27AE60"/>
          </a:solidFill>
          <a:ln w="12700">
            <a:solidFill>
              <a:srgbClr val="27AE60"/>
            </a:solidFill>
            <a:prstDash val="solid"/>
          </a:ln>
        </p:spPr>
      </p:sp>
      <p:sp>
        <p:nvSpPr>
          <p:cNvPr id="19" name="Text 17"/>
          <p:cNvSpPr/>
          <p:nvPr/>
        </p:nvSpPr>
        <p:spPr>
          <a:xfrm>
            <a:off x="3657600" y="3977640"/>
            <a:ext cx="16459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Espace dédié</a:t>
            </a:r>
            <a:endParaRPr lang="en-US" sz="900" dirty="0"/>
          </a:p>
        </p:txBody>
      </p:sp>
      <p:sp>
        <p:nvSpPr>
          <p:cNvPr id="20" name="Shape 18"/>
          <p:cNvSpPr/>
          <p:nvPr/>
        </p:nvSpPr>
        <p:spPr>
          <a:xfrm>
            <a:off x="6035040" y="1097280"/>
            <a:ext cx="2651760" cy="3200400"/>
          </a:xfrm>
          <a:prstGeom prst="rect">
            <a:avLst/>
          </a:prstGeom>
          <a:solidFill>
            <a:srgbClr val="FFFFFF"/>
          </a:solidFill>
          <a:ln w="25400">
            <a:solidFill>
              <a:srgbClr val="1E3A5F"/>
            </a:solidFill>
            <a:prstDash val="solid"/>
          </a:ln>
          <a:effectLst>
            <a:outerShdw blurRad="101600" dist="38100" dir="8100000" algn="bl" rotWithShape="0">
              <a:srgbClr val="000000">
                <a:alpha val="12000"/>
              </a:srgbClr>
            </a:outerShdw>
          </a:effectLst>
        </p:spPr>
      </p:sp>
      <p:sp>
        <p:nvSpPr>
          <p:cNvPr id="21" name="Shape 19"/>
          <p:cNvSpPr/>
          <p:nvPr/>
        </p:nvSpPr>
        <p:spPr>
          <a:xfrm>
            <a:off x="6035040" y="1097280"/>
            <a:ext cx="2651760" cy="685800"/>
          </a:xfrm>
          <a:prstGeom prst="rect">
            <a:avLst/>
          </a:prstGeom>
          <a:solidFill>
            <a:srgbClr val="1E3A5F"/>
          </a:solidFill>
          <a:ln w="12700">
            <a:solidFill>
              <a:srgbClr val="1E3A5F"/>
            </a:solidFill>
            <a:prstDash val="solid"/>
          </a:ln>
        </p:spPr>
      </p:sp>
      <p:sp>
        <p:nvSpPr>
          <p:cNvPr id="22" name="Text 20"/>
          <p:cNvSpPr/>
          <p:nvPr/>
        </p:nvSpPr>
        <p:spPr>
          <a:xfrm>
            <a:off x="6035040" y="1097280"/>
            <a:ext cx="2651760" cy="6858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6126480" y="1828800"/>
            <a:ext cx="2468880" cy="365760"/>
          </a:xfrm>
          <a:prstGeom prst="rect">
            <a:avLst/>
          </a:prstGeom>
          <a:noFill/>
          <a:ln/>
        </p:spPr>
        <p:txBody>
          <a:bodyPr wrap="square" rtlCol="0" anchor="ctr"/>
          <a:lstStyle/>
          <a:p>
            <a:pPr marL="0" indent="0" algn="ctr">
              <a:buNone/>
            </a:pPr>
            <a:r>
              <a:rPr lang="en-US" sz="1600" b="1" dirty="0">
                <a:solidFill>
                  <a:srgbClr val="1E3A5F"/>
                </a:solidFill>
                <a:latin typeface="Calibri" pitchFamily="34" charset="0"/>
                <a:ea typeface="Calibri" pitchFamily="34" charset="-122"/>
                <a:cs typeface="Calibri" pitchFamily="34" charset="-120"/>
              </a:rPr>
              <a:t>ADMIN</a:t>
            </a:r>
            <a:endParaRPr lang="en-US" sz="1600" dirty="0"/>
          </a:p>
        </p:txBody>
      </p:sp>
      <p:sp>
        <p:nvSpPr>
          <p:cNvPr id="24" name="Text 22"/>
          <p:cNvSpPr/>
          <p:nvPr/>
        </p:nvSpPr>
        <p:spPr>
          <a:xfrm>
            <a:off x="6172200" y="2286000"/>
            <a:ext cx="2377440" cy="1645920"/>
          </a:xfrm>
          <a:prstGeom prst="rect">
            <a:avLst/>
          </a:prstGeom>
          <a:noFill/>
          <a:ln/>
        </p:spPr>
        <p:txBody>
          <a:bodyPr wrap="square" rtlCol="0" anchor="t"/>
          <a:lstStyle/>
          <a:p>
            <a:pPr marL="0" indent="0" algn="l">
              <a:buNone/>
            </a:pPr>
            <a:r>
              <a:rPr lang="en-US" sz="1000" dirty="0">
                <a:solidFill>
                  <a:srgbClr val="444444"/>
                </a:solidFill>
                <a:latin typeface="Calibri" pitchFamily="34" charset="0"/>
                <a:ea typeface="Calibri" pitchFamily="34" charset="-122"/>
                <a:cs typeface="Calibri" pitchFamily="34" charset="-120"/>
              </a:rPr>
              <a:t>Supervise l'ensemble de la plateforme via Django Admin. Gère les utilisateurs, les contenus et les données globales.</a:t>
            </a:r>
            <a:endParaRPr lang="en-US" sz="1000" dirty="0"/>
          </a:p>
        </p:txBody>
      </p:sp>
      <p:sp>
        <p:nvSpPr>
          <p:cNvPr id="25" name="Shape 23"/>
          <p:cNvSpPr/>
          <p:nvPr/>
        </p:nvSpPr>
        <p:spPr>
          <a:xfrm>
            <a:off x="6537960" y="3977640"/>
            <a:ext cx="1645920" cy="256032"/>
          </a:xfrm>
          <a:prstGeom prst="roundRect">
            <a:avLst>
              <a:gd name="adj" fmla="val 17857"/>
            </a:avLst>
          </a:prstGeom>
          <a:solidFill>
            <a:srgbClr val="1E3A5F"/>
          </a:solidFill>
          <a:ln w="12700">
            <a:solidFill>
              <a:srgbClr val="1E3A5F"/>
            </a:solidFill>
            <a:prstDash val="solid"/>
          </a:ln>
        </p:spPr>
      </p:sp>
      <p:sp>
        <p:nvSpPr>
          <p:cNvPr id="26" name="Text 24"/>
          <p:cNvSpPr/>
          <p:nvPr/>
        </p:nvSpPr>
        <p:spPr>
          <a:xfrm>
            <a:off x="6537960" y="3977640"/>
            <a:ext cx="16459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Django Admin</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Diagramme de cas d'utilisation</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7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7 / 19</a:t>
            </a:r>
            <a:endParaRPr lang="en-US" sz="900" dirty="0"/>
          </a:p>
        </p:txBody>
      </p:sp>
      <p:sp>
        <p:nvSpPr>
          <p:cNvPr id="6" name="Text 4"/>
          <p:cNvSpPr/>
          <p:nvPr/>
        </p:nvSpPr>
        <p:spPr>
          <a:xfrm>
            <a:off x="274320" y="1097279"/>
            <a:ext cx="8412480" cy="3739897"/>
          </a:xfrm>
          <a:prstGeom prst="rect">
            <a:avLst/>
          </a:prstGeom>
          <a:solidFill>
            <a:srgbClr val="EEF7FF"/>
          </a:solidFill>
          <a:ln>
            <a:solidFill>
              <a:srgbClr val="2E86AB"/>
            </a:solidFill>
            <a:prstDash val="dash"/>
          </a:ln>
        </p:spPr>
        <p:txBody>
          <a:bodyPr wrap="square" rtlCol="0" anchor="ctr"/>
          <a:lstStyle/>
          <a:p>
            <a:pPr marL="0" indent="0" algn="ctr">
              <a:buNone/>
            </a:pPr>
            <a:r>
              <a:rPr lang="en-US" sz="1300" i="1" dirty="0">
                <a:solidFill>
                  <a:srgbClr val="2E86AB"/>
                </a:solidFill>
                <a:latin typeface="Calibri" pitchFamily="34" charset="0"/>
                <a:ea typeface="Calibri" pitchFamily="34" charset="-122"/>
                <a:cs typeface="Calibri" pitchFamily="34" charset="-120"/>
              </a:rPr>
              <a:t>[ Insérer ici le diagramme de cas d'utilisation UML — Figure 2 ]</a:t>
            </a:r>
            <a:endParaRPr lang="en-US" sz="1300" dirty="0"/>
          </a:p>
        </p:txBody>
      </p:sp>
      <p:pic>
        <p:nvPicPr>
          <p:cNvPr id="27" name="Image 26"/>
          <p:cNvPicPr/>
          <p:nvPr/>
        </p:nvPicPr>
        <p:blipFill>
          <a:blip r:embed="rId3"/>
          <a:stretch>
            <a:fillRect/>
          </a:stretch>
        </p:blipFill>
        <p:spPr>
          <a:xfrm>
            <a:off x="1407886" y="1147763"/>
            <a:ext cx="6008914" cy="3689413"/>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5"/>
          <p:cNvSpPr/>
          <p:nvPr/>
        </p:nvSpPr>
        <p:spPr>
          <a:xfrm>
            <a:off x="274320" y="1061950"/>
            <a:ext cx="2651760" cy="292608"/>
          </a:xfrm>
          <a:prstGeom prst="rect">
            <a:avLst/>
          </a:prstGeom>
          <a:solidFill>
            <a:srgbClr val="2E86AB"/>
          </a:solidFill>
          <a:ln w="12700">
            <a:solidFill>
              <a:srgbClr val="2E86AB"/>
            </a:solidFill>
            <a:prstDash val="solid"/>
          </a:ln>
        </p:spPr>
      </p:sp>
      <p:sp>
        <p:nvSpPr>
          <p:cNvPr id="3" name="Text 6"/>
          <p:cNvSpPr/>
          <p:nvPr/>
        </p:nvSpPr>
        <p:spPr>
          <a:xfrm>
            <a:off x="274320" y="1061950"/>
            <a:ext cx="26517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Client</a:t>
            </a:r>
            <a:endParaRPr lang="en-US" sz="1100" dirty="0"/>
          </a:p>
        </p:txBody>
      </p:sp>
      <p:sp>
        <p:nvSpPr>
          <p:cNvPr id="4" name="Text 7"/>
          <p:cNvSpPr/>
          <p:nvPr/>
        </p:nvSpPr>
        <p:spPr>
          <a:xfrm>
            <a:off x="365760" y="1400278"/>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S'inscrire / Se connecter</a:t>
            </a:r>
            <a:endParaRPr lang="en-US" sz="900" dirty="0"/>
          </a:p>
        </p:txBody>
      </p:sp>
      <p:sp>
        <p:nvSpPr>
          <p:cNvPr id="5" name="Text 8"/>
          <p:cNvSpPr/>
          <p:nvPr/>
        </p:nvSpPr>
        <p:spPr>
          <a:xfrm>
            <a:off x="365760" y="1656310"/>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Consulter ses programmes</a:t>
            </a:r>
            <a:endParaRPr lang="en-US" sz="900" dirty="0"/>
          </a:p>
        </p:txBody>
      </p:sp>
      <p:sp>
        <p:nvSpPr>
          <p:cNvPr id="6" name="Text 9"/>
          <p:cNvSpPr/>
          <p:nvPr/>
        </p:nvSpPr>
        <p:spPr>
          <a:xfrm>
            <a:off x="365760" y="1912342"/>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Suivre sa progression</a:t>
            </a:r>
            <a:endParaRPr lang="en-US" sz="900" dirty="0"/>
          </a:p>
        </p:txBody>
      </p:sp>
      <p:sp>
        <p:nvSpPr>
          <p:cNvPr id="7" name="Text 10"/>
          <p:cNvSpPr/>
          <p:nvPr/>
        </p:nvSpPr>
        <p:spPr>
          <a:xfrm>
            <a:off x="365760" y="2168374"/>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Réserver un RDV</a:t>
            </a:r>
            <a:endParaRPr lang="en-US" sz="900" dirty="0"/>
          </a:p>
        </p:txBody>
      </p:sp>
      <p:sp>
        <p:nvSpPr>
          <p:cNvPr id="8" name="Text 11"/>
          <p:cNvSpPr/>
          <p:nvPr/>
        </p:nvSpPr>
        <p:spPr>
          <a:xfrm>
            <a:off x="365760" y="2424406"/>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Envoyer un message</a:t>
            </a:r>
            <a:endParaRPr lang="en-US" sz="900" dirty="0"/>
          </a:p>
        </p:txBody>
      </p:sp>
      <p:sp>
        <p:nvSpPr>
          <p:cNvPr id="9" name="Text 12"/>
          <p:cNvSpPr/>
          <p:nvPr/>
        </p:nvSpPr>
        <p:spPr>
          <a:xfrm>
            <a:off x="365760" y="2680438"/>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Effectuer un paiement</a:t>
            </a:r>
            <a:endParaRPr lang="en-US" sz="900" dirty="0"/>
          </a:p>
        </p:txBody>
      </p:sp>
      <p:sp>
        <p:nvSpPr>
          <p:cNvPr id="10" name="Shape 13"/>
          <p:cNvSpPr/>
          <p:nvPr/>
        </p:nvSpPr>
        <p:spPr>
          <a:xfrm>
            <a:off x="3108960" y="1061950"/>
            <a:ext cx="2651760" cy="292608"/>
          </a:xfrm>
          <a:prstGeom prst="rect">
            <a:avLst/>
          </a:prstGeom>
          <a:solidFill>
            <a:srgbClr val="27AE60"/>
          </a:solidFill>
          <a:ln w="12700">
            <a:solidFill>
              <a:srgbClr val="27AE60"/>
            </a:solidFill>
            <a:prstDash val="solid"/>
          </a:ln>
        </p:spPr>
      </p:sp>
      <p:sp>
        <p:nvSpPr>
          <p:cNvPr id="11" name="Text 14"/>
          <p:cNvSpPr/>
          <p:nvPr/>
        </p:nvSpPr>
        <p:spPr>
          <a:xfrm>
            <a:off x="3108960" y="1061950"/>
            <a:ext cx="26517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Coach</a:t>
            </a:r>
            <a:endParaRPr lang="en-US" sz="1100" dirty="0"/>
          </a:p>
        </p:txBody>
      </p:sp>
      <p:sp>
        <p:nvSpPr>
          <p:cNvPr id="12" name="Text 15"/>
          <p:cNvSpPr/>
          <p:nvPr/>
        </p:nvSpPr>
        <p:spPr>
          <a:xfrm>
            <a:off x="3200400" y="1400278"/>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Créer des programmes</a:t>
            </a:r>
            <a:endParaRPr lang="en-US" sz="900" dirty="0"/>
          </a:p>
        </p:txBody>
      </p:sp>
      <p:sp>
        <p:nvSpPr>
          <p:cNvPr id="13" name="Text 16"/>
          <p:cNvSpPr/>
          <p:nvPr/>
        </p:nvSpPr>
        <p:spPr>
          <a:xfrm>
            <a:off x="3200400" y="1656310"/>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Attribuer des exercices</a:t>
            </a:r>
            <a:endParaRPr lang="en-US" sz="900" dirty="0"/>
          </a:p>
        </p:txBody>
      </p:sp>
      <p:sp>
        <p:nvSpPr>
          <p:cNvPr id="14" name="Text 17"/>
          <p:cNvSpPr/>
          <p:nvPr/>
        </p:nvSpPr>
        <p:spPr>
          <a:xfrm>
            <a:off x="3200400" y="1912342"/>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Créer des plans nutritionnels</a:t>
            </a:r>
            <a:endParaRPr lang="en-US" sz="900" dirty="0"/>
          </a:p>
        </p:txBody>
      </p:sp>
      <p:sp>
        <p:nvSpPr>
          <p:cNvPr id="15" name="Text 18"/>
          <p:cNvSpPr/>
          <p:nvPr/>
        </p:nvSpPr>
        <p:spPr>
          <a:xfrm>
            <a:off x="3200400" y="2168374"/>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Confirmer les RDV</a:t>
            </a:r>
            <a:endParaRPr lang="en-US" sz="900" dirty="0"/>
          </a:p>
        </p:txBody>
      </p:sp>
      <p:sp>
        <p:nvSpPr>
          <p:cNvPr id="16" name="Text 19"/>
          <p:cNvSpPr/>
          <p:nvPr/>
        </p:nvSpPr>
        <p:spPr>
          <a:xfrm>
            <a:off x="3200400" y="2424406"/>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Répondre aux messages</a:t>
            </a:r>
            <a:endParaRPr lang="en-US" sz="900" dirty="0"/>
          </a:p>
        </p:txBody>
      </p:sp>
      <p:sp>
        <p:nvSpPr>
          <p:cNvPr id="17" name="Shape 20"/>
          <p:cNvSpPr/>
          <p:nvPr/>
        </p:nvSpPr>
        <p:spPr>
          <a:xfrm>
            <a:off x="5943600" y="1061950"/>
            <a:ext cx="2651760" cy="292608"/>
          </a:xfrm>
          <a:prstGeom prst="rect">
            <a:avLst/>
          </a:prstGeom>
          <a:solidFill>
            <a:srgbClr val="1E3A5F"/>
          </a:solidFill>
          <a:ln w="12700">
            <a:solidFill>
              <a:srgbClr val="1E3A5F"/>
            </a:solidFill>
            <a:prstDash val="solid"/>
          </a:ln>
        </p:spPr>
      </p:sp>
      <p:sp>
        <p:nvSpPr>
          <p:cNvPr id="18" name="Text 21"/>
          <p:cNvSpPr/>
          <p:nvPr/>
        </p:nvSpPr>
        <p:spPr>
          <a:xfrm>
            <a:off x="5943600" y="1061950"/>
            <a:ext cx="265176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Admin</a:t>
            </a:r>
            <a:endParaRPr lang="en-US" sz="1100" dirty="0"/>
          </a:p>
        </p:txBody>
      </p:sp>
      <p:sp>
        <p:nvSpPr>
          <p:cNvPr id="19" name="Text 22"/>
          <p:cNvSpPr/>
          <p:nvPr/>
        </p:nvSpPr>
        <p:spPr>
          <a:xfrm>
            <a:off x="6035040" y="1400278"/>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Gérer les utilisateurs</a:t>
            </a:r>
            <a:endParaRPr lang="en-US" sz="900" dirty="0"/>
          </a:p>
        </p:txBody>
      </p:sp>
      <p:sp>
        <p:nvSpPr>
          <p:cNvPr id="20" name="Text 23"/>
          <p:cNvSpPr/>
          <p:nvPr/>
        </p:nvSpPr>
        <p:spPr>
          <a:xfrm>
            <a:off x="6035040" y="1656310"/>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Superviser les contenus</a:t>
            </a:r>
            <a:endParaRPr lang="en-US" sz="900" dirty="0"/>
          </a:p>
        </p:txBody>
      </p:sp>
      <p:sp>
        <p:nvSpPr>
          <p:cNvPr id="21" name="Text 24"/>
          <p:cNvSpPr/>
          <p:nvPr/>
        </p:nvSpPr>
        <p:spPr>
          <a:xfrm>
            <a:off x="6035040" y="1912342"/>
            <a:ext cx="2468880" cy="237744"/>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 Accéder à Django Admin</a:t>
            </a:r>
            <a:endParaRPr lang="en-US" sz="900" dirty="0"/>
          </a:p>
        </p:txBody>
      </p:sp>
      <p:graphicFrame>
        <p:nvGraphicFramePr>
          <p:cNvPr id="22" name="Tableau 21"/>
          <p:cNvGraphicFramePr>
            <a:graphicFrameLocks noGrp="1"/>
          </p:cNvGraphicFramePr>
          <p:nvPr>
            <p:extLst>
              <p:ext uri="{D42A27DB-BD31-4B8C-83A1-F6EECF244321}">
                <p14:modId xmlns:p14="http://schemas.microsoft.com/office/powerpoint/2010/main" val="1586934228"/>
              </p:ext>
            </p:extLst>
          </p:nvPr>
        </p:nvGraphicFramePr>
        <p:xfrm>
          <a:off x="135082" y="997527"/>
          <a:ext cx="8562109" cy="2036618"/>
        </p:xfrm>
        <a:graphic>
          <a:graphicData uri="http://schemas.openxmlformats.org/drawingml/2006/table">
            <a:tbl>
              <a:tblPr>
                <a:tableStyleId>{2D5ABB26-0587-4C30-8999-92F81FD0307C}</a:tableStyleId>
              </a:tblPr>
              <a:tblGrid>
                <a:gridCol w="8562109">
                  <a:extLst>
                    <a:ext uri="{9D8B030D-6E8A-4147-A177-3AD203B41FA5}">
                      <a16:colId xmlns:a16="http://schemas.microsoft.com/office/drawing/2014/main" val="20000"/>
                    </a:ext>
                  </a:extLst>
                </a:gridCol>
              </a:tblGrid>
              <a:tr h="2036618">
                <a:tc>
                  <a:txBody>
                    <a:bodyPr/>
                    <a:lstStyle/>
                    <a:p>
                      <a:endParaRPr lang="fr-FR"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5785537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Diagramme de classes</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8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8 / 19</a:t>
            </a:r>
            <a:endParaRPr lang="en-US" sz="900" dirty="0"/>
          </a:p>
        </p:txBody>
      </p:sp>
      <p:sp>
        <p:nvSpPr>
          <p:cNvPr id="6" name="Text 4"/>
          <p:cNvSpPr/>
          <p:nvPr/>
        </p:nvSpPr>
        <p:spPr>
          <a:xfrm>
            <a:off x="274320" y="1097279"/>
            <a:ext cx="5029200" cy="3651365"/>
          </a:xfrm>
          <a:prstGeom prst="rect">
            <a:avLst/>
          </a:prstGeom>
          <a:solidFill>
            <a:srgbClr val="EEF7FF"/>
          </a:solidFill>
          <a:ln>
            <a:solidFill>
              <a:srgbClr val="2E86AB"/>
            </a:solidFill>
            <a:prstDash val="dash"/>
          </a:ln>
        </p:spPr>
        <p:txBody>
          <a:bodyPr wrap="square" rtlCol="0" anchor="ctr"/>
          <a:lstStyle/>
          <a:p>
            <a:pPr marL="0" indent="0" algn="ctr">
              <a:buNone/>
            </a:pPr>
            <a:r>
              <a:rPr lang="en-US" sz="1200" i="1" dirty="0">
                <a:solidFill>
                  <a:srgbClr val="2E86AB"/>
                </a:solidFill>
                <a:latin typeface="Calibri" pitchFamily="34" charset="0"/>
                <a:ea typeface="Calibri" pitchFamily="34" charset="-122"/>
                <a:cs typeface="Calibri" pitchFamily="34" charset="-120"/>
              </a:rPr>
              <a:t>[ Insérer ici le diagramme de classes UML — Figure 3 ]</a:t>
            </a:r>
            <a:endParaRPr lang="en-US" sz="1200" dirty="0"/>
          </a:p>
        </p:txBody>
      </p:sp>
      <p:sp>
        <p:nvSpPr>
          <p:cNvPr id="7" name="Shape 5"/>
          <p:cNvSpPr/>
          <p:nvPr/>
        </p:nvSpPr>
        <p:spPr>
          <a:xfrm>
            <a:off x="5577840" y="1097280"/>
            <a:ext cx="1554480" cy="804672"/>
          </a:xfrm>
          <a:prstGeom prst="rect">
            <a:avLst/>
          </a:prstGeom>
          <a:solidFill>
            <a:srgbClr val="FFFFFF"/>
          </a:solidFill>
          <a:ln w="12700">
            <a:solidFill>
              <a:srgbClr val="1E3A5F"/>
            </a:solidFill>
            <a:prstDash val="solid"/>
          </a:ln>
          <a:effectLst>
            <a:outerShdw blurRad="101600" dist="38100" dir="8100000" algn="bl" rotWithShape="0">
              <a:srgbClr val="000000">
                <a:alpha val="12000"/>
              </a:srgbClr>
            </a:outerShdw>
          </a:effectLst>
        </p:spPr>
      </p:sp>
      <p:sp>
        <p:nvSpPr>
          <p:cNvPr id="8" name="Shape 6"/>
          <p:cNvSpPr/>
          <p:nvPr/>
        </p:nvSpPr>
        <p:spPr>
          <a:xfrm>
            <a:off x="5577840" y="1097280"/>
            <a:ext cx="1554480" cy="256032"/>
          </a:xfrm>
          <a:prstGeom prst="rect">
            <a:avLst/>
          </a:prstGeom>
          <a:solidFill>
            <a:srgbClr val="1E3A5F"/>
          </a:solidFill>
          <a:ln w="12700">
            <a:solidFill>
              <a:srgbClr val="1E3A5F"/>
            </a:solidFill>
            <a:prstDash val="solid"/>
          </a:ln>
        </p:spPr>
      </p:sp>
      <p:sp>
        <p:nvSpPr>
          <p:cNvPr id="9" name="Text 7"/>
          <p:cNvSpPr/>
          <p:nvPr/>
        </p:nvSpPr>
        <p:spPr>
          <a:xfrm>
            <a:off x="5577840" y="1097280"/>
            <a:ext cx="15544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User</a:t>
            </a:r>
            <a:endParaRPr lang="en-US" sz="900" dirty="0"/>
          </a:p>
        </p:txBody>
      </p:sp>
      <p:sp>
        <p:nvSpPr>
          <p:cNvPr id="10" name="Text 8"/>
          <p:cNvSpPr/>
          <p:nvPr/>
        </p:nvSpPr>
        <p:spPr>
          <a:xfrm>
            <a:off x="5596128" y="1371600"/>
            <a:ext cx="1517904" cy="502920"/>
          </a:xfrm>
          <a:prstGeom prst="rect">
            <a:avLst/>
          </a:prstGeom>
          <a:noFill/>
          <a:ln/>
        </p:spPr>
        <p:txBody>
          <a:bodyPr wrap="square" rtlCol="0" anchor="t"/>
          <a:lstStyle/>
          <a:p>
            <a:pPr marL="0" indent="0">
              <a:buNone/>
            </a:pPr>
            <a:r>
              <a:rPr lang="en-US" sz="750" dirty="0">
                <a:solidFill>
                  <a:srgbClr val="444444"/>
                </a:solidFill>
                <a:latin typeface="Calibri" pitchFamily="34" charset="0"/>
                <a:ea typeface="Calibri" pitchFamily="34" charset="-122"/>
                <a:cs typeface="Calibri" pitchFamily="34" charset="-120"/>
              </a:rPr>
              <a:t>id, name, email, password, role</a:t>
            </a:r>
            <a:endParaRPr lang="en-US" sz="750" dirty="0"/>
          </a:p>
        </p:txBody>
      </p:sp>
      <p:sp>
        <p:nvSpPr>
          <p:cNvPr id="11" name="Shape 9"/>
          <p:cNvSpPr/>
          <p:nvPr/>
        </p:nvSpPr>
        <p:spPr>
          <a:xfrm>
            <a:off x="7315200" y="1097280"/>
            <a:ext cx="1554480" cy="804672"/>
          </a:xfrm>
          <a:prstGeom prst="rect">
            <a:avLst/>
          </a:prstGeom>
          <a:solidFill>
            <a:srgbClr val="FFFFFF"/>
          </a:solidFill>
          <a:ln w="12700">
            <a:solidFill>
              <a:srgbClr val="1E3A5F"/>
            </a:solidFill>
            <a:prstDash val="solid"/>
          </a:ln>
          <a:effectLst>
            <a:outerShdw blurRad="101600" dist="38100" dir="8100000" algn="bl" rotWithShape="0">
              <a:srgbClr val="000000">
                <a:alpha val="12000"/>
              </a:srgbClr>
            </a:outerShdw>
          </a:effectLst>
        </p:spPr>
      </p:sp>
      <p:sp>
        <p:nvSpPr>
          <p:cNvPr id="12" name="Shape 10"/>
          <p:cNvSpPr/>
          <p:nvPr/>
        </p:nvSpPr>
        <p:spPr>
          <a:xfrm>
            <a:off x="7315200" y="1097280"/>
            <a:ext cx="1554480" cy="256032"/>
          </a:xfrm>
          <a:prstGeom prst="rect">
            <a:avLst/>
          </a:prstGeom>
          <a:solidFill>
            <a:srgbClr val="1E3A5F"/>
          </a:solidFill>
          <a:ln w="12700">
            <a:solidFill>
              <a:srgbClr val="1E3A5F"/>
            </a:solidFill>
            <a:prstDash val="solid"/>
          </a:ln>
        </p:spPr>
      </p:sp>
      <p:sp>
        <p:nvSpPr>
          <p:cNvPr id="13" name="Text 11"/>
          <p:cNvSpPr/>
          <p:nvPr/>
        </p:nvSpPr>
        <p:spPr>
          <a:xfrm>
            <a:off x="7315200" y="1097280"/>
            <a:ext cx="15544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Programme</a:t>
            </a:r>
            <a:endParaRPr lang="en-US" sz="900" dirty="0"/>
          </a:p>
        </p:txBody>
      </p:sp>
      <p:sp>
        <p:nvSpPr>
          <p:cNvPr id="14" name="Text 12"/>
          <p:cNvSpPr/>
          <p:nvPr/>
        </p:nvSpPr>
        <p:spPr>
          <a:xfrm>
            <a:off x="7333488" y="1371600"/>
            <a:ext cx="1517904" cy="502920"/>
          </a:xfrm>
          <a:prstGeom prst="rect">
            <a:avLst/>
          </a:prstGeom>
          <a:noFill/>
          <a:ln/>
        </p:spPr>
        <p:txBody>
          <a:bodyPr wrap="square" rtlCol="0" anchor="t"/>
          <a:lstStyle/>
          <a:p>
            <a:pPr marL="0" indent="0">
              <a:buNone/>
            </a:pPr>
            <a:r>
              <a:rPr lang="en-US" sz="750" dirty="0">
                <a:solidFill>
                  <a:srgbClr val="444444"/>
                </a:solidFill>
                <a:latin typeface="Calibri" pitchFamily="34" charset="0"/>
                <a:ea typeface="Calibri" pitchFamily="34" charset="-122"/>
                <a:cs typeface="Calibri" pitchFamily="34" charset="-120"/>
              </a:rPr>
              <a:t>id, titre, duree, niveau, coach_id</a:t>
            </a:r>
            <a:endParaRPr lang="en-US" sz="750" dirty="0"/>
          </a:p>
        </p:txBody>
      </p:sp>
      <p:sp>
        <p:nvSpPr>
          <p:cNvPr id="15" name="Shape 13"/>
          <p:cNvSpPr/>
          <p:nvPr/>
        </p:nvSpPr>
        <p:spPr>
          <a:xfrm>
            <a:off x="5577840" y="1993392"/>
            <a:ext cx="1554480" cy="804672"/>
          </a:xfrm>
          <a:prstGeom prst="rect">
            <a:avLst/>
          </a:prstGeom>
          <a:solidFill>
            <a:srgbClr val="FFFFFF"/>
          </a:solidFill>
          <a:ln w="12700">
            <a:solidFill>
              <a:srgbClr val="2E86AB"/>
            </a:solidFill>
            <a:prstDash val="solid"/>
          </a:ln>
          <a:effectLst>
            <a:outerShdw blurRad="101600" dist="38100" dir="8100000" algn="bl" rotWithShape="0">
              <a:srgbClr val="000000">
                <a:alpha val="12000"/>
              </a:srgbClr>
            </a:outerShdw>
          </a:effectLst>
        </p:spPr>
      </p:sp>
      <p:sp>
        <p:nvSpPr>
          <p:cNvPr id="16" name="Shape 14"/>
          <p:cNvSpPr/>
          <p:nvPr/>
        </p:nvSpPr>
        <p:spPr>
          <a:xfrm>
            <a:off x="5577840" y="1993392"/>
            <a:ext cx="1554480" cy="256032"/>
          </a:xfrm>
          <a:prstGeom prst="rect">
            <a:avLst/>
          </a:prstGeom>
          <a:solidFill>
            <a:srgbClr val="2E86AB"/>
          </a:solidFill>
          <a:ln w="12700">
            <a:solidFill>
              <a:srgbClr val="2E86AB"/>
            </a:solidFill>
            <a:prstDash val="solid"/>
          </a:ln>
        </p:spPr>
      </p:sp>
      <p:sp>
        <p:nvSpPr>
          <p:cNvPr id="17" name="Text 15"/>
          <p:cNvSpPr/>
          <p:nvPr/>
        </p:nvSpPr>
        <p:spPr>
          <a:xfrm>
            <a:off x="5577840" y="1993392"/>
            <a:ext cx="15544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Exercice</a:t>
            </a:r>
            <a:endParaRPr lang="en-US" sz="900" dirty="0"/>
          </a:p>
        </p:txBody>
      </p:sp>
      <p:sp>
        <p:nvSpPr>
          <p:cNvPr id="18" name="Text 16"/>
          <p:cNvSpPr/>
          <p:nvPr/>
        </p:nvSpPr>
        <p:spPr>
          <a:xfrm>
            <a:off x="5596128" y="2267712"/>
            <a:ext cx="1517904" cy="502920"/>
          </a:xfrm>
          <a:prstGeom prst="rect">
            <a:avLst/>
          </a:prstGeom>
          <a:noFill/>
          <a:ln/>
        </p:spPr>
        <p:txBody>
          <a:bodyPr wrap="square" rtlCol="0" anchor="t"/>
          <a:lstStyle/>
          <a:p>
            <a:pPr marL="0" indent="0">
              <a:buNone/>
            </a:pPr>
            <a:r>
              <a:rPr lang="en-US" sz="750" dirty="0">
                <a:solidFill>
                  <a:srgbClr val="444444"/>
                </a:solidFill>
                <a:latin typeface="Calibri" pitchFamily="34" charset="0"/>
                <a:ea typeface="Calibri" pitchFamily="34" charset="-122"/>
                <a:cs typeface="Calibri" pitchFamily="34" charset="-120"/>
              </a:rPr>
              <a:t>id, nom, muscles, series, reps</a:t>
            </a:r>
            <a:endParaRPr lang="en-US" sz="750" dirty="0"/>
          </a:p>
        </p:txBody>
      </p:sp>
      <p:sp>
        <p:nvSpPr>
          <p:cNvPr id="19" name="Shape 17"/>
          <p:cNvSpPr/>
          <p:nvPr/>
        </p:nvSpPr>
        <p:spPr>
          <a:xfrm>
            <a:off x="7315200" y="1993392"/>
            <a:ext cx="1554480" cy="804672"/>
          </a:xfrm>
          <a:prstGeom prst="rect">
            <a:avLst/>
          </a:prstGeom>
          <a:solidFill>
            <a:srgbClr val="FFFFFF"/>
          </a:solidFill>
          <a:ln w="12700">
            <a:solidFill>
              <a:srgbClr val="2E86AB"/>
            </a:solidFill>
            <a:prstDash val="solid"/>
          </a:ln>
          <a:effectLst>
            <a:outerShdw blurRad="101600" dist="38100" dir="8100000" algn="bl" rotWithShape="0">
              <a:srgbClr val="000000">
                <a:alpha val="12000"/>
              </a:srgbClr>
            </a:outerShdw>
          </a:effectLst>
        </p:spPr>
      </p:sp>
      <p:sp>
        <p:nvSpPr>
          <p:cNvPr id="20" name="Shape 18"/>
          <p:cNvSpPr/>
          <p:nvPr/>
        </p:nvSpPr>
        <p:spPr>
          <a:xfrm>
            <a:off x="7315200" y="1993392"/>
            <a:ext cx="1554480" cy="256032"/>
          </a:xfrm>
          <a:prstGeom prst="rect">
            <a:avLst/>
          </a:prstGeom>
          <a:solidFill>
            <a:srgbClr val="2E86AB"/>
          </a:solidFill>
          <a:ln w="12700">
            <a:solidFill>
              <a:srgbClr val="2E86AB"/>
            </a:solidFill>
            <a:prstDash val="solid"/>
          </a:ln>
        </p:spPr>
      </p:sp>
      <p:sp>
        <p:nvSpPr>
          <p:cNvPr id="21" name="Text 19"/>
          <p:cNvSpPr/>
          <p:nvPr/>
        </p:nvSpPr>
        <p:spPr>
          <a:xfrm>
            <a:off x="7315200" y="1993392"/>
            <a:ext cx="15544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PlanNutritionnel</a:t>
            </a:r>
            <a:endParaRPr lang="en-US" sz="900" dirty="0"/>
          </a:p>
        </p:txBody>
      </p:sp>
      <p:sp>
        <p:nvSpPr>
          <p:cNvPr id="22" name="Text 20"/>
          <p:cNvSpPr/>
          <p:nvPr/>
        </p:nvSpPr>
        <p:spPr>
          <a:xfrm>
            <a:off x="7333488" y="2267712"/>
            <a:ext cx="1517904" cy="502920"/>
          </a:xfrm>
          <a:prstGeom prst="rect">
            <a:avLst/>
          </a:prstGeom>
          <a:noFill/>
          <a:ln/>
        </p:spPr>
        <p:txBody>
          <a:bodyPr wrap="square" rtlCol="0" anchor="t"/>
          <a:lstStyle/>
          <a:p>
            <a:pPr marL="0" indent="0">
              <a:buNone/>
            </a:pPr>
            <a:r>
              <a:rPr lang="en-US" sz="750" dirty="0">
                <a:solidFill>
                  <a:srgbClr val="444444"/>
                </a:solidFill>
                <a:latin typeface="Calibri" pitchFamily="34" charset="0"/>
                <a:ea typeface="Calibri" pitchFamily="34" charset="-122"/>
                <a:cs typeface="Calibri" pitchFamily="34" charset="-120"/>
              </a:rPr>
              <a:t>id, calories, proteines, client_id</a:t>
            </a:r>
            <a:endParaRPr lang="en-US" sz="750" dirty="0"/>
          </a:p>
        </p:txBody>
      </p:sp>
      <p:sp>
        <p:nvSpPr>
          <p:cNvPr id="23" name="Shape 21"/>
          <p:cNvSpPr/>
          <p:nvPr/>
        </p:nvSpPr>
        <p:spPr>
          <a:xfrm>
            <a:off x="5577840" y="2889504"/>
            <a:ext cx="1554480" cy="804672"/>
          </a:xfrm>
          <a:prstGeom prst="rect">
            <a:avLst/>
          </a:prstGeom>
          <a:solidFill>
            <a:srgbClr val="FFFFFF"/>
          </a:solidFill>
          <a:ln w="12700">
            <a:solidFill>
              <a:srgbClr val="2E86AB"/>
            </a:solidFill>
            <a:prstDash val="solid"/>
          </a:ln>
          <a:effectLst>
            <a:outerShdw blurRad="101600" dist="38100" dir="8100000" algn="bl" rotWithShape="0">
              <a:srgbClr val="000000">
                <a:alpha val="12000"/>
              </a:srgbClr>
            </a:outerShdw>
          </a:effectLst>
        </p:spPr>
      </p:sp>
      <p:sp>
        <p:nvSpPr>
          <p:cNvPr id="24" name="Shape 22"/>
          <p:cNvSpPr/>
          <p:nvPr/>
        </p:nvSpPr>
        <p:spPr>
          <a:xfrm>
            <a:off x="5577840" y="2889504"/>
            <a:ext cx="1554480" cy="256032"/>
          </a:xfrm>
          <a:prstGeom prst="rect">
            <a:avLst/>
          </a:prstGeom>
          <a:solidFill>
            <a:srgbClr val="2E86AB"/>
          </a:solidFill>
          <a:ln w="12700">
            <a:solidFill>
              <a:srgbClr val="2E86AB"/>
            </a:solidFill>
            <a:prstDash val="solid"/>
          </a:ln>
        </p:spPr>
      </p:sp>
      <p:sp>
        <p:nvSpPr>
          <p:cNvPr id="25" name="Text 23"/>
          <p:cNvSpPr/>
          <p:nvPr/>
        </p:nvSpPr>
        <p:spPr>
          <a:xfrm>
            <a:off x="5577840" y="2889504"/>
            <a:ext cx="15544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RendezVous</a:t>
            </a:r>
            <a:endParaRPr lang="en-US" sz="900" dirty="0"/>
          </a:p>
        </p:txBody>
      </p:sp>
      <p:sp>
        <p:nvSpPr>
          <p:cNvPr id="26" name="Text 24"/>
          <p:cNvSpPr/>
          <p:nvPr/>
        </p:nvSpPr>
        <p:spPr>
          <a:xfrm>
            <a:off x="5596128" y="3163824"/>
            <a:ext cx="1517904" cy="502920"/>
          </a:xfrm>
          <a:prstGeom prst="rect">
            <a:avLst/>
          </a:prstGeom>
          <a:noFill/>
          <a:ln/>
        </p:spPr>
        <p:txBody>
          <a:bodyPr wrap="square" rtlCol="0" anchor="t"/>
          <a:lstStyle/>
          <a:p>
            <a:pPr marL="0" indent="0">
              <a:buNone/>
            </a:pPr>
            <a:r>
              <a:rPr lang="en-US" sz="750" dirty="0">
                <a:solidFill>
                  <a:srgbClr val="444444"/>
                </a:solidFill>
                <a:latin typeface="Calibri" pitchFamily="34" charset="0"/>
                <a:ea typeface="Calibri" pitchFamily="34" charset="-122"/>
                <a:cs typeface="Calibri" pitchFamily="34" charset="-120"/>
              </a:rPr>
              <a:t>id, date, statut, client_id, coach_id</a:t>
            </a:r>
            <a:endParaRPr lang="en-US" sz="750" dirty="0"/>
          </a:p>
        </p:txBody>
      </p:sp>
      <p:sp>
        <p:nvSpPr>
          <p:cNvPr id="27" name="Shape 25"/>
          <p:cNvSpPr/>
          <p:nvPr/>
        </p:nvSpPr>
        <p:spPr>
          <a:xfrm>
            <a:off x="7315200" y="2889504"/>
            <a:ext cx="1554480" cy="804672"/>
          </a:xfrm>
          <a:prstGeom prst="rect">
            <a:avLst/>
          </a:prstGeom>
          <a:solidFill>
            <a:srgbClr val="FFFFFF"/>
          </a:solidFill>
          <a:ln w="12700">
            <a:solidFill>
              <a:srgbClr val="2E86AB"/>
            </a:solidFill>
            <a:prstDash val="solid"/>
          </a:ln>
          <a:effectLst>
            <a:outerShdw blurRad="101600" dist="38100" dir="8100000" algn="bl" rotWithShape="0">
              <a:srgbClr val="000000">
                <a:alpha val="12000"/>
              </a:srgbClr>
            </a:outerShdw>
          </a:effectLst>
        </p:spPr>
      </p:sp>
      <p:sp>
        <p:nvSpPr>
          <p:cNvPr id="28" name="Shape 26"/>
          <p:cNvSpPr/>
          <p:nvPr/>
        </p:nvSpPr>
        <p:spPr>
          <a:xfrm>
            <a:off x="7315200" y="2889504"/>
            <a:ext cx="1554480" cy="256032"/>
          </a:xfrm>
          <a:prstGeom prst="rect">
            <a:avLst/>
          </a:prstGeom>
          <a:solidFill>
            <a:srgbClr val="2E86AB"/>
          </a:solidFill>
          <a:ln w="12700">
            <a:solidFill>
              <a:srgbClr val="2E86AB"/>
            </a:solidFill>
            <a:prstDash val="solid"/>
          </a:ln>
        </p:spPr>
      </p:sp>
      <p:sp>
        <p:nvSpPr>
          <p:cNvPr id="29" name="Text 27"/>
          <p:cNvSpPr/>
          <p:nvPr/>
        </p:nvSpPr>
        <p:spPr>
          <a:xfrm>
            <a:off x="7315200" y="2889504"/>
            <a:ext cx="15544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Message</a:t>
            </a:r>
            <a:endParaRPr lang="en-US" sz="900" dirty="0"/>
          </a:p>
        </p:txBody>
      </p:sp>
      <p:sp>
        <p:nvSpPr>
          <p:cNvPr id="30" name="Text 28"/>
          <p:cNvSpPr/>
          <p:nvPr/>
        </p:nvSpPr>
        <p:spPr>
          <a:xfrm>
            <a:off x="7333488" y="3163824"/>
            <a:ext cx="1517904" cy="502920"/>
          </a:xfrm>
          <a:prstGeom prst="rect">
            <a:avLst/>
          </a:prstGeom>
          <a:noFill/>
          <a:ln/>
        </p:spPr>
        <p:txBody>
          <a:bodyPr wrap="square" rtlCol="0" anchor="t"/>
          <a:lstStyle/>
          <a:p>
            <a:pPr marL="0" indent="0">
              <a:buNone/>
            </a:pPr>
            <a:r>
              <a:rPr lang="en-US" sz="750" dirty="0">
                <a:solidFill>
                  <a:srgbClr val="444444"/>
                </a:solidFill>
                <a:latin typeface="Calibri" pitchFamily="34" charset="0"/>
                <a:ea typeface="Calibri" pitchFamily="34" charset="-122"/>
                <a:cs typeface="Calibri" pitchFamily="34" charset="-120"/>
              </a:rPr>
              <a:t>id, contenu, date, expediteur_id</a:t>
            </a:r>
            <a:endParaRPr lang="en-US" sz="750" dirty="0"/>
          </a:p>
        </p:txBody>
      </p:sp>
      <p:sp>
        <p:nvSpPr>
          <p:cNvPr id="31" name="Shape 29"/>
          <p:cNvSpPr/>
          <p:nvPr/>
        </p:nvSpPr>
        <p:spPr>
          <a:xfrm>
            <a:off x="5577840" y="3785616"/>
            <a:ext cx="1554480" cy="804672"/>
          </a:xfrm>
          <a:prstGeom prst="rect">
            <a:avLst/>
          </a:prstGeom>
          <a:solidFill>
            <a:srgbClr val="FFFFFF"/>
          </a:solidFill>
          <a:ln w="12700">
            <a:solidFill>
              <a:srgbClr val="2E86AB"/>
            </a:solidFill>
            <a:prstDash val="solid"/>
          </a:ln>
          <a:effectLst>
            <a:outerShdw blurRad="101600" dist="38100" dir="8100000" algn="bl" rotWithShape="0">
              <a:srgbClr val="000000">
                <a:alpha val="12000"/>
              </a:srgbClr>
            </a:outerShdw>
          </a:effectLst>
        </p:spPr>
      </p:sp>
      <p:sp>
        <p:nvSpPr>
          <p:cNvPr id="32" name="Shape 30"/>
          <p:cNvSpPr/>
          <p:nvPr/>
        </p:nvSpPr>
        <p:spPr>
          <a:xfrm>
            <a:off x="5577840" y="3785616"/>
            <a:ext cx="1554480" cy="256032"/>
          </a:xfrm>
          <a:prstGeom prst="rect">
            <a:avLst/>
          </a:prstGeom>
          <a:solidFill>
            <a:srgbClr val="2E86AB"/>
          </a:solidFill>
          <a:ln w="12700">
            <a:solidFill>
              <a:srgbClr val="2E86AB"/>
            </a:solidFill>
            <a:prstDash val="solid"/>
          </a:ln>
        </p:spPr>
      </p:sp>
      <p:sp>
        <p:nvSpPr>
          <p:cNvPr id="33" name="Text 31"/>
          <p:cNvSpPr/>
          <p:nvPr/>
        </p:nvSpPr>
        <p:spPr>
          <a:xfrm>
            <a:off x="5577840" y="3785616"/>
            <a:ext cx="15544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Paiement</a:t>
            </a:r>
            <a:endParaRPr lang="en-US" sz="900" dirty="0"/>
          </a:p>
        </p:txBody>
      </p:sp>
      <p:sp>
        <p:nvSpPr>
          <p:cNvPr id="34" name="Text 32"/>
          <p:cNvSpPr/>
          <p:nvPr/>
        </p:nvSpPr>
        <p:spPr>
          <a:xfrm>
            <a:off x="5596128" y="4059936"/>
            <a:ext cx="1517904" cy="502920"/>
          </a:xfrm>
          <a:prstGeom prst="rect">
            <a:avLst/>
          </a:prstGeom>
          <a:noFill/>
          <a:ln/>
        </p:spPr>
        <p:txBody>
          <a:bodyPr wrap="square" rtlCol="0" anchor="t"/>
          <a:lstStyle/>
          <a:p>
            <a:pPr marL="0" indent="0">
              <a:buNone/>
            </a:pPr>
            <a:r>
              <a:rPr lang="en-US" sz="750" dirty="0">
                <a:solidFill>
                  <a:srgbClr val="444444"/>
                </a:solidFill>
                <a:latin typeface="Calibri" pitchFamily="34" charset="0"/>
                <a:ea typeface="Calibri" pitchFamily="34" charset="-122"/>
                <a:cs typeface="Calibri" pitchFamily="34" charset="-120"/>
              </a:rPr>
              <a:t>id, montant, statut, date</a:t>
            </a:r>
            <a:endParaRPr lang="en-US" sz="750" dirty="0"/>
          </a:p>
        </p:txBody>
      </p:sp>
      <p:sp>
        <p:nvSpPr>
          <p:cNvPr id="35" name="Shape 33"/>
          <p:cNvSpPr/>
          <p:nvPr/>
        </p:nvSpPr>
        <p:spPr>
          <a:xfrm>
            <a:off x="7315200" y="3785616"/>
            <a:ext cx="1554480" cy="804672"/>
          </a:xfrm>
          <a:prstGeom prst="rect">
            <a:avLst/>
          </a:prstGeom>
          <a:solidFill>
            <a:srgbClr val="FFFFFF"/>
          </a:solidFill>
          <a:ln w="12700">
            <a:solidFill>
              <a:srgbClr val="2E86AB"/>
            </a:solidFill>
            <a:prstDash val="solid"/>
          </a:ln>
          <a:effectLst>
            <a:outerShdw blurRad="101600" dist="38100" dir="8100000" algn="bl" rotWithShape="0">
              <a:srgbClr val="000000">
                <a:alpha val="12000"/>
              </a:srgbClr>
            </a:outerShdw>
          </a:effectLst>
        </p:spPr>
      </p:sp>
      <p:sp>
        <p:nvSpPr>
          <p:cNvPr id="36" name="Shape 34"/>
          <p:cNvSpPr/>
          <p:nvPr/>
        </p:nvSpPr>
        <p:spPr>
          <a:xfrm>
            <a:off x="7315200" y="3785616"/>
            <a:ext cx="1554480" cy="256032"/>
          </a:xfrm>
          <a:prstGeom prst="rect">
            <a:avLst/>
          </a:prstGeom>
          <a:solidFill>
            <a:srgbClr val="2E86AB"/>
          </a:solidFill>
          <a:ln w="12700">
            <a:solidFill>
              <a:srgbClr val="2E86AB"/>
            </a:solidFill>
            <a:prstDash val="solid"/>
          </a:ln>
        </p:spPr>
      </p:sp>
      <p:sp>
        <p:nvSpPr>
          <p:cNvPr id="37" name="Text 35"/>
          <p:cNvSpPr/>
          <p:nvPr/>
        </p:nvSpPr>
        <p:spPr>
          <a:xfrm>
            <a:off x="7315200" y="3785616"/>
            <a:ext cx="15544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Progression</a:t>
            </a:r>
            <a:endParaRPr lang="en-US" sz="900" dirty="0"/>
          </a:p>
        </p:txBody>
      </p:sp>
      <p:sp>
        <p:nvSpPr>
          <p:cNvPr id="38" name="Text 36"/>
          <p:cNvSpPr/>
          <p:nvPr/>
        </p:nvSpPr>
        <p:spPr>
          <a:xfrm>
            <a:off x="7333488" y="4059936"/>
            <a:ext cx="1517904" cy="502920"/>
          </a:xfrm>
          <a:prstGeom prst="rect">
            <a:avLst/>
          </a:prstGeom>
          <a:noFill/>
          <a:ln/>
        </p:spPr>
        <p:txBody>
          <a:bodyPr wrap="square" rtlCol="0" anchor="t"/>
          <a:lstStyle/>
          <a:p>
            <a:pPr marL="0" indent="0">
              <a:buNone/>
            </a:pPr>
            <a:r>
              <a:rPr lang="en-US" sz="750" dirty="0">
                <a:solidFill>
                  <a:srgbClr val="444444"/>
                </a:solidFill>
                <a:latin typeface="Calibri" pitchFamily="34" charset="0"/>
                <a:ea typeface="Calibri" pitchFamily="34" charset="-122"/>
                <a:cs typeface="Calibri" pitchFamily="34" charset="-120"/>
              </a:rPr>
              <a:t>id, poids, date, client_id</a:t>
            </a:r>
            <a:endParaRPr lang="en-US" sz="750" dirty="0"/>
          </a:p>
        </p:txBody>
      </p:sp>
      <p:pic>
        <p:nvPicPr>
          <p:cNvPr id="39" name="Image 38"/>
          <p:cNvPicPr/>
          <p:nvPr/>
        </p:nvPicPr>
        <p:blipFill>
          <a:blip r:embed="rId3"/>
          <a:stretch>
            <a:fillRect/>
          </a:stretch>
        </p:blipFill>
        <p:spPr>
          <a:xfrm>
            <a:off x="365760" y="1207390"/>
            <a:ext cx="4796790" cy="347891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Diagramme de séquence — Authentification JWT</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9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9 / 19</a:t>
            </a:r>
            <a:endParaRPr lang="en-US" sz="900" dirty="0"/>
          </a:p>
        </p:txBody>
      </p:sp>
      <p:sp>
        <p:nvSpPr>
          <p:cNvPr id="6" name="Shape 4"/>
          <p:cNvSpPr/>
          <p:nvPr/>
        </p:nvSpPr>
        <p:spPr>
          <a:xfrm>
            <a:off x="274320" y="1280160"/>
            <a:ext cx="502920" cy="502920"/>
          </a:xfrm>
          <a:prstGeom prst="ellipse">
            <a:avLst/>
          </a:prstGeom>
          <a:solidFill>
            <a:srgbClr val="2E86AB"/>
          </a:solidFill>
          <a:ln w="12700">
            <a:solidFill>
              <a:srgbClr val="2E86AB"/>
            </a:solidFill>
            <a:prstDash val="solid"/>
          </a:ln>
        </p:spPr>
      </p:sp>
      <p:sp>
        <p:nvSpPr>
          <p:cNvPr id="7" name="Text 5"/>
          <p:cNvSpPr/>
          <p:nvPr/>
        </p:nvSpPr>
        <p:spPr>
          <a:xfrm>
            <a:off x="274320" y="12801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Shape 6"/>
          <p:cNvSpPr/>
          <p:nvPr/>
        </p:nvSpPr>
        <p:spPr>
          <a:xfrm>
            <a:off x="868680" y="1143000"/>
            <a:ext cx="3474720" cy="914400"/>
          </a:xfrm>
          <a:prstGeom prst="rect">
            <a:avLst/>
          </a:prstGeom>
          <a:solidFill>
            <a:srgbClr val="EEF7FF"/>
          </a:solidFill>
          <a:ln w="12700">
            <a:solidFill>
              <a:srgbClr val="D0E8F5"/>
            </a:solidFill>
            <a:prstDash val="solid"/>
          </a:ln>
          <a:effectLst>
            <a:outerShdw blurRad="101600" dist="38100" dir="8100000" algn="bl" rotWithShape="0">
              <a:srgbClr val="000000">
                <a:alpha val="12000"/>
              </a:srgbClr>
            </a:outerShdw>
          </a:effectLst>
        </p:spPr>
      </p:sp>
      <p:sp>
        <p:nvSpPr>
          <p:cNvPr id="9" name="Text 7"/>
          <p:cNvSpPr/>
          <p:nvPr/>
        </p:nvSpPr>
        <p:spPr>
          <a:xfrm>
            <a:off x="960120" y="1216152"/>
            <a:ext cx="329184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Saisie des identifiants</a:t>
            </a:r>
            <a:endParaRPr lang="en-US" sz="1000" dirty="0"/>
          </a:p>
        </p:txBody>
      </p:sp>
      <p:sp>
        <p:nvSpPr>
          <p:cNvPr id="10" name="Text 8"/>
          <p:cNvSpPr/>
          <p:nvPr/>
        </p:nvSpPr>
        <p:spPr>
          <a:xfrm>
            <a:off x="960120" y="1527048"/>
            <a:ext cx="3291840" cy="457200"/>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L'utilisateur entre son email et mot de passe dans le formulaire React.</a:t>
            </a:r>
            <a:endParaRPr lang="en-US" sz="900" dirty="0"/>
          </a:p>
        </p:txBody>
      </p:sp>
      <p:sp>
        <p:nvSpPr>
          <p:cNvPr id="11" name="Shape 9"/>
          <p:cNvSpPr/>
          <p:nvPr/>
        </p:nvSpPr>
        <p:spPr>
          <a:xfrm>
            <a:off x="274320" y="2377440"/>
            <a:ext cx="502920" cy="502920"/>
          </a:xfrm>
          <a:prstGeom prst="ellipse">
            <a:avLst/>
          </a:prstGeom>
          <a:solidFill>
            <a:srgbClr val="2E86AB"/>
          </a:solidFill>
          <a:ln w="12700">
            <a:solidFill>
              <a:srgbClr val="2E86AB"/>
            </a:solidFill>
            <a:prstDash val="solid"/>
          </a:ln>
        </p:spPr>
      </p:sp>
      <p:sp>
        <p:nvSpPr>
          <p:cNvPr id="12" name="Text 10"/>
          <p:cNvSpPr/>
          <p:nvPr/>
        </p:nvSpPr>
        <p:spPr>
          <a:xfrm>
            <a:off x="274320" y="23774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Shape 11"/>
          <p:cNvSpPr/>
          <p:nvPr/>
        </p:nvSpPr>
        <p:spPr>
          <a:xfrm>
            <a:off x="868680" y="2240280"/>
            <a:ext cx="3474720" cy="914400"/>
          </a:xfrm>
          <a:prstGeom prst="rect">
            <a:avLst/>
          </a:prstGeom>
          <a:solidFill>
            <a:srgbClr val="EEF7FF"/>
          </a:solidFill>
          <a:ln w="12700">
            <a:solidFill>
              <a:srgbClr val="D0E8F5"/>
            </a:solidFill>
            <a:prstDash val="solid"/>
          </a:ln>
          <a:effectLst>
            <a:outerShdw blurRad="101600" dist="38100" dir="8100000" algn="bl" rotWithShape="0">
              <a:srgbClr val="000000">
                <a:alpha val="12000"/>
              </a:srgbClr>
            </a:outerShdw>
          </a:effectLst>
        </p:spPr>
      </p:sp>
      <p:sp>
        <p:nvSpPr>
          <p:cNvPr id="14" name="Text 12"/>
          <p:cNvSpPr/>
          <p:nvPr/>
        </p:nvSpPr>
        <p:spPr>
          <a:xfrm>
            <a:off x="960120" y="2313432"/>
            <a:ext cx="329184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POST /api/token/</a:t>
            </a:r>
            <a:endParaRPr lang="en-US" sz="1000" dirty="0"/>
          </a:p>
        </p:txBody>
      </p:sp>
      <p:sp>
        <p:nvSpPr>
          <p:cNvPr id="15" name="Text 13"/>
          <p:cNvSpPr/>
          <p:nvPr/>
        </p:nvSpPr>
        <p:spPr>
          <a:xfrm>
            <a:off x="960120" y="2624328"/>
            <a:ext cx="3291840" cy="457200"/>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Axios envoie une requête POST avec les credentials au endpoint JWT.</a:t>
            </a:r>
            <a:endParaRPr lang="en-US" sz="900" dirty="0"/>
          </a:p>
        </p:txBody>
      </p:sp>
      <p:sp>
        <p:nvSpPr>
          <p:cNvPr id="16" name="Shape 14"/>
          <p:cNvSpPr/>
          <p:nvPr/>
        </p:nvSpPr>
        <p:spPr>
          <a:xfrm>
            <a:off x="274320" y="3474720"/>
            <a:ext cx="502920" cy="502920"/>
          </a:xfrm>
          <a:prstGeom prst="ellipse">
            <a:avLst/>
          </a:prstGeom>
          <a:solidFill>
            <a:srgbClr val="2E86AB"/>
          </a:solidFill>
          <a:ln w="12700">
            <a:solidFill>
              <a:srgbClr val="2E86AB"/>
            </a:solidFill>
            <a:prstDash val="solid"/>
          </a:ln>
        </p:spPr>
      </p:sp>
      <p:sp>
        <p:nvSpPr>
          <p:cNvPr id="17" name="Text 15"/>
          <p:cNvSpPr/>
          <p:nvPr/>
        </p:nvSpPr>
        <p:spPr>
          <a:xfrm>
            <a:off x="274320" y="347472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Shape 16"/>
          <p:cNvSpPr/>
          <p:nvPr/>
        </p:nvSpPr>
        <p:spPr>
          <a:xfrm>
            <a:off x="868680" y="3337560"/>
            <a:ext cx="3474720" cy="914400"/>
          </a:xfrm>
          <a:prstGeom prst="rect">
            <a:avLst/>
          </a:prstGeom>
          <a:solidFill>
            <a:srgbClr val="EEF7FF"/>
          </a:solidFill>
          <a:ln w="12700">
            <a:solidFill>
              <a:srgbClr val="D0E8F5"/>
            </a:solidFill>
            <a:prstDash val="solid"/>
          </a:ln>
          <a:effectLst>
            <a:outerShdw blurRad="101600" dist="38100" dir="8100000" algn="bl" rotWithShape="0">
              <a:srgbClr val="000000">
                <a:alpha val="12000"/>
              </a:srgbClr>
            </a:outerShdw>
          </a:effectLst>
        </p:spPr>
      </p:sp>
      <p:sp>
        <p:nvSpPr>
          <p:cNvPr id="19" name="Text 17"/>
          <p:cNvSpPr/>
          <p:nvPr/>
        </p:nvSpPr>
        <p:spPr>
          <a:xfrm>
            <a:off x="960120" y="3410712"/>
            <a:ext cx="329184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Vérification en base</a:t>
            </a:r>
            <a:endParaRPr lang="en-US" sz="1000" dirty="0"/>
          </a:p>
        </p:txBody>
      </p:sp>
      <p:sp>
        <p:nvSpPr>
          <p:cNvPr id="20" name="Text 18"/>
          <p:cNvSpPr/>
          <p:nvPr/>
        </p:nvSpPr>
        <p:spPr>
          <a:xfrm>
            <a:off x="960120" y="3721608"/>
            <a:ext cx="3291840" cy="457200"/>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Django vérifie l'email et le hash du mot de passe </a:t>
            </a:r>
            <a:r>
              <a:rPr lang="en-US" sz="900" dirty="0" err="1">
                <a:solidFill>
                  <a:srgbClr val="444444"/>
                </a:solidFill>
                <a:latin typeface="Calibri" pitchFamily="34" charset="0"/>
                <a:ea typeface="Calibri" pitchFamily="34" charset="-122"/>
                <a:cs typeface="Calibri" pitchFamily="34" charset="-120"/>
              </a:rPr>
              <a:t>dans</a:t>
            </a:r>
            <a:r>
              <a:rPr lang="en-US" sz="900" dirty="0">
                <a:solidFill>
                  <a:srgbClr val="444444"/>
                </a:solidFill>
                <a:latin typeface="Calibri" pitchFamily="34" charset="0"/>
                <a:ea typeface="Calibri" pitchFamily="34" charset="-122"/>
                <a:cs typeface="Calibri" pitchFamily="34" charset="-120"/>
              </a:rPr>
              <a:t> </a:t>
            </a:r>
            <a:r>
              <a:rPr lang="en-US" sz="900" dirty="0" smtClean="0">
                <a:solidFill>
                  <a:srgbClr val="444444"/>
                </a:solidFill>
                <a:latin typeface="Calibri" pitchFamily="34" charset="0"/>
                <a:ea typeface="Calibri" pitchFamily="34" charset="-122"/>
                <a:cs typeface="Calibri" pitchFamily="34" charset="-120"/>
              </a:rPr>
              <a:t>SQLite.</a:t>
            </a:r>
            <a:endParaRPr lang="en-US" sz="900" dirty="0"/>
          </a:p>
        </p:txBody>
      </p:sp>
      <p:sp>
        <p:nvSpPr>
          <p:cNvPr id="21" name="Shape 19"/>
          <p:cNvSpPr/>
          <p:nvPr/>
        </p:nvSpPr>
        <p:spPr>
          <a:xfrm>
            <a:off x="4663440" y="1280160"/>
            <a:ext cx="502920" cy="502920"/>
          </a:xfrm>
          <a:prstGeom prst="ellipse">
            <a:avLst/>
          </a:prstGeom>
          <a:solidFill>
            <a:srgbClr val="2E86AB"/>
          </a:solidFill>
          <a:ln w="12700">
            <a:solidFill>
              <a:srgbClr val="2E86AB"/>
            </a:solidFill>
            <a:prstDash val="solid"/>
          </a:ln>
        </p:spPr>
      </p:sp>
      <p:sp>
        <p:nvSpPr>
          <p:cNvPr id="22" name="Text 20"/>
          <p:cNvSpPr/>
          <p:nvPr/>
        </p:nvSpPr>
        <p:spPr>
          <a:xfrm>
            <a:off x="4663440" y="12801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Shape 21"/>
          <p:cNvSpPr/>
          <p:nvPr/>
        </p:nvSpPr>
        <p:spPr>
          <a:xfrm>
            <a:off x="5257800" y="1143000"/>
            <a:ext cx="3474720" cy="914400"/>
          </a:xfrm>
          <a:prstGeom prst="rect">
            <a:avLst/>
          </a:prstGeom>
          <a:solidFill>
            <a:srgbClr val="EEF7FF"/>
          </a:solidFill>
          <a:ln w="12700">
            <a:solidFill>
              <a:srgbClr val="D0E8F5"/>
            </a:solidFill>
            <a:prstDash val="solid"/>
          </a:ln>
          <a:effectLst>
            <a:outerShdw blurRad="101600" dist="38100" dir="8100000" algn="bl" rotWithShape="0">
              <a:srgbClr val="000000">
                <a:alpha val="12000"/>
              </a:srgbClr>
            </a:outerShdw>
          </a:effectLst>
        </p:spPr>
      </p:sp>
      <p:sp>
        <p:nvSpPr>
          <p:cNvPr id="24" name="Text 22"/>
          <p:cNvSpPr/>
          <p:nvPr/>
        </p:nvSpPr>
        <p:spPr>
          <a:xfrm>
            <a:off x="5349240" y="1216152"/>
            <a:ext cx="329184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Retour des tokens</a:t>
            </a:r>
            <a:endParaRPr lang="en-US" sz="1000" dirty="0"/>
          </a:p>
        </p:txBody>
      </p:sp>
      <p:sp>
        <p:nvSpPr>
          <p:cNvPr id="25" name="Text 23"/>
          <p:cNvSpPr/>
          <p:nvPr/>
        </p:nvSpPr>
        <p:spPr>
          <a:xfrm>
            <a:off x="5349240" y="1527048"/>
            <a:ext cx="3291840" cy="457200"/>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Le backend retourne un access_token (15 min) et un refresh_token (7 j).</a:t>
            </a:r>
            <a:endParaRPr lang="en-US" sz="900" dirty="0"/>
          </a:p>
        </p:txBody>
      </p:sp>
      <p:sp>
        <p:nvSpPr>
          <p:cNvPr id="26" name="Shape 24"/>
          <p:cNvSpPr/>
          <p:nvPr/>
        </p:nvSpPr>
        <p:spPr>
          <a:xfrm>
            <a:off x="4663440" y="2377440"/>
            <a:ext cx="502920" cy="502920"/>
          </a:xfrm>
          <a:prstGeom prst="ellipse">
            <a:avLst/>
          </a:prstGeom>
          <a:solidFill>
            <a:srgbClr val="2E86AB"/>
          </a:solidFill>
          <a:ln w="12700">
            <a:solidFill>
              <a:srgbClr val="2E86AB"/>
            </a:solidFill>
            <a:prstDash val="solid"/>
          </a:ln>
        </p:spPr>
      </p:sp>
      <p:sp>
        <p:nvSpPr>
          <p:cNvPr id="27" name="Text 25"/>
          <p:cNvSpPr/>
          <p:nvPr/>
        </p:nvSpPr>
        <p:spPr>
          <a:xfrm>
            <a:off x="4663440" y="23774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Shape 26"/>
          <p:cNvSpPr/>
          <p:nvPr/>
        </p:nvSpPr>
        <p:spPr>
          <a:xfrm>
            <a:off x="5257800" y="2240280"/>
            <a:ext cx="3474720" cy="914400"/>
          </a:xfrm>
          <a:prstGeom prst="rect">
            <a:avLst/>
          </a:prstGeom>
          <a:solidFill>
            <a:srgbClr val="EEF7FF"/>
          </a:solidFill>
          <a:ln w="12700">
            <a:solidFill>
              <a:srgbClr val="D0E8F5"/>
            </a:solidFill>
            <a:prstDash val="solid"/>
          </a:ln>
          <a:effectLst>
            <a:outerShdw blurRad="101600" dist="38100" dir="8100000" algn="bl" rotWithShape="0">
              <a:srgbClr val="000000">
                <a:alpha val="12000"/>
              </a:srgbClr>
            </a:outerShdw>
          </a:effectLst>
        </p:spPr>
      </p:sp>
      <p:sp>
        <p:nvSpPr>
          <p:cNvPr id="29" name="Text 27"/>
          <p:cNvSpPr/>
          <p:nvPr/>
        </p:nvSpPr>
        <p:spPr>
          <a:xfrm>
            <a:off x="5349240" y="2313432"/>
            <a:ext cx="329184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Stockage côté client</a:t>
            </a:r>
            <a:endParaRPr lang="en-US" sz="1000" dirty="0"/>
          </a:p>
        </p:txBody>
      </p:sp>
      <p:sp>
        <p:nvSpPr>
          <p:cNvPr id="30" name="Text 28"/>
          <p:cNvSpPr/>
          <p:nvPr/>
        </p:nvSpPr>
        <p:spPr>
          <a:xfrm>
            <a:off x="5349240" y="2624328"/>
            <a:ext cx="3291840" cy="457200"/>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React stocke les tokens (localStorage ou mémoire) et met à jour le contexte.</a:t>
            </a:r>
            <a:endParaRPr lang="en-US" sz="900" dirty="0"/>
          </a:p>
        </p:txBody>
      </p:sp>
      <p:sp>
        <p:nvSpPr>
          <p:cNvPr id="31" name="Shape 29"/>
          <p:cNvSpPr/>
          <p:nvPr/>
        </p:nvSpPr>
        <p:spPr>
          <a:xfrm>
            <a:off x="4663440" y="3474720"/>
            <a:ext cx="502920" cy="502920"/>
          </a:xfrm>
          <a:prstGeom prst="ellipse">
            <a:avLst/>
          </a:prstGeom>
          <a:solidFill>
            <a:srgbClr val="2E86AB"/>
          </a:solidFill>
          <a:ln w="12700">
            <a:solidFill>
              <a:srgbClr val="2E86AB"/>
            </a:solidFill>
            <a:prstDash val="solid"/>
          </a:ln>
        </p:spPr>
      </p:sp>
      <p:sp>
        <p:nvSpPr>
          <p:cNvPr id="32" name="Text 30"/>
          <p:cNvSpPr/>
          <p:nvPr/>
        </p:nvSpPr>
        <p:spPr>
          <a:xfrm>
            <a:off x="4663440" y="347472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Shape 31"/>
          <p:cNvSpPr/>
          <p:nvPr/>
        </p:nvSpPr>
        <p:spPr>
          <a:xfrm>
            <a:off x="5257800" y="3337560"/>
            <a:ext cx="3474720" cy="914400"/>
          </a:xfrm>
          <a:prstGeom prst="rect">
            <a:avLst/>
          </a:prstGeom>
          <a:solidFill>
            <a:srgbClr val="EEF7FF"/>
          </a:solidFill>
          <a:ln w="12700">
            <a:solidFill>
              <a:srgbClr val="D0E8F5"/>
            </a:solidFill>
            <a:prstDash val="solid"/>
          </a:ln>
          <a:effectLst>
            <a:outerShdw blurRad="101600" dist="38100" dir="8100000" algn="bl" rotWithShape="0">
              <a:srgbClr val="000000">
                <a:alpha val="12000"/>
              </a:srgbClr>
            </a:outerShdw>
          </a:effectLst>
        </p:spPr>
      </p:sp>
      <p:sp>
        <p:nvSpPr>
          <p:cNvPr id="34" name="Text 32"/>
          <p:cNvSpPr/>
          <p:nvPr/>
        </p:nvSpPr>
        <p:spPr>
          <a:xfrm>
            <a:off x="5349240" y="3410712"/>
            <a:ext cx="329184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Requêtes protégées</a:t>
            </a:r>
            <a:endParaRPr lang="en-US" sz="1000" dirty="0"/>
          </a:p>
        </p:txBody>
      </p:sp>
      <p:sp>
        <p:nvSpPr>
          <p:cNvPr id="35" name="Text 33"/>
          <p:cNvSpPr/>
          <p:nvPr/>
        </p:nvSpPr>
        <p:spPr>
          <a:xfrm>
            <a:off x="5349240" y="3721608"/>
            <a:ext cx="3291840" cy="457200"/>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Chaque requête suivante inclut Authorization: Bearer access_token.</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2"/>
          <a:stretch>
            <a:fillRect/>
          </a:stretch>
        </p:blipFill>
        <p:spPr>
          <a:xfrm>
            <a:off x="1057275" y="995045"/>
            <a:ext cx="6266180" cy="3191510"/>
          </a:xfrm>
          <a:prstGeom prst="rect">
            <a:avLst/>
          </a:prstGeom>
        </p:spPr>
      </p:pic>
    </p:spTree>
    <p:extLst>
      <p:ext uri="{BB962C8B-B14F-4D97-AF65-F5344CB8AC3E}">
        <p14:creationId xmlns:p14="http://schemas.microsoft.com/office/powerpoint/2010/main" val="9221034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Diagramme de séquence — Processus de paiement</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10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10 / 19</a:t>
            </a:r>
            <a:endParaRPr lang="en-US" sz="900" dirty="0"/>
          </a:p>
        </p:txBody>
      </p:sp>
      <p:sp>
        <p:nvSpPr>
          <p:cNvPr id="6" name="Shape 4"/>
          <p:cNvSpPr/>
          <p:nvPr/>
        </p:nvSpPr>
        <p:spPr>
          <a:xfrm>
            <a:off x="274320" y="1280160"/>
            <a:ext cx="502920" cy="502920"/>
          </a:xfrm>
          <a:prstGeom prst="ellipse">
            <a:avLst/>
          </a:prstGeom>
          <a:solidFill>
            <a:srgbClr val="F4A261"/>
          </a:solidFill>
          <a:ln w="12700">
            <a:solidFill>
              <a:srgbClr val="F4A261"/>
            </a:solidFill>
            <a:prstDash val="solid"/>
          </a:ln>
        </p:spPr>
      </p:sp>
      <p:sp>
        <p:nvSpPr>
          <p:cNvPr id="7" name="Text 5"/>
          <p:cNvSpPr/>
          <p:nvPr/>
        </p:nvSpPr>
        <p:spPr>
          <a:xfrm>
            <a:off x="274320" y="12801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Shape 6"/>
          <p:cNvSpPr/>
          <p:nvPr/>
        </p:nvSpPr>
        <p:spPr>
          <a:xfrm>
            <a:off x="868680" y="1143000"/>
            <a:ext cx="3474720" cy="914400"/>
          </a:xfrm>
          <a:prstGeom prst="rect">
            <a:avLst/>
          </a:prstGeom>
          <a:solidFill>
            <a:srgbClr val="FFFBF0"/>
          </a:solidFill>
          <a:ln w="12700">
            <a:solidFill>
              <a:srgbClr val="F4D9AA"/>
            </a:solidFill>
            <a:prstDash val="solid"/>
          </a:ln>
          <a:effectLst>
            <a:outerShdw blurRad="101600" dist="38100" dir="8100000" algn="bl" rotWithShape="0">
              <a:srgbClr val="000000">
                <a:alpha val="12000"/>
              </a:srgbClr>
            </a:outerShdw>
          </a:effectLst>
        </p:spPr>
      </p:sp>
      <p:sp>
        <p:nvSpPr>
          <p:cNvPr id="9" name="Text 7"/>
          <p:cNvSpPr/>
          <p:nvPr/>
        </p:nvSpPr>
        <p:spPr>
          <a:xfrm>
            <a:off x="960120" y="1216152"/>
            <a:ext cx="329184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Sélection du service</a:t>
            </a:r>
            <a:endParaRPr lang="en-US" sz="1000" dirty="0"/>
          </a:p>
        </p:txBody>
      </p:sp>
      <p:sp>
        <p:nvSpPr>
          <p:cNvPr id="10" name="Text 8"/>
          <p:cNvSpPr/>
          <p:nvPr/>
        </p:nvSpPr>
        <p:spPr>
          <a:xfrm>
            <a:off x="960120" y="1527048"/>
            <a:ext cx="3291840" cy="457200"/>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Le client choisit un programme ou une séance à acheter.</a:t>
            </a:r>
            <a:endParaRPr lang="en-US" sz="900" dirty="0"/>
          </a:p>
        </p:txBody>
      </p:sp>
      <p:sp>
        <p:nvSpPr>
          <p:cNvPr id="11" name="Shape 9"/>
          <p:cNvSpPr/>
          <p:nvPr/>
        </p:nvSpPr>
        <p:spPr>
          <a:xfrm>
            <a:off x="274320" y="2377440"/>
            <a:ext cx="502920" cy="502920"/>
          </a:xfrm>
          <a:prstGeom prst="ellipse">
            <a:avLst/>
          </a:prstGeom>
          <a:solidFill>
            <a:srgbClr val="F4A261"/>
          </a:solidFill>
          <a:ln w="12700">
            <a:solidFill>
              <a:srgbClr val="F4A261"/>
            </a:solidFill>
            <a:prstDash val="solid"/>
          </a:ln>
        </p:spPr>
      </p:sp>
      <p:sp>
        <p:nvSpPr>
          <p:cNvPr id="12" name="Text 10"/>
          <p:cNvSpPr/>
          <p:nvPr/>
        </p:nvSpPr>
        <p:spPr>
          <a:xfrm>
            <a:off x="274320" y="23774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Shape 11"/>
          <p:cNvSpPr/>
          <p:nvPr/>
        </p:nvSpPr>
        <p:spPr>
          <a:xfrm>
            <a:off x="868680" y="2240280"/>
            <a:ext cx="3474720" cy="914400"/>
          </a:xfrm>
          <a:prstGeom prst="rect">
            <a:avLst/>
          </a:prstGeom>
          <a:solidFill>
            <a:srgbClr val="FFFBF0"/>
          </a:solidFill>
          <a:ln w="12700">
            <a:solidFill>
              <a:srgbClr val="F4D9AA"/>
            </a:solidFill>
            <a:prstDash val="solid"/>
          </a:ln>
          <a:effectLst>
            <a:outerShdw blurRad="101600" dist="38100" dir="8100000" algn="bl" rotWithShape="0">
              <a:srgbClr val="000000">
                <a:alpha val="12000"/>
              </a:srgbClr>
            </a:outerShdw>
          </a:effectLst>
        </p:spPr>
      </p:sp>
      <p:sp>
        <p:nvSpPr>
          <p:cNvPr id="14" name="Text 12"/>
          <p:cNvSpPr/>
          <p:nvPr/>
        </p:nvSpPr>
        <p:spPr>
          <a:xfrm>
            <a:off x="960120" y="2313432"/>
            <a:ext cx="329184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Création commande</a:t>
            </a:r>
            <a:endParaRPr lang="en-US" sz="1000" dirty="0"/>
          </a:p>
        </p:txBody>
      </p:sp>
      <p:sp>
        <p:nvSpPr>
          <p:cNvPr id="15" name="Text 13"/>
          <p:cNvSpPr/>
          <p:nvPr/>
        </p:nvSpPr>
        <p:spPr>
          <a:xfrm>
            <a:off x="960120" y="2624328"/>
            <a:ext cx="3291840" cy="457200"/>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POST /api/paiements/ — création d'une commande avec statut 'En attente'.</a:t>
            </a:r>
            <a:endParaRPr lang="en-US" sz="900" dirty="0"/>
          </a:p>
        </p:txBody>
      </p:sp>
      <p:sp>
        <p:nvSpPr>
          <p:cNvPr id="16" name="Shape 14"/>
          <p:cNvSpPr/>
          <p:nvPr/>
        </p:nvSpPr>
        <p:spPr>
          <a:xfrm>
            <a:off x="274320" y="3474720"/>
            <a:ext cx="502920" cy="502920"/>
          </a:xfrm>
          <a:prstGeom prst="ellipse">
            <a:avLst/>
          </a:prstGeom>
          <a:solidFill>
            <a:srgbClr val="F4A261"/>
          </a:solidFill>
          <a:ln w="12700">
            <a:solidFill>
              <a:srgbClr val="F4A261"/>
            </a:solidFill>
            <a:prstDash val="solid"/>
          </a:ln>
        </p:spPr>
      </p:sp>
      <p:sp>
        <p:nvSpPr>
          <p:cNvPr id="17" name="Text 15"/>
          <p:cNvSpPr/>
          <p:nvPr/>
        </p:nvSpPr>
        <p:spPr>
          <a:xfrm>
            <a:off x="274320" y="347472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Shape 16"/>
          <p:cNvSpPr/>
          <p:nvPr/>
        </p:nvSpPr>
        <p:spPr>
          <a:xfrm>
            <a:off x="868680" y="3337560"/>
            <a:ext cx="3474720" cy="914400"/>
          </a:xfrm>
          <a:prstGeom prst="rect">
            <a:avLst/>
          </a:prstGeom>
          <a:solidFill>
            <a:srgbClr val="FFFBF0"/>
          </a:solidFill>
          <a:ln w="12700">
            <a:solidFill>
              <a:srgbClr val="F4D9AA"/>
            </a:solidFill>
            <a:prstDash val="solid"/>
          </a:ln>
          <a:effectLst>
            <a:outerShdw blurRad="101600" dist="38100" dir="8100000" algn="bl" rotWithShape="0">
              <a:srgbClr val="000000">
                <a:alpha val="12000"/>
              </a:srgbClr>
            </a:outerShdw>
          </a:effectLst>
        </p:spPr>
      </p:sp>
      <p:sp>
        <p:nvSpPr>
          <p:cNvPr id="19" name="Text 17"/>
          <p:cNvSpPr/>
          <p:nvPr/>
        </p:nvSpPr>
        <p:spPr>
          <a:xfrm>
            <a:off x="960120" y="3410712"/>
            <a:ext cx="329184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Traitement paiement</a:t>
            </a:r>
            <a:endParaRPr lang="en-US" sz="1000" dirty="0"/>
          </a:p>
        </p:txBody>
      </p:sp>
      <p:sp>
        <p:nvSpPr>
          <p:cNvPr id="20" name="Text 18"/>
          <p:cNvSpPr/>
          <p:nvPr/>
        </p:nvSpPr>
        <p:spPr>
          <a:xfrm>
            <a:off x="960120" y="3721608"/>
            <a:ext cx="3291840" cy="457200"/>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Les informations de paiement sont traitées (simulation </a:t>
            </a:r>
            <a:r>
              <a:rPr lang="en-US" sz="900" dirty="0" smtClean="0">
                <a:solidFill>
                  <a:srgbClr val="444444"/>
                </a:solidFill>
                <a:latin typeface="Calibri" pitchFamily="34" charset="0"/>
                <a:ea typeface="Calibri" pitchFamily="34" charset="-122"/>
                <a:cs typeface="Calibri" pitchFamily="34" charset="-120"/>
              </a:rPr>
              <a:t>).</a:t>
            </a:r>
            <a:endParaRPr lang="en-US" sz="900" dirty="0"/>
          </a:p>
        </p:txBody>
      </p:sp>
      <p:sp>
        <p:nvSpPr>
          <p:cNvPr id="21" name="Shape 19"/>
          <p:cNvSpPr/>
          <p:nvPr/>
        </p:nvSpPr>
        <p:spPr>
          <a:xfrm>
            <a:off x="4663440" y="1280160"/>
            <a:ext cx="502920" cy="502920"/>
          </a:xfrm>
          <a:prstGeom prst="ellipse">
            <a:avLst/>
          </a:prstGeom>
          <a:solidFill>
            <a:srgbClr val="F4A261"/>
          </a:solidFill>
          <a:ln w="12700">
            <a:solidFill>
              <a:srgbClr val="F4A261"/>
            </a:solidFill>
            <a:prstDash val="solid"/>
          </a:ln>
        </p:spPr>
      </p:sp>
      <p:sp>
        <p:nvSpPr>
          <p:cNvPr id="22" name="Text 20"/>
          <p:cNvSpPr/>
          <p:nvPr/>
        </p:nvSpPr>
        <p:spPr>
          <a:xfrm>
            <a:off x="4663440" y="12801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Shape 21"/>
          <p:cNvSpPr/>
          <p:nvPr/>
        </p:nvSpPr>
        <p:spPr>
          <a:xfrm>
            <a:off x="5257800" y="1143000"/>
            <a:ext cx="3474720" cy="914400"/>
          </a:xfrm>
          <a:prstGeom prst="rect">
            <a:avLst/>
          </a:prstGeom>
          <a:solidFill>
            <a:srgbClr val="FFFBF0"/>
          </a:solidFill>
          <a:ln w="12700">
            <a:solidFill>
              <a:srgbClr val="F4D9AA"/>
            </a:solidFill>
            <a:prstDash val="solid"/>
          </a:ln>
          <a:effectLst>
            <a:outerShdw blurRad="101600" dist="38100" dir="8100000" algn="bl" rotWithShape="0">
              <a:srgbClr val="000000">
                <a:alpha val="12000"/>
              </a:srgbClr>
            </a:outerShdw>
          </a:effectLst>
        </p:spPr>
      </p:sp>
      <p:sp>
        <p:nvSpPr>
          <p:cNvPr id="24" name="Text 22"/>
          <p:cNvSpPr/>
          <p:nvPr/>
        </p:nvSpPr>
        <p:spPr>
          <a:xfrm>
            <a:off x="5349240" y="1216152"/>
            <a:ext cx="329184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Confirmation</a:t>
            </a:r>
            <a:endParaRPr lang="en-US" sz="1000" dirty="0"/>
          </a:p>
        </p:txBody>
      </p:sp>
      <p:sp>
        <p:nvSpPr>
          <p:cNvPr id="25" name="Text 23"/>
          <p:cNvSpPr/>
          <p:nvPr/>
        </p:nvSpPr>
        <p:spPr>
          <a:xfrm>
            <a:off x="5349240" y="1527048"/>
            <a:ext cx="3291840" cy="457200"/>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Le backend met à jour le statut de la commande à 'Payé' en base de données.</a:t>
            </a:r>
            <a:endParaRPr lang="en-US" sz="900" dirty="0"/>
          </a:p>
        </p:txBody>
      </p:sp>
      <p:sp>
        <p:nvSpPr>
          <p:cNvPr id="26" name="Shape 24"/>
          <p:cNvSpPr/>
          <p:nvPr/>
        </p:nvSpPr>
        <p:spPr>
          <a:xfrm>
            <a:off x="4663440" y="2377440"/>
            <a:ext cx="502920" cy="502920"/>
          </a:xfrm>
          <a:prstGeom prst="ellipse">
            <a:avLst/>
          </a:prstGeom>
          <a:solidFill>
            <a:srgbClr val="F4A261"/>
          </a:solidFill>
          <a:ln w="12700">
            <a:solidFill>
              <a:srgbClr val="F4A261"/>
            </a:solidFill>
            <a:prstDash val="solid"/>
          </a:ln>
        </p:spPr>
      </p:sp>
      <p:sp>
        <p:nvSpPr>
          <p:cNvPr id="27" name="Text 25"/>
          <p:cNvSpPr/>
          <p:nvPr/>
        </p:nvSpPr>
        <p:spPr>
          <a:xfrm>
            <a:off x="4663440" y="23774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Shape 26"/>
          <p:cNvSpPr/>
          <p:nvPr/>
        </p:nvSpPr>
        <p:spPr>
          <a:xfrm>
            <a:off x="5257800" y="2240280"/>
            <a:ext cx="3474720" cy="914400"/>
          </a:xfrm>
          <a:prstGeom prst="rect">
            <a:avLst/>
          </a:prstGeom>
          <a:solidFill>
            <a:srgbClr val="FFFBF0"/>
          </a:solidFill>
          <a:ln w="12700">
            <a:solidFill>
              <a:srgbClr val="F4D9AA"/>
            </a:solidFill>
            <a:prstDash val="solid"/>
          </a:ln>
          <a:effectLst>
            <a:outerShdw blurRad="101600" dist="38100" dir="8100000" algn="bl" rotWithShape="0">
              <a:srgbClr val="000000">
                <a:alpha val="12000"/>
              </a:srgbClr>
            </a:outerShdw>
          </a:effectLst>
        </p:spPr>
      </p:sp>
      <p:sp>
        <p:nvSpPr>
          <p:cNvPr id="29" name="Text 27"/>
          <p:cNvSpPr/>
          <p:nvPr/>
        </p:nvSpPr>
        <p:spPr>
          <a:xfrm>
            <a:off x="5349240" y="2313432"/>
            <a:ext cx="329184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Notification client</a:t>
            </a:r>
            <a:endParaRPr lang="en-US" sz="1000" dirty="0"/>
          </a:p>
        </p:txBody>
      </p:sp>
      <p:sp>
        <p:nvSpPr>
          <p:cNvPr id="30" name="Text 28"/>
          <p:cNvSpPr/>
          <p:nvPr/>
        </p:nvSpPr>
        <p:spPr>
          <a:xfrm>
            <a:off x="5349240" y="2624328"/>
            <a:ext cx="3291840" cy="457200"/>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Le client reçoit une confirmation avec le détail de sa transaction.</a:t>
            </a:r>
            <a:endParaRPr lang="en-US" sz="900" dirty="0"/>
          </a:p>
        </p:txBody>
      </p:sp>
      <p:sp>
        <p:nvSpPr>
          <p:cNvPr id="31" name="Shape 29"/>
          <p:cNvSpPr/>
          <p:nvPr/>
        </p:nvSpPr>
        <p:spPr>
          <a:xfrm>
            <a:off x="4663440" y="3474720"/>
            <a:ext cx="502920" cy="502920"/>
          </a:xfrm>
          <a:prstGeom prst="ellipse">
            <a:avLst/>
          </a:prstGeom>
          <a:solidFill>
            <a:srgbClr val="F4A261"/>
          </a:solidFill>
          <a:ln w="12700">
            <a:solidFill>
              <a:srgbClr val="F4A261"/>
            </a:solidFill>
            <a:prstDash val="solid"/>
          </a:ln>
        </p:spPr>
      </p:sp>
      <p:sp>
        <p:nvSpPr>
          <p:cNvPr id="32" name="Text 30"/>
          <p:cNvSpPr/>
          <p:nvPr/>
        </p:nvSpPr>
        <p:spPr>
          <a:xfrm>
            <a:off x="4663440" y="347472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Shape 31"/>
          <p:cNvSpPr/>
          <p:nvPr/>
        </p:nvSpPr>
        <p:spPr>
          <a:xfrm>
            <a:off x="5257800" y="3337560"/>
            <a:ext cx="3474720" cy="914400"/>
          </a:xfrm>
          <a:prstGeom prst="rect">
            <a:avLst/>
          </a:prstGeom>
          <a:solidFill>
            <a:srgbClr val="FFFBF0"/>
          </a:solidFill>
          <a:ln w="12700">
            <a:solidFill>
              <a:srgbClr val="F4D9AA"/>
            </a:solidFill>
            <a:prstDash val="solid"/>
          </a:ln>
          <a:effectLst>
            <a:outerShdw blurRad="101600" dist="38100" dir="8100000" algn="bl" rotWithShape="0">
              <a:srgbClr val="000000">
                <a:alpha val="12000"/>
              </a:srgbClr>
            </a:outerShdw>
          </a:effectLst>
        </p:spPr>
      </p:sp>
      <p:sp>
        <p:nvSpPr>
          <p:cNvPr id="34" name="Text 32"/>
          <p:cNvSpPr/>
          <p:nvPr/>
        </p:nvSpPr>
        <p:spPr>
          <a:xfrm>
            <a:off x="5349240" y="3410712"/>
            <a:ext cx="329184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Historique mis à jour</a:t>
            </a:r>
            <a:endParaRPr lang="en-US" sz="1000" dirty="0"/>
          </a:p>
        </p:txBody>
      </p:sp>
      <p:sp>
        <p:nvSpPr>
          <p:cNvPr id="35" name="Text 33"/>
          <p:cNvSpPr/>
          <p:nvPr/>
        </p:nvSpPr>
        <p:spPr>
          <a:xfrm>
            <a:off x="5349240" y="3721608"/>
            <a:ext cx="3291840" cy="457200"/>
          </a:xfrm>
          <a:prstGeom prst="rect">
            <a:avLst/>
          </a:prstGeom>
          <a:noFill/>
          <a:ln/>
        </p:spPr>
        <p:txBody>
          <a:bodyPr wrap="square" rtlCol="0" anchor="ctr"/>
          <a:lstStyle/>
          <a:p>
            <a:pPr marL="0" indent="0">
              <a:buNone/>
            </a:pPr>
            <a:r>
              <a:rPr lang="en-US" sz="900" dirty="0">
                <a:solidFill>
                  <a:srgbClr val="444444"/>
                </a:solidFill>
                <a:latin typeface="Calibri" pitchFamily="34" charset="0"/>
                <a:ea typeface="Calibri" pitchFamily="34" charset="-122"/>
                <a:cs typeface="Calibri" pitchFamily="34" charset="-120"/>
              </a:rPr>
              <a:t>La transaction apparaît dans l'historique des paiements du client et du coach.</a:t>
            </a:r>
            <a:endParaRPr lang="en-US" sz="9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2"/>
          <a:stretch>
            <a:fillRect/>
          </a:stretch>
        </p:blipFill>
        <p:spPr>
          <a:xfrm>
            <a:off x="1009650" y="614045"/>
            <a:ext cx="6762750" cy="3915410"/>
          </a:xfrm>
          <a:prstGeom prst="rect">
            <a:avLst/>
          </a:prstGeom>
        </p:spPr>
      </p:pic>
    </p:spTree>
    <p:extLst>
      <p:ext uri="{BB962C8B-B14F-4D97-AF65-F5344CB8AC3E}">
        <p14:creationId xmlns:p14="http://schemas.microsoft.com/office/powerpoint/2010/main" val="9075043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Interface — Page d'accueil</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11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11 / 19</a:t>
            </a:r>
            <a:endParaRPr lang="en-US" sz="900" dirty="0"/>
          </a:p>
        </p:txBody>
      </p:sp>
      <p:sp>
        <p:nvSpPr>
          <p:cNvPr id="6" name="Shape 4"/>
          <p:cNvSpPr/>
          <p:nvPr/>
        </p:nvSpPr>
        <p:spPr>
          <a:xfrm>
            <a:off x="274320" y="1143000"/>
            <a:ext cx="5943600" cy="3474720"/>
          </a:xfrm>
          <a:prstGeom prst="rect">
            <a:avLst/>
          </a:prstGeom>
          <a:solidFill>
            <a:srgbClr val="EEF7FF"/>
          </a:solidFill>
          <a:ln w="19050">
            <a:solidFill>
              <a:srgbClr val="2E86AB"/>
            </a:solidFill>
            <a:prstDash val="dash"/>
          </a:ln>
          <a:effectLst>
            <a:outerShdw blurRad="101600" dist="38100" dir="8100000" algn="bl" rotWithShape="0">
              <a:srgbClr val="000000">
                <a:alpha val="12000"/>
              </a:srgbClr>
            </a:outerShdw>
          </a:effectLst>
        </p:spPr>
      </p:sp>
      <p:sp>
        <p:nvSpPr>
          <p:cNvPr id="7" name="Text 5"/>
          <p:cNvSpPr/>
          <p:nvPr/>
        </p:nvSpPr>
        <p:spPr>
          <a:xfrm>
            <a:off x="274320" y="1143000"/>
            <a:ext cx="5943600" cy="3474720"/>
          </a:xfrm>
          <a:prstGeom prst="rect">
            <a:avLst/>
          </a:prstGeom>
          <a:noFill/>
          <a:ln/>
        </p:spPr>
        <p:txBody>
          <a:bodyPr wrap="square" rtlCol="0" anchor="ctr"/>
          <a:lstStyle/>
          <a:p>
            <a:pPr marL="0" indent="0" algn="ctr">
              <a:buNone/>
            </a:pPr>
            <a:r>
              <a:rPr lang="en-US" sz="1300" i="1" dirty="0" smtClean="0">
                <a:solidFill>
                  <a:srgbClr val="2E86AB"/>
                </a:solidFill>
                <a:latin typeface="Calibri" pitchFamily="34" charset="0"/>
                <a:ea typeface="Calibri" pitchFamily="34" charset="-122"/>
                <a:cs typeface="Calibri" pitchFamily="34" charset="-120"/>
              </a:rPr>
              <a:t>de </a:t>
            </a:r>
            <a:r>
              <a:rPr lang="en-US" sz="1300" i="1" dirty="0">
                <a:solidFill>
                  <a:srgbClr val="2E86AB"/>
                </a:solidFill>
                <a:latin typeface="Calibri" pitchFamily="34" charset="0"/>
                <a:ea typeface="Calibri" pitchFamily="34" charset="-122"/>
                <a:cs typeface="Calibri" pitchFamily="34" charset="-120"/>
              </a:rPr>
              <a:t>la page d'accueil ici ]</a:t>
            </a:r>
            <a:endParaRPr lang="en-US" sz="1300" dirty="0"/>
          </a:p>
        </p:txBody>
      </p:sp>
      <p:sp>
        <p:nvSpPr>
          <p:cNvPr id="8" name="Text 6"/>
          <p:cNvSpPr/>
          <p:nvPr/>
        </p:nvSpPr>
        <p:spPr>
          <a:xfrm>
            <a:off x="6492240" y="1188720"/>
            <a:ext cx="228600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Ce que contient cette page :</a:t>
            </a:r>
            <a:endParaRPr lang="en-US" sz="1100" dirty="0"/>
          </a:p>
        </p:txBody>
      </p:sp>
      <p:sp>
        <p:nvSpPr>
          <p:cNvPr id="9" name="Shape 7"/>
          <p:cNvSpPr/>
          <p:nvPr/>
        </p:nvSpPr>
        <p:spPr>
          <a:xfrm>
            <a:off x="6492240" y="1536192"/>
            <a:ext cx="182880" cy="182880"/>
          </a:xfrm>
          <a:prstGeom prst="ellipse">
            <a:avLst/>
          </a:prstGeom>
          <a:solidFill>
            <a:srgbClr val="2E86AB"/>
          </a:solidFill>
          <a:ln w="12700">
            <a:solidFill>
              <a:srgbClr val="2E86AB"/>
            </a:solidFill>
            <a:prstDash val="solid"/>
          </a:ln>
        </p:spPr>
      </p:sp>
      <p:sp>
        <p:nvSpPr>
          <p:cNvPr id="10" name="Text 8"/>
          <p:cNvSpPr/>
          <p:nvPr/>
        </p:nvSpPr>
        <p:spPr>
          <a:xfrm>
            <a:off x="6748272" y="1508760"/>
            <a:ext cx="2011680" cy="274320"/>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Hero section avec titre accrocheur</a:t>
            </a:r>
            <a:endParaRPr lang="en-US" sz="900" dirty="0"/>
          </a:p>
        </p:txBody>
      </p:sp>
      <p:sp>
        <p:nvSpPr>
          <p:cNvPr id="11" name="Shape 9"/>
          <p:cNvSpPr/>
          <p:nvPr/>
        </p:nvSpPr>
        <p:spPr>
          <a:xfrm>
            <a:off x="6492240" y="1947672"/>
            <a:ext cx="182880" cy="182880"/>
          </a:xfrm>
          <a:prstGeom prst="ellipse">
            <a:avLst/>
          </a:prstGeom>
          <a:solidFill>
            <a:srgbClr val="2E86AB"/>
          </a:solidFill>
          <a:ln w="12700">
            <a:solidFill>
              <a:srgbClr val="2E86AB"/>
            </a:solidFill>
            <a:prstDash val="solid"/>
          </a:ln>
        </p:spPr>
      </p:sp>
      <p:sp>
        <p:nvSpPr>
          <p:cNvPr id="12" name="Text 10"/>
          <p:cNvSpPr/>
          <p:nvPr/>
        </p:nvSpPr>
        <p:spPr>
          <a:xfrm>
            <a:off x="6748272" y="1920240"/>
            <a:ext cx="2011680" cy="274320"/>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Boutons S'inscrire / Se connecter</a:t>
            </a:r>
            <a:endParaRPr lang="en-US" sz="900" dirty="0"/>
          </a:p>
        </p:txBody>
      </p:sp>
      <p:sp>
        <p:nvSpPr>
          <p:cNvPr id="13" name="Shape 11"/>
          <p:cNvSpPr/>
          <p:nvPr/>
        </p:nvSpPr>
        <p:spPr>
          <a:xfrm>
            <a:off x="6492240" y="2359152"/>
            <a:ext cx="182880" cy="182880"/>
          </a:xfrm>
          <a:prstGeom prst="ellipse">
            <a:avLst/>
          </a:prstGeom>
          <a:solidFill>
            <a:srgbClr val="2E86AB"/>
          </a:solidFill>
          <a:ln w="12700">
            <a:solidFill>
              <a:srgbClr val="2E86AB"/>
            </a:solidFill>
            <a:prstDash val="solid"/>
          </a:ln>
        </p:spPr>
      </p:sp>
      <p:sp>
        <p:nvSpPr>
          <p:cNvPr id="14" name="Text 12"/>
          <p:cNvSpPr/>
          <p:nvPr/>
        </p:nvSpPr>
        <p:spPr>
          <a:xfrm>
            <a:off x="6748272" y="2331720"/>
            <a:ext cx="2011680" cy="274320"/>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Présentation des fonctionnalités</a:t>
            </a:r>
            <a:endParaRPr lang="en-US" sz="900" dirty="0"/>
          </a:p>
        </p:txBody>
      </p:sp>
      <p:sp>
        <p:nvSpPr>
          <p:cNvPr id="15" name="Shape 13"/>
          <p:cNvSpPr/>
          <p:nvPr/>
        </p:nvSpPr>
        <p:spPr>
          <a:xfrm>
            <a:off x="6492240" y="2770632"/>
            <a:ext cx="182880" cy="182880"/>
          </a:xfrm>
          <a:prstGeom prst="ellipse">
            <a:avLst/>
          </a:prstGeom>
          <a:solidFill>
            <a:srgbClr val="2E86AB"/>
          </a:solidFill>
          <a:ln w="12700">
            <a:solidFill>
              <a:srgbClr val="2E86AB"/>
            </a:solidFill>
            <a:prstDash val="solid"/>
          </a:ln>
        </p:spPr>
      </p:sp>
      <p:sp>
        <p:nvSpPr>
          <p:cNvPr id="16" name="Text 14"/>
          <p:cNvSpPr/>
          <p:nvPr/>
        </p:nvSpPr>
        <p:spPr>
          <a:xfrm>
            <a:off x="6748272" y="2743200"/>
            <a:ext cx="2011680" cy="274320"/>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Design responsive et moderne</a:t>
            </a:r>
            <a:endParaRPr lang="en-US" sz="900" dirty="0"/>
          </a:p>
        </p:txBody>
      </p:sp>
      <p:sp>
        <p:nvSpPr>
          <p:cNvPr id="17" name="Shape 15"/>
          <p:cNvSpPr/>
          <p:nvPr/>
        </p:nvSpPr>
        <p:spPr>
          <a:xfrm>
            <a:off x="6492240" y="3182112"/>
            <a:ext cx="182880" cy="182880"/>
          </a:xfrm>
          <a:prstGeom prst="ellipse">
            <a:avLst/>
          </a:prstGeom>
          <a:solidFill>
            <a:srgbClr val="2E86AB"/>
          </a:solidFill>
          <a:ln w="12700">
            <a:solidFill>
              <a:srgbClr val="2E86AB"/>
            </a:solidFill>
            <a:prstDash val="solid"/>
          </a:ln>
        </p:spPr>
      </p:sp>
      <p:sp>
        <p:nvSpPr>
          <p:cNvPr id="18" name="Text 16"/>
          <p:cNvSpPr/>
          <p:nvPr/>
        </p:nvSpPr>
        <p:spPr>
          <a:xfrm>
            <a:off x="6748272" y="3154680"/>
            <a:ext cx="2011680" cy="274320"/>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Navigation claire avec menu</a:t>
            </a:r>
            <a:endParaRPr lang="en-US" sz="900" dirty="0"/>
          </a:p>
        </p:txBody>
      </p:sp>
      <p:sp>
        <p:nvSpPr>
          <p:cNvPr id="19" name="Text 17"/>
          <p:cNvSpPr/>
          <p:nvPr/>
        </p:nvSpPr>
        <p:spPr>
          <a:xfrm>
            <a:off x="274320" y="4663440"/>
            <a:ext cx="5943600" cy="228600"/>
          </a:xfrm>
          <a:prstGeom prst="rect">
            <a:avLst/>
          </a:prstGeom>
          <a:noFill/>
          <a:ln/>
        </p:spPr>
        <p:txBody>
          <a:bodyPr wrap="square" rtlCol="0" anchor="ctr"/>
          <a:lstStyle/>
          <a:p>
            <a:pPr marL="0" indent="0" algn="ctr">
              <a:buNone/>
            </a:pPr>
            <a:r>
              <a:rPr lang="en-US" sz="900" i="1" dirty="0">
                <a:solidFill>
                  <a:srgbClr val="6C757D"/>
                </a:solidFill>
                <a:latin typeface="Calibri" pitchFamily="34" charset="0"/>
                <a:ea typeface="Calibri" pitchFamily="34" charset="-122"/>
                <a:cs typeface="Calibri" pitchFamily="34" charset="-120"/>
              </a:rPr>
              <a:t>Figure 11 — Page d'accueil de l'application</a:t>
            </a:r>
            <a:endParaRPr lang="en-US" sz="900" dirty="0"/>
          </a:p>
        </p:txBody>
      </p:sp>
      <p:pic>
        <p:nvPicPr>
          <p:cNvPr id="20" name="Imag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236335"/>
            <a:ext cx="5730240" cy="3197372"/>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Interface — Programmes fitness</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12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12 / 19</a:t>
            </a:r>
            <a:endParaRPr lang="en-US" sz="900" dirty="0"/>
          </a:p>
        </p:txBody>
      </p:sp>
      <p:sp>
        <p:nvSpPr>
          <p:cNvPr id="6" name="Shape 4"/>
          <p:cNvSpPr/>
          <p:nvPr/>
        </p:nvSpPr>
        <p:spPr>
          <a:xfrm>
            <a:off x="274320" y="1143000"/>
            <a:ext cx="4114800" cy="2743200"/>
          </a:xfrm>
          <a:prstGeom prst="rect">
            <a:avLst/>
          </a:prstGeom>
          <a:solidFill>
            <a:srgbClr val="EEF7FF"/>
          </a:solidFill>
          <a:ln w="19050">
            <a:solidFill>
              <a:srgbClr val="2E86AB"/>
            </a:solidFill>
            <a:prstDash val="dash"/>
          </a:ln>
        </p:spPr>
      </p:sp>
      <p:sp>
        <p:nvSpPr>
          <p:cNvPr id="7" name="Text 5"/>
          <p:cNvSpPr/>
          <p:nvPr/>
        </p:nvSpPr>
        <p:spPr>
          <a:xfrm>
            <a:off x="274320" y="1143000"/>
            <a:ext cx="4114800" cy="2743200"/>
          </a:xfrm>
          <a:prstGeom prst="rect">
            <a:avLst/>
          </a:prstGeom>
          <a:noFill/>
          <a:ln/>
        </p:spPr>
        <p:txBody>
          <a:bodyPr wrap="square" rtlCol="0" anchor="ctr"/>
          <a:lstStyle/>
          <a:p>
            <a:pPr marL="0" indent="0" algn="ctr">
              <a:buNone/>
            </a:pPr>
            <a:r>
              <a:rPr lang="en-US" sz="1100" i="1" dirty="0">
                <a:solidFill>
                  <a:srgbClr val="2E86AB"/>
                </a:solidFill>
                <a:latin typeface="Calibri" pitchFamily="34" charset="0"/>
                <a:ea typeface="Calibri" pitchFamily="34" charset="-122"/>
                <a:cs typeface="Calibri" pitchFamily="34" charset="-120"/>
              </a:rPr>
              <a:t>[ Capture : Liste des programmes</a:t>
            </a:r>
            <a:endParaRPr lang="en-US" sz="1100" dirty="0"/>
          </a:p>
          <a:p>
            <a:pPr marL="0" indent="0" algn="ctr">
              <a:buNone/>
            </a:pPr>
            <a:r>
              <a:rPr lang="en-US" sz="1100" i="1" dirty="0">
                <a:solidFill>
                  <a:srgbClr val="2E86AB"/>
                </a:solidFill>
                <a:latin typeface="Calibri" pitchFamily="34" charset="0"/>
                <a:ea typeface="Calibri" pitchFamily="34" charset="-122"/>
                <a:cs typeface="Calibri" pitchFamily="34" charset="-120"/>
              </a:rPr>
              <a:t>(vue coach) ]</a:t>
            </a:r>
            <a:endParaRPr lang="en-US" sz="1100" dirty="0"/>
          </a:p>
        </p:txBody>
      </p:sp>
      <p:sp>
        <p:nvSpPr>
          <p:cNvPr id="8" name="Text 6"/>
          <p:cNvSpPr/>
          <p:nvPr/>
        </p:nvSpPr>
        <p:spPr>
          <a:xfrm>
            <a:off x="274320" y="3931920"/>
            <a:ext cx="4114800" cy="228600"/>
          </a:xfrm>
          <a:prstGeom prst="rect">
            <a:avLst/>
          </a:prstGeom>
          <a:noFill/>
          <a:ln/>
        </p:spPr>
        <p:txBody>
          <a:bodyPr wrap="square" rtlCol="0" anchor="ctr"/>
          <a:lstStyle/>
          <a:p>
            <a:pPr marL="0" indent="0" algn="ctr">
              <a:buNone/>
            </a:pPr>
            <a:r>
              <a:rPr lang="en-US" sz="800" i="1" dirty="0">
                <a:solidFill>
                  <a:srgbClr val="6C757D"/>
                </a:solidFill>
                <a:latin typeface="Calibri" pitchFamily="34" charset="0"/>
                <a:ea typeface="Calibri" pitchFamily="34" charset="-122"/>
                <a:cs typeface="Calibri" pitchFamily="34" charset="-120"/>
              </a:rPr>
              <a:t>Figure 14 — Liste des programmes (vue coach)</a:t>
            </a:r>
            <a:endParaRPr lang="en-US" sz="800" dirty="0"/>
          </a:p>
        </p:txBody>
      </p:sp>
      <p:sp>
        <p:nvSpPr>
          <p:cNvPr id="9" name="Shape 7"/>
          <p:cNvSpPr/>
          <p:nvPr/>
        </p:nvSpPr>
        <p:spPr>
          <a:xfrm>
            <a:off x="4754880" y="1143000"/>
            <a:ext cx="4114800" cy="2743200"/>
          </a:xfrm>
          <a:prstGeom prst="rect">
            <a:avLst/>
          </a:prstGeom>
          <a:solidFill>
            <a:srgbClr val="EEF7FF"/>
          </a:solidFill>
          <a:ln w="19050">
            <a:solidFill>
              <a:srgbClr val="27AE60"/>
            </a:solidFill>
            <a:prstDash val="dash"/>
          </a:ln>
        </p:spPr>
      </p:sp>
      <p:sp>
        <p:nvSpPr>
          <p:cNvPr id="10" name="Text 8"/>
          <p:cNvSpPr/>
          <p:nvPr/>
        </p:nvSpPr>
        <p:spPr>
          <a:xfrm>
            <a:off x="4754880" y="1143000"/>
            <a:ext cx="4114800" cy="2743200"/>
          </a:xfrm>
          <a:prstGeom prst="rect">
            <a:avLst/>
          </a:prstGeom>
          <a:noFill/>
          <a:ln/>
        </p:spPr>
        <p:txBody>
          <a:bodyPr wrap="square" rtlCol="0" anchor="ctr"/>
          <a:lstStyle/>
          <a:p>
            <a:pPr marL="0" indent="0" algn="ctr">
              <a:buNone/>
            </a:pPr>
            <a:r>
              <a:rPr lang="en-US" sz="1100" i="1" dirty="0" smtClean="0">
                <a:solidFill>
                  <a:srgbClr val="27AE60"/>
                </a:solidFill>
                <a:latin typeface="Calibri" pitchFamily="34" charset="0"/>
                <a:ea typeface="Calibri" pitchFamily="34" charset="-122"/>
                <a:cs typeface="Calibri" pitchFamily="34" charset="-120"/>
              </a:rPr>
              <a:t> </a:t>
            </a:r>
            <a:endParaRPr lang="en-US" sz="1100" dirty="0"/>
          </a:p>
        </p:txBody>
      </p:sp>
      <p:sp>
        <p:nvSpPr>
          <p:cNvPr id="11" name="Text 9"/>
          <p:cNvSpPr/>
          <p:nvPr/>
        </p:nvSpPr>
        <p:spPr>
          <a:xfrm>
            <a:off x="4754880" y="3931920"/>
            <a:ext cx="4114800" cy="228600"/>
          </a:xfrm>
          <a:prstGeom prst="rect">
            <a:avLst/>
          </a:prstGeom>
          <a:noFill/>
          <a:ln/>
        </p:spPr>
        <p:txBody>
          <a:bodyPr wrap="square" rtlCol="0" anchor="ctr"/>
          <a:lstStyle/>
          <a:p>
            <a:pPr marL="0" indent="0" algn="ctr">
              <a:buNone/>
            </a:pPr>
            <a:r>
              <a:rPr lang="en-US" sz="800" i="1" dirty="0">
                <a:solidFill>
                  <a:srgbClr val="6C757D"/>
                </a:solidFill>
                <a:latin typeface="Calibri" pitchFamily="34" charset="0"/>
                <a:ea typeface="Calibri" pitchFamily="34" charset="-122"/>
                <a:cs typeface="Calibri" pitchFamily="34" charset="-120"/>
              </a:rPr>
              <a:t>Figure 15 — Détail d'un programme fitness</a:t>
            </a:r>
            <a:endParaRPr lang="en-US" sz="800" dirty="0"/>
          </a:p>
        </p:txBody>
      </p:sp>
      <p:sp>
        <p:nvSpPr>
          <p:cNvPr id="12" name="Text 10"/>
          <p:cNvSpPr/>
          <p:nvPr/>
        </p:nvSpPr>
        <p:spPr>
          <a:xfrm>
            <a:off x="274320" y="4224528"/>
            <a:ext cx="8412480" cy="320040"/>
          </a:xfrm>
          <a:prstGeom prst="rect">
            <a:avLst/>
          </a:prstGeom>
          <a:noFill/>
          <a:ln/>
        </p:spPr>
        <p:txBody>
          <a:bodyPr wrap="square" rtlCol="0" anchor="ctr"/>
          <a:lstStyle/>
          <a:p>
            <a:pPr marL="0" indent="0" algn="ctr">
              <a:buNone/>
            </a:pPr>
            <a:r>
              <a:rPr lang="en-US" sz="1000" i="1" dirty="0">
                <a:solidFill>
                  <a:srgbClr val="6C757D"/>
                </a:solidFill>
                <a:latin typeface="Calibri" pitchFamily="34" charset="0"/>
                <a:ea typeface="Calibri" pitchFamily="34" charset="-122"/>
                <a:cs typeface="Calibri" pitchFamily="34" charset="-120"/>
              </a:rPr>
              <a:t>Le coach crée des programmes avec des exercices associés, niveaux et durées — le client les consulte depuis son espace.</a:t>
            </a:r>
            <a:endParaRPr lang="en-US" sz="1000" dirty="0"/>
          </a:p>
        </p:txBody>
      </p:sp>
      <p:pic>
        <p:nvPicPr>
          <p:cNvPr id="13" name="Imag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207008"/>
            <a:ext cx="3949065" cy="2574417"/>
          </a:xfrm>
          <a:prstGeom prst="rect">
            <a:avLst/>
          </a:prstGeom>
        </p:spPr>
      </p:pic>
      <p:sp>
        <p:nvSpPr>
          <p:cNvPr id="15" name="AutoShape 4" descr="blob:https://web.whatsapp.com/42da2eb8-26e6-41ef-bc35-5299823fbdf3"/>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6" name="AutoShape 6" descr="blob:https://web.whatsapp.com/42da2eb8-26e6-41ef-bc35-5299823fbdf3"/>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7" name="Image 16"/>
          <p:cNvPicPr>
            <a:picLocks noChangeAspect="1"/>
          </p:cNvPicPr>
          <p:nvPr/>
        </p:nvPicPr>
        <p:blipFill>
          <a:blip r:embed="rId4"/>
          <a:stretch>
            <a:fillRect/>
          </a:stretch>
        </p:blipFill>
        <p:spPr>
          <a:xfrm>
            <a:off x="4831773" y="1207008"/>
            <a:ext cx="3946468" cy="2574418"/>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Interface — Dashboard client</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13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13 / 19</a:t>
            </a:r>
            <a:endParaRPr lang="en-US" sz="900" dirty="0"/>
          </a:p>
        </p:txBody>
      </p:sp>
      <p:sp>
        <p:nvSpPr>
          <p:cNvPr id="6" name="Shape 4"/>
          <p:cNvSpPr/>
          <p:nvPr/>
        </p:nvSpPr>
        <p:spPr>
          <a:xfrm>
            <a:off x="274320" y="1143000"/>
            <a:ext cx="5486400" cy="3291840"/>
          </a:xfrm>
          <a:prstGeom prst="rect">
            <a:avLst/>
          </a:prstGeom>
          <a:solidFill>
            <a:srgbClr val="EEF7FF"/>
          </a:solidFill>
          <a:ln w="19050">
            <a:solidFill>
              <a:srgbClr val="2E86AB"/>
            </a:solidFill>
            <a:prstDash val="dash"/>
          </a:ln>
          <a:effectLst>
            <a:outerShdw blurRad="101600" dist="38100" dir="8100000" algn="bl" rotWithShape="0">
              <a:srgbClr val="000000">
                <a:alpha val="12000"/>
              </a:srgbClr>
            </a:outerShdw>
          </a:effectLst>
        </p:spPr>
      </p:sp>
      <p:sp>
        <p:nvSpPr>
          <p:cNvPr id="7" name="Text 5"/>
          <p:cNvSpPr/>
          <p:nvPr/>
        </p:nvSpPr>
        <p:spPr>
          <a:xfrm>
            <a:off x="274320" y="1143000"/>
            <a:ext cx="5486400" cy="3291840"/>
          </a:xfrm>
          <a:prstGeom prst="rect">
            <a:avLst/>
          </a:prstGeom>
          <a:noFill/>
          <a:ln/>
        </p:spPr>
        <p:txBody>
          <a:bodyPr wrap="square" rtlCol="0" anchor="ctr"/>
          <a:lstStyle/>
          <a:p>
            <a:pPr marL="0" indent="0" algn="ctr">
              <a:buNone/>
            </a:pPr>
            <a:endParaRPr lang="en-US" sz="1200" dirty="0"/>
          </a:p>
        </p:txBody>
      </p:sp>
      <p:sp>
        <p:nvSpPr>
          <p:cNvPr id="8" name="Shape 6"/>
          <p:cNvSpPr/>
          <p:nvPr/>
        </p:nvSpPr>
        <p:spPr>
          <a:xfrm>
            <a:off x="5989320" y="1143000"/>
            <a:ext cx="2834640" cy="576072"/>
          </a:xfrm>
          <a:prstGeom prst="rect">
            <a:avLst/>
          </a:prstGeom>
          <a:solidFill>
            <a:srgbClr val="FFFFFF"/>
          </a:solidFill>
          <a:ln w="19050">
            <a:solidFill>
              <a:srgbClr val="2E86AB"/>
            </a:solidFill>
            <a:prstDash val="solid"/>
          </a:ln>
          <a:effectLst>
            <a:outerShdw blurRad="101600" dist="38100" dir="8100000" algn="bl" rotWithShape="0">
              <a:srgbClr val="000000">
                <a:alpha val="12000"/>
              </a:srgbClr>
            </a:outerShdw>
          </a:effectLst>
        </p:spPr>
      </p:sp>
      <p:sp>
        <p:nvSpPr>
          <p:cNvPr id="9" name="Shape 7"/>
          <p:cNvSpPr/>
          <p:nvPr/>
        </p:nvSpPr>
        <p:spPr>
          <a:xfrm>
            <a:off x="5989320" y="1143000"/>
            <a:ext cx="64008" cy="576072"/>
          </a:xfrm>
          <a:prstGeom prst="rect">
            <a:avLst/>
          </a:prstGeom>
          <a:solidFill>
            <a:srgbClr val="2E86AB"/>
          </a:solidFill>
          <a:ln w="12700">
            <a:solidFill>
              <a:srgbClr val="2E86AB"/>
            </a:solidFill>
            <a:prstDash val="solid"/>
          </a:ln>
        </p:spPr>
      </p:sp>
      <p:sp>
        <p:nvSpPr>
          <p:cNvPr id="10" name="Text 8"/>
          <p:cNvSpPr/>
          <p:nvPr/>
        </p:nvSpPr>
        <p:spPr>
          <a:xfrm>
            <a:off x="6126480" y="1207008"/>
            <a:ext cx="256032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Programme actif</a:t>
            </a:r>
            <a:endParaRPr lang="en-US" sz="1000" dirty="0"/>
          </a:p>
        </p:txBody>
      </p:sp>
      <p:sp>
        <p:nvSpPr>
          <p:cNvPr id="11" name="Text 9"/>
          <p:cNvSpPr/>
          <p:nvPr/>
        </p:nvSpPr>
        <p:spPr>
          <a:xfrm>
            <a:off x="6126480" y="1481328"/>
            <a:ext cx="2560320" cy="201168"/>
          </a:xfrm>
          <a:prstGeom prst="rect">
            <a:avLst/>
          </a:prstGeom>
          <a:noFill/>
          <a:ln/>
        </p:spPr>
        <p:txBody>
          <a:bodyPr wrap="square" rtlCol="0" anchor="ctr"/>
          <a:lstStyle/>
          <a:p>
            <a:pPr marL="0" indent="0">
              <a:buNone/>
            </a:pPr>
            <a:r>
              <a:rPr lang="en-US" sz="800" i="1" dirty="0">
                <a:solidFill>
                  <a:srgbClr val="6C757D"/>
                </a:solidFill>
                <a:latin typeface="Calibri" pitchFamily="34" charset="0"/>
                <a:ea typeface="Calibri" pitchFamily="34" charset="-122"/>
                <a:cs typeface="Calibri" pitchFamily="34" charset="-120"/>
              </a:rPr>
              <a:t>Widget d'accès rapide</a:t>
            </a:r>
            <a:endParaRPr lang="en-US" sz="800" dirty="0"/>
          </a:p>
        </p:txBody>
      </p:sp>
      <p:sp>
        <p:nvSpPr>
          <p:cNvPr id="12" name="Shape 10"/>
          <p:cNvSpPr/>
          <p:nvPr/>
        </p:nvSpPr>
        <p:spPr>
          <a:xfrm>
            <a:off x="5989320" y="1810512"/>
            <a:ext cx="2834640" cy="576072"/>
          </a:xfrm>
          <a:prstGeom prst="rect">
            <a:avLst/>
          </a:prstGeom>
          <a:solidFill>
            <a:srgbClr val="FFFFFF"/>
          </a:solidFill>
          <a:ln w="19050">
            <a:solidFill>
              <a:srgbClr val="27AE60"/>
            </a:solidFill>
            <a:prstDash val="solid"/>
          </a:ln>
          <a:effectLst>
            <a:outerShdw blurRad="101600" dist="38100" dir="8100000" algn="bl" rotWithShape="0">
              <a:srgbClr val="000000">
                <a:alpha val="12000"/>
              </a:srgbClr>
            </a:outerShdw>
          </a:effectLst>
        </p:spPr>
      </p:sp>
      <p:sp>
        <p:nvSpPr>
          <p:cNvPr id="13" name="Shape 11"/>
          <p:cNvSpPr/>
          <p:nvPr/>
        </p:nvSpPr>
        <p:spPr>
          <a:xfrm>
            <a:off x="5989320" y="1810512"/>
            <a:ext cx="64008" cy="576072"/>
          </a:xfrm>
          <a:prstGeom prst="rect">
            <a:avLst/>
          </a:prstGeom>
          <a:solidFill>
            <a:srgbClr val="27AE60"/>
          </a:solidFill>
          <a:ln w="12700">
            <a:solidFill>
              <a:srgbClr val="27AE60"/>
            </a:solidFill>
            <a:prstDash val="solid"/>
          </a:ln>
        </p:spPr>
      </p:sp>
      <p:sp>
        <p:nvSpPr>
          <p:cNvPr id="14" name="Text 12"/>
          <p:cNvSpPr/>
          <p:nvPr/>
        </p:nvSpPr>
        <p:spPr>
          <a:xfrm>
            <a:off x="6126480" y="1874520"/>
            <a:ext cx="256032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Prochain RDV</a:t>
            </a:r>
            <a:endParaRPr lang="en-US" sz="1000" dirty="0"/>
          </a:p>
        </p:txBody>
      </p:sp>
      <p:sp>
        <p:nvSpPr>
          <p:cNvPr id="15" name="Text 13"/>
          <p:cNvSpPr/>
          <p:nvPr/>
        </p:nvSpPr>
        <p:spPr>
          <a:xfrm>
            <a:off x="6126480" y="2148840"/>
            <a:ext cx="2560320" cy="201168"/>
          </a:xfrm>
          <a:prstGeom prst="rect">
            <a:avLst/>
          </a:prstGeom>
          <a:noFill/>
          <a:ln/>
        </p:spPr>
        <p:txBody>
          <a:bodyPr wrap="square" rtlCol="0" anchor="ctr"/>
          <a:lstStyle/>
          <a:p>
            <a:pPr marL="0" indent="0">
              <a:buNone/>
            </a:pPr>
            <a:r>
              <a:rPr lang="en-US" sz="800" i="1" dirty="0">
                <a:solidFill>
                  <a:srgbClr val="6C757D"/>
                </a:solidFill>
                <a:latin typeface="Calibri" pitchFamily="34" charset="0"/>
                <a:ea typeface="Calibri" pitchFamily="34" charset="-122"/>
                <a:cs typeface="Calibri" pitchFamily="34" charset="-120"/>
              </a:rPr>
              <a:t>Widget d'accès rapide</a:t>
            </a:r>
            <a:endParaRPr lang="en-US" sz="800" dirty="0"/>
          </a:p>
        </p:txBody>
      </p:sp>
      <p:sp>
        <p:nvSpPr>
          <p:cNvPr id="16" name="Shape 14"/>
          <p:cNvSpPr/>
          <p:nvPr/>
        </p:nvSpPr>
        <p:spPr>
          <a:xfrm>
            <a:off x="5989320" y="2478024"/>
            <a:ext cx="2834640" cy="576072"/>
          </a:xfrm>
          <a:prstGeom prst="rect">
            <a:avLst/>
          </a:prstGeom>
          <a:solidFill>
            <a:srgbClr val="FFFFFF"/>
          </a:solidFill>
          <a:ln w="19050">
            <a:solidFill>
              <a:srgbClr val="F4A261"/>
            </a:solidFill>
            <a:prstDash val="solid"/>
          </a:ln>
          <a:effectLst>
            <a:outerShdw blurRad="101600" dist="38100" dir="8100000" algn="bl" rotWithShape="0">
              <a:srgbClr val="000000">
                <a:alpha val="12000"/>
              </a:srgbClr>
            </a:outerShdw>
          </a:effectLst>
        </p:spPr>
      </p:sp>
      <p:sp>
        <p:nvSpPr>
          <p:cNvPr id="17" name="Shape 15"/>
          <p:cNvSpPr/>
          <p:nvPr/>
        </p:nvSpPr>
        <p:spPr>
          <a:xfrm>
            <a:off x="5989320" y="2478024"/>
            <a:ext cx="64008" cy="576072"/>
          </a:xfrm>
          <a:prstGeom prst="rect">
            <a:avLst/>
          </a:prstGeom>
          <a:solidFill>
            <a:srgbClr val="F4A261"/>
          </a:solidFill>
          <a:ln w="12700">
            <a:solidFill>
              <a:srgbClr val="F4A261"/>
            </a:solidFill>
            <a:prstDash val="solid"/>
          </a:ln>
        </p:spPr>
      </p:sp>
      <p:sp>
        <p:nvSpPr>
          <p:cNvPr id="18" name="Text 16"/>
          <p:cNvSpPr/>
          <p:nvPr/>
        </p:nvSpPr>
        <p:spPr>
          <a:xfrm>
            <a:off x="6126480" y="2542032"/>
            <a:ext cx="256032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Messages non lus</a:t>
            </a:r>
            <a:endParaRPr lang="en-US" sz="1000" dirty="0"/>
          </a:p>
        </p:txBody>
      </p:sp>
      <p:sp>
        <p:nvSpPr>
          <p:cNvPr id="19" name="Text 17"/>
          <p:cNvSpPr/>
          <p:nvPr/>
        </p:nvSpPr>
        <p:spPr>
          <a:xfrm>
            <a:off x="6126480" y="2816352"/>
            <a:ext cx="2560320" cy="201168"/>
          </a:xfrm>
          <a:prstGeom prst="rect">
            <a:avLst/>
          </a:prstGeom>
          <a:noFill/>
          <a:ln/>
        </p:spPr>
        <p:txBody>
          <a:bodyPr wrap="square" rtlCol="0" anchor="ctr"/>
          <a:lstStyle/>
          <a:p>
            <a:pPr marL="0" indent="0">
              <a:buNone/>
            </a:pPr>
            <a:r>
              <a:rPr lang="en-US" sz="800" i="1" dirty="0">
                <a:solidFill>
                  <a:srgbClr val="6C757D"/>
                </a:solidFill>
                <a:latin typeface="Calibri" pitchFamily="34" charset="0"/>
                <a:ea typeface="Calibri" pitchFamily="34" charset="-122"/>
                <a:cs typeface="Calibri" pitchFamily="34" charset="-120"/>
              </a:rPr>
              <a:t>Widget d'accès rapide</a:t>
            </a:r>
            <a:endParaRPr lang="en-US" sz="800" dirty="0"/>
          </a:p>
        </p:txBody>
      </p:sp>
      <p:sp>
        <p:nvSpPr>
          <p:cNvPr id="20" name="Shape 18"/>
          <p:cNvSpPr/>
          <p:nvPr/>
        </p:nvSpPr>
        <p:spPr>
          <a:xfrm>
            <a:off x="5989320" y="3145536"/>
            <a:ext cx="2834640" cy="576072"/>
          </a:xfrm>
          <a:prstGeom prst="rect">
            <a:avLst/>
          </a:prstGeom>
          <a:solidFill>
            <a:srgbClr val="FFFFFF"/>
          </a:solidFill>
          <a:ln w="19050">
            <a:solidFill>
              <a:srgbClr val="1E3A5F"/>
            </a:solidFill>
            <a:prstDash val="solid"/>
          </a:ln>
          <a:effectLst>
            <a:outerShdw blurRad="101600" dist="38100" dir="8100000" algn="bl" rotWithShape="0">
              <a:srgbClr val="000000">
                <a:alpha val="12000"/>
              </a:srgbClr>
            </a:outerShdw>
          </a:effectLst>
        </p:spPr>
      </p:sp>
      <p:sp>
        <p:nvSpPr>
          <p:cNvPr id="21" name="Shape 19"/>
          <p:cNvSpPr/>
          <p:nvPr/>
        </p:nvSpPr>
        <p:spPr>
          <a:xfrm>
            <a:off x="5989320" y="3145536"/>
            <a:ext cx="64008" cy="576072"/>
          </a:xfrm>
          <a:prstGeom prst="rect">
            <a:avLst/>
          </a:prstGeom>
          <a:solidFill>
            <a:srgbClr val="1E3A5F"/>
          </a:solidFill>
          <a:ln w="12700">
            <a:solidFill>
              <a:srgbClr val="1E3A5F"/>
            </a:solidFill>
            <a:prstDash val="solid"/>
          </a:ln>
        </p:spPr>
      </p:sp>
      <p:sp>
        <p:nvSpPr>
          <p:cNvPr id="22" name="Text 20"/>
          <p:cNvSpPr/>
          <p:nvPr/>
        </p:nvSpPr>
        <p:spPr>
          <a:xfrm>
            <a:off x="6126480" y="3209544"/>
            <a:ext cx="256032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Ma progression</a:t>
            </a:r>
            <a:endParaRPr lang="en-US" sz="1000" dirty="0"/>
          </a:p>
        </p:txBody>
      </p:sp>
      <p:sp>
        <p:nvSpPr>
          <p:cNvPr id="23" name="Text 21"/>
          <p:cNvSpPr/>
          <p:nvPr/>
        </p:nvSpPr>
        <p:spPr>
          <a:xfrm>
            <a:off x="6126480" y="3483864"/>
            <a:ext cx="2560320" cy="201168"/>
          </a:xfrm>
          <a:prstGeom prst="rect">
            <a:avLst/>
          </a:prstGeom>
          <a:noFill/>
          <a:ln/>
        </p:spPr>
        <p:txBody>
          <a:bodyPr wrap="square" rtlCol="0" anchor="ctr"/>
          <a:lstStyle/>
          <a:p>
            <a:pPr marL="0" indent="0">
              <a:buNone/>
            </a:pPr>
            <a:r>
              <a:rPr lang="en-US" sz="800" i="1" dirty="0">
                <a:solidFill>
                  <a:srgbClr val="6C757D"/>
                </a:solidFill>
                <a:latin typeface="Calibri" pitchFamily="34" charset="0"/>
                <a:ea typeface="Calibri" pitchFamily="34" charset="-122"/>
                <a:cs typeface="Calibri" pitchFamily="34" charset="-120"/>
              </a:rPr>
              <a:t>Widget d'accès rapide</a:t>
            </a:r>
            <a:endParaRPr lang="en-US" sz="800" dirty="0"/>
          </a:p>
        </p:txBody>
      </p:sp>
      <p:sp>
        <p:nvSpPr>
          <p:cNvPr id="24" name="Shape 22"/>
          <p:cNvSpPr/>
          <p:nvPr/>
        </p:nvSpPr>
        <p:spPr>
          <a:xfrm>
            <a:off x="5989320" y="3813048"/>
            <a:ext cx="2834640" cy="576072"/>
          </a:xfrm>
          <a:prstGeom prst="rect">
            <a:avLst/>
          </a:prstGeom>
          <a:solidFill>
            <a:srgbClr val="FFFFFF"/>
          </a:solidFill>
          <a:ln w="19050">
            <a:solidFill>
              <a:srgbClr val="8E44AD"/>
            </a:solidFill>
            <a:prstDash val="solid"/>
          </a:ln>
          <a:effectLst>
            <a:outerShdw blurRad="101600" dist="38100" dir="8100000" algn="bl" rotWithShape="0">
              <a:srgbClr val="000000">
                <a:alpha val="12000"/>
              </a:srgbClr>
            </a:outerShdw>
          </a:effectLst>
        </p:spPr>
      </p:sp>
      <p:sp>
        <p:nvSpPr>
          <p:cNvPr id="25" name="Shape 23"/>
          <p:cNvSpPr/>
          <p:nvPr/>
        </p:nvSpPr>
        <p:spPr>
          <a:xfrm>
            <a:off x="5989320" y="3813048"/>
            <a:ext cx="64008" cy="576072"/>
          </a:xfrm>
          <a:prstGeom prst="rect">
            <a:avLst/>
          </a:prstGeom>
          <a:solidFill>
            <a:srgbClr val="8E44AD"/>
          </a:solidFill>
          <a:ln w="12700">
            <a:solidFill>
              <a:srgbClr val="8E44AD"/>
            </a:solidFill>
            <a:prstDash val="solid"/>
          </a:ln>
        </p:spPr>
      </p:sp>
      <p:sp>
        <p:nvSpPr>
          <p:cNvPr id="26" name="Text 24"/>
          <p:cNvSpPr/>
          <p:nvPr/>
        </p:nvSpPr>
        <p:spPr>
          <a:xfrm>
            <a:off x="6126480" y="3877056"/>
            <a:ext cx="2560320" cy="274320"/>
          </a:xfrm>
          <a:prstGeom prst="rect">
            <a:avLst/>
          </a:prstGeom>
          <a:noFill/>
          <a:ln/>
        </p:spPr>
        <p:txBody>
          <a:bodyPr wrap="square"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Mon plan nutri</a:t>
            </a:r>
            <a:endParaRPr lang="en-US" sz="1000" dirty="0"/>
          </a:p>
        </p:txBody>
      </p:sp>
      <p:sp>
        <p:nvSpPr>
          <p:cNvPr id="27" name="Text 25"/>
          <p:cNvSpPr/>
          <p:nvPr/>
        </p:nvSpPr>
        <p:spPr>
          <a:xfrm>
            <a:off x="6126480" y="4151376"/>
            <a:ext cx="2560320" cy="201168"/>
          </a:xfrm>
          <a:prstGeom prst="rect">
            <a:avLst/>
          </a:prstGeom>
          <a:noFill/>
          <a:ln/>
        </p:spPr>
        <p:txBody>
          <a:bodyPr wrap="square" rtlCol="0" anchor="ctr"/>
          <a:lstStyle/>
          <a:p>
            <a:pPr marL="0" indent="0">
              <a:buNone/>
            </a:pPr>
            <a:r>
              <a:rPr lang="en-US" sz="800" i="1" dirty="0">
                <a:solidFill>
                  <a:srgbClr val="6C757D"/>
                </a:solidFill>
                <a:latin typeface="Calibri" pitchFamily="34" charset="0"/>
                <a:ea typeface="Calibri" pitchFamily="34" charset="-122"/>
                <a:cs typeface="Calibri" pitchFamily="34" charset="-120"/>
              </a:rPr>
              <a:t>Widget d'accès rapide</a:t>
            </a:r>
            <a:endParaRPr lang="en-US" sz="800" dirty="0"/>
          </a:p>
        </p:txBody>
      </p:sp>
      <p:sp>
        <p:nvSpPr>
          <p:cNvPr id="28" name="Text 26"/>
          <p:cNvSpPr/>
          <p:nvPr/>
        </p:nvSpPr>
        <p:spPr>
          <a:xfrm>
            <a:off x="274320" y="4480560"/>
            <a:ext cx="5486400" cy="201168"/>
          </a:xfrm>
          <a:prstGeom prst="rect">
            <a:avLst/>
          </a:prstGeom>
          <a:noFill/>
          <a:ln/>
        </p:spPr>
        <p:txBody>
          <a:bodyPr wrap="square" rtlCol="0" anchor="ctr"/>
          <a:lstStyle/>
          <a:p>
            <a:pPr marL="0" indent="0" algn="ctr">
              <a:buNone/>
            </a:pPr>
            <a:r>
              <a:rPr lang="en-US" sz="800" i="1" dirty="0">
                <a:solidFill>
                  <a:srgbClr val="6C757D"/>
                </a:solidFill>
                <a:latin typeface="Calibri" pitchFamily="34" charset="0"/>
                <a:ea typeface="Calibri" pitchFamily="34" charset="-122"/>
                <a:cs typeface="Calibri" pitchFamily="34" charset="-120"/>
              </a:rPr>
              <a:t>Figure 19 — Dashboard client — Vue d'ensemble</a:t>
            </a:r>
            <a:endParaRPr lang="en-US" sz="800" dirty="0"/>
          </a:p>
        </p:txBody>
      </p:sp>
      <p:pic>
        <p:nvPicPr>
          <p:cNvPr id="29" name="Image 28"/>
          <p:cNvPicPr>
            <a:picLocks noChangeAspect="1"/>
          </p:cNvPicPr>
          <p:nvPr/>
        </p:nvPicPr>
        <p:blipFill rotWithShape="1">
          <a:blip r:embed="rId3">
            <a:extLst>
              <a:ext uri="{28A0092B-C50C-407E-A947-70E740481C1C}">
                <a14:useLocalDpi xmlns:a14="http://schemas.microsoft.com/office/drawing/2010/main" val="0"/>
              </a:ext>
            </a:extLst>
          </a:blip>
          <a:srcRect l="7281" t="17299" r="6819"/>
          <a:stretch/>
        </p:blipFill>
        <p:spPr>
          <a:xfrm>
            <a:off x="365760" y="1207008"/>
            <a:ext cx="5284816" cy="1382407"/>
          </a:xfrm>
          <a:prstGeom prst="rect">
            <a:avLst/>
          </a:prstGeom>
        </p:spPr>
      </p:pic>
      <p:pic>
        <p:nvPicPr>
          <p:cNvPr id="30" name="Image 29"/>
          <p:cNvPicPr>
            <a:picLocks noChangeAspect="1"/>
          </p:cNvPicPr>
          <p:nvPr/>
        </p:nvPicPr>
        <p:blipFill rotWithShape="1">
          <a:blip r:embed="rId4">
            <a:extLst>
              <a:ext uri="{28A0092B-C50C-407E-A947-70E740481C1C}">
                <a14:useLocalDpi xmlns:a14="http://schemas.microsoft.com/office/drawing/2010/main" val="0"/>
              </a:ext>
            </a:extLst>
          </a:blip>
          <a:srcRect l="8864" t="15045" r="13636"/>
          <a:stretch/>
        </p:blipFill>
        <p:spPr>
          <a:xfrm>
            <a:off x="384464" y="2589415"/>
            <a:ext cx="5266112" cy="1795963"/>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Interface — Dashboard coach</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14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14 / 19</a:t>
            </a:r>
            <a:endParaRPr lang="en-US" sz="900" dirty="0"/>
          </a:p>
        </p:txBody>
      </p:sp>
      <p:sp>
        <p:nvSpPr>
          <p:cNvPr id="6" name="Shape 4"/>
          <p:cNvSpPr/>
          <p:nvPr/>
        </p:nvSpPr>
        <p:spPr>
          <a:xfrm>
            <a:off x="274320" y="1143000"/>
            <a:ext cx="5486400" cy="3291840"/>
          </a:xfrm>
          <a:prstGeom prst="rect">
            <a:avLst/>
          </a:prstGeom>
          <a:solidFill>
            <a:srgbClr val="F0FFF4"/>
          </a:solidFill>
          <a:ln w="19050">
            <a:solidFill>
              <a:srgbClr val="27AE60"/>
            </a:solidFill>
            <a:prstDash val="dash"/>
          </a:ln>
          <a:effectLst>
            <a:outerShdw blurRad="101600" dist="38100" dir="8100000" algn="bl" rotWithShape="0">
              <a:srgbClr val="000000">
                <a:alpha val="12000"/>
              </a:srgbClr>
            </a:outerShdw>
          </a:effectLst>
        </p:spPr>
      </p:sp>
      <p:sp>
        <p:nvSpPr>
          <p:cNvPr id="7" name="Text 5"/>
          <p:cNvSpPr/>
          <p:nvPr/>
        </p:nvSpPr>
        <p:spPr>
          <a:xfrm>
            <a:off x="274320" y="1143000"/>
            <a:ext cx="5486400" cy="3291840"/>
          </a:xfrm>
          <a:prstGeom prst="rect">
            <a:avLst/>
          </a:prstGeom>
          <a:noFill/>
          <a:ln/>
        </p:spPr>
        <p:txBody>
          <a:bodyPr wrap="square" rtlCol="0" anchor="ctr"/>
          <a:lstStyle/>
          <a:p>
            <a:pPr marL="0" indent="0" algn="ctr">
              <a:buNone/>
            </a:pPr>
            <a:endParaRPr lang="en-US" sz="1200" dirty="0"/>
          </a:p>
        </p:txBody>
      </p:sp>
      <p:sp>
        <p:nvSpPr>
          <p:cNvPr id="8" name="Text 6"/>
          <p:cNvSpPr/>
          <p:nvPr/>
        </p:nvSpPr>
        <p:spPr>
          <a:xfrm>
            <a:off x="5989320" y="1188720"/>
            <a:ext cx="283464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Ce que voit le coach :</a:t>
            </a:r>
            <a:endParaRPr lang="en-US" sz="1100" dirty="0"/>
          </a:p>
        </p:txBody>
      </p:sp>
      <p:sp>
        <p:nvSpPr>
          <p:cNvPr id="9" name="Shape 7"/>
          <p:cNvSpPr/>
          <p:nvPr/>
        </p:nvSpPr>
        <p:spPr>
          <a:xfrm>
            <a:off x="5989320" y="1581912"/>
            <a:ext cx="182880" cy="182880"/>
          </a:xfrm>
          <a:prstGeom prst="ellipse">
            <a:avLst/>
          </a:prstGeom>
          <a:solidFill>
            <a:srgbClr val="27AE60"/>
          </a:solidFill>
          <a:ln w="12700">
            <a:solidFill>
              <a:srgbClr val="27AE60"/>
            </a:solidFill>
            <a:prstDash val="solid"/>
          </a:ln>
        </p:spPr>
      </p:sp>
      <p:sp>
        <p:nvSpPr>
          <p:cNvPr id="10" name="Text 8"/>
          <p:cNvSpPr/>
          <p:nvPr/>
        </p:nvSpPr>
        <p:spPr>
          <a:xfrm>
            <a:off x="6263640" y="1554480"/>
            <a:ext cx="2514600" cy="25603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Liste de ses clients actifs</a:t>
            </a:r>
            <a:endParaRPr lang="en-US" sz="1000" dirty="0"/>
          </a:p>
        </p:txBody>
      </p:sp>
      <p:sp>
        <p:nvSpPr>
          <p:cNvPr id="11" name="Shape 9"/>
          <p:cNvSpPr/>
          <p:nvPr/>
        </p:nvSpPr>
        <p:spPr>
          <a:xfrm>
            <a:off x="5989320" y="2002536"/>
            <a:ext cx="182880" cy="182880"/>
          </a:xfrm>
          <a:prstGeom prst="ellipse">
            <a:avLst/>
          </a:prstGeom>
          <a:solidFill>
            <a:srgbClr val="2E86AB"/>
          </a:solidFill>
          <a:ln w="12700">
            <a:solidFill>
              <a:srgbClr val="2E86AB"/>
            </a:solidFill>
            <a:prstDash val="solid"/>
          </a:ln>
        </p:spPr>
      </p:sp>
      <p:sp>
        <p:nvSpPr>
          <p:cNvPr id="12" name="Text 10"/>
          <p:cNvSpPr/>
          <p:nvPr/>
        </p:nvSpPr>
        <p:spPr>
          <a:xfrm>
            <a:off x="6263640" y="1975104"/>
            <a:ext cx="2514600" cy="25603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Rendez-vous du jour / semaine</a:t>
            </a:r>
            <a:endParaRPr lang="en-US" sz="1000" dirty="0"/>
          </a:p>
        </p:txBody>
      </p:sp>
      <p:sp>
        <p:nvSpPr>
          <p:cNvPr id="13" name="Shape 11"/>
          <p:cNvSpPr/>
          <p:nvPr/>
        </p:nvSpPr>
        <p:spPr>
          <a:xfrm>
            <a:off x="5989320" y="2423160"/>
            <a:ext cx="182880" cy="182880"/>
          </a:xfrm>
          <a:prstGeom prst="ellipse">
            <a:avLst/>
          </a:prstGeom>
          <a:solidFill>
            <a:srgbClr val="F4A261"/>
          </a:solidFill>
          <a:ln w="12700">
            <a:solidFill>
              <a:srgbClr val="F4A261"/>
            </a:solidFill>
            <a:prstDash val="solid"/>
          </a:ln>
        </p:spPr>
      </p:sp>
      <p:sp>
        <p:nvSpPr>
          <p:cNvPr id="14" name="Text 12"/>
          <p:cNvSpPr/>
          <p:nvPr/>
        </p:nvSpPr>
        <p:spPr>
          <a:xfrm>
            <a:off x="6263640" y="2395728"/>
            <a:ext cx="2514600" cy="25603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Messages non lus</a:t>
            </a:r>
            <a:endParaRPr lang="en-US" sz="1000" dirty="0"/>
          </a:p>
        </p:txBody>
      </p:sp>
      <p:sp>
        <p:nvSpPr>
          <p:cNvPr id="15" name="Shape 13"/>
          <p:cNvSpPr/>
          <p:nvPr/>
        </p:nvSpPr>
        <p:spPr>
          <a:xfrm>
            <a:off x="5989320" y="2843784"/>
            <a:ext cx="182880" cy="182880"/>
          </a:xfrm>
          <a:prstGeom prst="ellipse">
            <a:avLst/>
          </a:prstGeom>
          <a:solidFill>
            <a:srgbClr val="1E3A5F"/>
          </a:solidFill>
          <a:ln w="12700">
            <a:solidFill>
              <a:srgbClr val="1E3A5F"/>
            </a:solidFill>
            <a:prstDash val="solid"/>
          </a:ln>
        </p:spPr>
      </p:sp>
      <p:sp>
        <p:nvSpPr>
          <p:cNvPr id="16" name="Text 14"/>
          <p:cNvSpPr/>
          <p:nvPr/>
        </p:nvSpPr>
        <p:spPr>
          <a:xfrm>
            <a:off x="6263640" y="2816352"/>
            <a:ext cx="2514600" cy="25603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Programmes créés</a:t>
            </a:r>
            <a:endParaRPr lang="en-US" sz="1000" dirty="0"/>
          </a:p>
        </p:txBody>
      </p:sp>
      <p:sp>
        <p:nvSpPr>
          <p:cNvPr id="17" name="Shape 15"/>
          <p:cNvSpPr/>
          <p:nvPr/>
        </p:nvSpPr>
        <p:spPr>
          <a:xfrm>
            <a:off x="5989320" y="3264408"/>
            <a:ext cx="182880" cy="182880"/>
          </a:xfrm>
          <a:prstGeom prst="ellipse">
            <a:avLst/>
          </a:prstGeom>
          <a:solidFill>
            <a:srgbClr val="8E44AD"/>
          </a:solidFill>
          <a:ln w="12700">
            <a:solidFill>
              <a:srgbClr val="8E44AD"/>
            </a:solidFill>
            <a:prstDash val="solid"/>
          </a:ln>
        </p:spPr>
      </p:sp>
      <p:sp>
        <p:nvSpPr>
          <p:cNvPr id="18" name="Text 16"/>
          <p:cNvSpPr/>
          <p:nvPr/>
        </p:nvSpPr>
        <p:spPr>
          <a:xfrm>
            <a:off x="6263640" y="3236976"/>
            <a:ext cx="2514600" cy="25603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Statistiques globales</a:t>
            </a:r>
            <a:endParaRPr lang="en-US" sz="1000" dirty="0"/>
          </a:p>
        </p:txBody>
      </p:sp>
      <p:sp>
        <p:nvSpPr>
          <p:cNvPr id="19" name="Text 17"/>
          <p:cNvSpPr/>
          <p:nvPr/>
        </p:nvSpPr>
        <p:spPr>
          <a:xfrm>
            <a:off x="274320" y="4480560"/>
            <a:ext cx="5486400" cy="201168"/>
          </a:xfrm>
          <a:prstGeom prst="rect">
            <a:avLst/>
          </a:prstGeom>
          <a:noFill/>
          <a:ln/>
        </p:spPr>
        <p:txBody>
          <a:bodyPr wrap="square" rtlCol="0" anchor="ctr"/>
          <a:lstStyle/>
          <a:p>
            <a:pPr marL="0" indent="0" algn="ctr">
              <a:buNone/>
            </a:pPr>
            <a:r>
              <a:rPr lang="en-US" sz="800" i="1" dirty="0">
                <a:solidFill>
                  <a:srgbClr val="6C757D"/>
                </a:solidFill>
                <a:latin typeface="Calibri" pitchFamily="34" charset="0"/>
                <a:ea typeface="Calibri" pitchFamily="34" charset="-122"/>
                <a:cs typeface="Calibri" pitchFamily="34" charset="-120"/>
              </a:rPr>
              <a:t>Figure 20 — Dashboard coach — Vue d'ensemble</a:t>
            </a:r>
            <a:endParaRPr lang="en-US" sz="800" dirty="0"/>
          </a:p>
        </p:txBody>
      </p:sp>
      <p:pic>
        <p:nvPicPr>
          <p:cNvPr id="20" name="Image 19"/>
          <p:cNvPicPr>
            <a:picLocks noChangeAspect="1"/>
          </p:cNvPicPr>
          <p:nvPr/>
        </p:nvPicPr>
        <p:blipFill rotWithShape="1">
          <a:blip r:embed="rId3">
            <a:extLst>
              <a:ext uri="{28A0092B-C50C-407E-A947-70E740481C1C}">
                <a14:useLocalDpi xmlns:a14="http://schemas.microsoft.com/office/drawing/2010/main" val="0"/>
              </a:ext>
            </a:extLst>
          </a:blip>
          <a:srcRect l="4091" t="17376" r="2385" b="5910"/>
          <a:stretch/>
        </p:blipFill>
        <p:spPr>
          <a:xfrm>
            <a:off x="272242" y="1153391"/>
            <a:ext cx="5203768" cy="1475509"/>
          </a:xfrm>
          <a:prstGeom prst="rect">
            <a:avLst/>
          </a:prstGeom>
        </p:spPr>
      </p:pic>
      <p:pic>
        <p:nvPicPr>
          <p:cNvPr id="21" name="Image 20"/>
          <p:cNvPicPr>
            <a:picLocks noChangeAspect="1"/>
          </p:cNvPicPr>
          <p:nvPr/>
        </p:nvPicPr>
        <p:blipFill rotWithShape="1">
          <a:blip r:embed="rId4">
            <a:extLst>
              <a:ext uri="{28A0092B-C50C-407E-A947-70E740481C1C}">
                <a14:useLocalDpi xmlns:a14="http://schemas.microsoft.com/office/drawing/2010/main" val="0"/>
              </a:ext>
            </a:extLst>
          </a:blip>
          <a:srcRect l="3637" t="10802" r="8636" b="4162"/>
          <a:stretch/>
        </p:blipFill>
        <p:spPr>
          <a:xfrm>
            <a:off x="279515" y="2606041"/>
            <a:ext cx="5425095" cy="1828799"/>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Rendez-vous &amp; Messagerie</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15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15 / 19</a:t>
            </a:r>
            <a:endParaRPr lang="en-US" sz="900" dirty="0"/>
          </a:p>
        </p:txBody>
      </p:sp>
      <p:sp>
        <p:nvSpPr>
          <p:cNvPr id="6" name="Shape 4"/>
          <p:cNvSpPr/>
          <p:nvPr/>
        </p:nvSpPr>
        <p:spPr>
          <a:xfrm>
            <a:off x="274320" y="1143000"/>
            <a:ext cx="4114800" cy="2560320"/>
          </a:xfrm>
          <a:prstGeom prst="rect">
            <a:avLst/>
          </a:prstGeom>
          <a:solidFill>
            <a:srgbClr val="EEF7FF"/>
          </a:solidFill>
          <a:ln w="19050">
            <a:solidFill>
              <a:srgbClr val="2E86AB"/>
            </a:solidFill>
            <a:prstDash val="dash"/>
          </a:ln>
        </p:spPr>
      </p:sp>
      <p:sp>
        <p:nvSpPr>
          <p:cNvPr id="7" name="Text 5"/>
          <p:cNvSpPr/>
          <p:nvPr/>
        </p:nvSpPr>
        <p:spPr>
          <a:xfrm>
            <a:off x="274320" y="1143000"/>
            <a:ext cx="4114800" cy="2560320"/>
          </a:xfrm>
          <a:prstGeom prst="rect">
            <a:avLst/>
          </a:prstGeom>
          <a:noFill/>
          <a:ln/>
        </p:spPr>
        <p:txBody>
          <a:bodyPr wrap="square" rtlCol="0" anchor="ctr"/>
          <a:lstStyle/>
          <a:p>
            <a:pPr marL="0" indent="0" algn="ctr">
              <a:buNone/>
            </a:pPr>
            <a:endParaRPr lang="en-US" sz="1000" dirty="0"/>
          </a:p>
        </p:txBody>
      </p:sp>
      <p:sp>
        <p:nvSpPr>
          <p:cNvPr id="8" name="Text 6"/>
          <p:cNvSpPr/>
          <p:nvPr/>
        </p:nvSpPr>
        <p:spPr>
          <a:xfrm>
            <a:off x="274320" y="3749040"/>
            <a:ext cx="4114800" cy="201168"/>
          </a:xfrm>
          <a:prstGeom prst="rect">
            <a:avLst/>
          </a:prstGeom>
          <a:noFill/>
          <a:ln/>
        </p:spPr>
        <p:txBody>
          <a:bodyPr wrap="square" rtlCol="0" anchor="ctr"/>
          <a:lstStyle/>
          <a:p>
            <a:pPr marL="0" indent="0" algn="ctr">
              <a:buNone/>
            </a:pPr>
            <a:r>
              <a:rPr lang="en-US" sz="800" i="1" dirty="0">
                <a:solidFill>
                  <a:srgbClr val="6C757D"/>
                </a:solidFill>
                <a:latin typeface="Calibri" pitchFamily="34" charset="0"/>
                <a:ea typeface="Calibri" pitchFamily="34" charset="-122"/>
                <a:cs typeface="Calibri" pitchFamily="34" charset="-120"/>
              </a:rPr>
              <a:t>Figure 23 — Gestion des rendez-vous</a:t>
            </a:r>
            <a:endParaRPr lang="en-US" sz="800" dirty="0"/>
          </a:p>
        </p:txBody>
      </p:sp>
      <p:sp>
        <p:nvSpPr>
          <p:cNvPr id="9" name="Shape 7"/>
          <p:cNvSpPr/>
          <p:nvPr/>
        </p:nvSpPr>
        <p:spPr>
          <a:xfrm>
            <a:off x="4754880" y="1143000"/>
            <a:ext cx="4114800" cy="2560320"/>
          </a:xfrm>
          <a:prstGeom prst="rect">
            <a:avLst/>
          </a:prstGeom>
          <a:solidFill>
            <a:srgbClr val="FFF8F0"/>
          </a:solidFill>
          <a:ln w="19050">
            <a:solidFill>
              <a:srgbClr val="F4A261"/>
            </a:solidFill>
            <a:prstDash val="dash"/>
          </a:ln>
        </p:spPr>
      </p:sp>
      <p:sp>
        <p:nvSpPr>
          <p:cNvPr id="10" name="Text 8"/>
          <p:cNvSpPr/>
          <p:nvPr/>
        </p:nvSpPr>
        <p:spPr>
          <a:xfrm>
            <a:off x="4754880" y="1143000"/>
            <a:ext cx="4114800" cy="2560320"/>
          </a:xfrm>
          <a:prstGeom prst="rect">
            <a:avLst/>
          </a:prstGeom>
          <a:noFill/>
          <a:ln/>
        </p:spPr>
        <p:txBody>
          <a:bodyPr wrap="square" rtlCol="0" anchor="ctr"/>
          <a:lstStyle/>
          <a:p>
            <a:pPr marL="0" indent="0" algn="ctr">
              <a:buNone/>
            </a:pPr>
            <a:r>
              <a:rPr lang="en-US" sz="1000" i="1" dirty="0" smtClean="0">
                <a:solidFill>
                  <a:srgbClr val="F4A261"/>
                </a:solidFill>
                <a:latin typeface="Calibri" pitchFamily="34" charset="0"/>
                <a:ea typeface="Calibri" pitchFamily="34" charset="-122"/>
                <a:cs typeface="Calibri" pitchFamily="34" charset="-120"/>
              </a:rPr>
              <a:t>coach-client </a:t>
            </a:r>
            <a:r>
              <a:rPr lang="en-US" sz="1000" i="1" dirty="0">
                <a:solidFill>
                  <a:srgbClr val="F4A261"/>
                </a:solidFill>
                <a:latin typeface="Calibri" pitchFamily="34" charset="0"/>
                <a:ea typeface="Calibri" pitchFamily="34" charset="-122"/>
                <a:cs typeface="Calibri" pitchFamily="34" charset="-120"/>
              </a:rPr>
              <a:t>]</a:t>
            </a:r>
            <a:endParaRPr lang="en-US" sz="1000" dirty="0"/>
          </a:p>
        </p:txBody>
      </p:sp>
      <p:sp>
        <p:nvSpPr>
          <p:cNvPr id="11" name="Text 9"/>
          <p:cNvSpPr/>
          <p:nvPr/>
        </p:nvSpPr>
        <p:spPr>
          <a:xfrm>
            <a:off x="4754880" y="3749040"/>
            <a:ext cx="4114800" cy="201168"/>
          </a:xfrm>
          <a:prstGeom prst="rect">
            <a:avLst/>
          </a:prstGeom>
          <a:noFill/>
          <a:ln/>
        </p:spPr>
        <p:txBody>
          <a:bodyPr wrap="square" rtlCol="0" anchor="ctr"/>
          <a:lstStyle/>
          <a:p>
            <a:pPr marL="0" indent="0" algn="ctr">
              <a:buNone/>
            </a:pPr>
            <a:r>
              <a:rPr lang="en-US" sz="800" i="1" dirty="0">
                <a:solidFill>
                  <a:srgbClr val="6C757D"/>
                </a:solidFill>
                <a:latin typeface="Calibri" pitchFamily="34" charset="0"/>
                <a:ea typeface="Calibri" pitchFamily="34" charset="-122"/>
                <a:cs typeface="Calibri" pitchFamily="34" charset="-120"/>
              </a:rPr>
              <a:t>Figure 25 — Interface de messagerie</a:t>
            </a:r>
            <a:endParaRPr lang="en-US" sz="800" dirty="0"/>
          </a:p>
        </p:txBody>
      </p:sp>
      <p:sp>
        <p:nvSpPr>
          <p:cNvPr id="12" name="Text 10"/>
          <p:cNvSpPr/>
          <p:nvPr/>
        </p:nvSpPr>
        <p:spPr>
          <a:xfrm>
            <a:off x="274320" y="4005072"/>
            <a:ext cx="8412480" cy="457200"/>
          </a:xfrm>
          <a:prstGeom prst="rect">
            <a:avLst/>
          </a:prstGeom>
          <a:noFill/>
          <a:ln/>
        </p:spPr>
        <p:txBody>
          <a:bodyPr wrap="square" rtlCol="0" anchor="ctr"/>
          <a:lstStyle/>
          <a:p>
            <a:pPr marL="0" indent="0" algn="ctr">
              <a:buNone/>
            </a:pPr>
            <a:r>
              <a:rPr lang="en-US" sz="950" i="1" dirty="0">
                <a:solidFill>
                  <a:srgbClr val="6C757D"/>
                </a:solidFill>
                <a:latin typeface="Calibri" pitchFamily="34" charset="0"/>
                <a:ea typeface="Calibri" pitchFamily="34" charset="-122"/>
                <a:cs typeface="Calibri" pitchFamily="34" charset="-120"/>
              </a:rPr>
              <a:t>RDV : statuts En attente / Confirmé / Annulé — Messagerie : interface en temps réel avec historique des conversations</a:t>
            </a:r>
            <a:endParaRPr lang="en-US" sz="950" dirty="0"/>
          </a:p>
        </p:txBody>
      </p:sp>
      <p:pic>
        <p:nvPicPr>
          <p:cNvPr id="13" name="Image 12"/>
          <p:cNvPicPr/>
          <p:nvPr/>
        </p:nvPicPr>
        <p:blipFill>
          <a:blip r:embed="rId3"/>
          <a:stretch>
            <a:fillRect/>
          </a:stretch>
        </p:blipFill>
        <p:spPr>
          <a:xfrm>
            <a:off x="4829174" y="1291716"/>
            <a:ext cx="3949065" cy="2213483"/>
          </a:xfrm>
          <a:prstGeom prst="rect">
            <a:avLst/>
          </a:prstGeom>
        </p:spPr>
      </p:pic>
      <p:pic>
        <p:nvPicPr>
          <p:cNvPr id="14" name="Image 13"/>
          <p:cNvPicPr/>
          <p:nvPr/>
        </p:nvPicPr>
        <p:blipFill>
          <a:blip r:embed="rId4"/>
          <a:stretch>
            <a:fillRect/>
          </a:stretch>
        </p:blipFill>
        <p:spPr>
          <a:xfrm>
            <a:off x="365760" y="1215327"/>
            <a:ext cx="3910965" cy="243395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Documentation API — Swagger / OpenAPI</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16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16 / 19</a:t>
            </a:r>
            <a:endParaRPr lang="en-US" sz="900" dirty="0"/>
          </a:p>
        </p:txBody>
      </p:sp>
      <p:sp>
        <p:nvSpPr>
          <p:cNvPr id="6" name="Shape 4"/>
          <p:cNvSpPr/>
          <p:nvPr/>
        </p:nvSpPr>
        <p:spPr>
          <a:xfrm>
            <a:off x="274320" y="1143000"/>
            <a:ext cx="5486400" cy="3291840"/>
          </a:xfrm>
          <a:prstGeom prst="rect">
            <a:avLst/>
          </a:prstGeom>
          <a:solidFill>
            <a:srgbClr val="EEF7FF"/>
          </a:solidFill>
          <a:ln w="19050">
            <a:solidFill>
              <a:srgbClr val="8E44AD"/>
            </a:solidFill>
            <a:prstDash val="dash"/>
          </a:ln>
          <a:effectLst>
            <a:outerShdw blurRad="101600" dist="38100" dir="8100000" algn="bl" rotWithShape="0">
              <a:srgbClr val="000000">
                <a:alpha val="12000"/>
              </a:srgbClr>
            </a:outerShdw>
          </a:effectLst>
        </p:spPr>
      </p:sp>
      <p:sp>
        <p:nvSpPr>
          <p:cNvPr id="7" name="Text 5"/>
          <p:cNvSpPr/>
          <p:nvPr/>
        </p:nvSpPr>
        <p:spPr>
          <a:xfrm>
            <a:off x="274320" y="1143000"/>
            <a:ext cx="5486400" cy="3291840"/>
          </a:xfrm>
          <a:prstGeom prst="rect">
            <a:avLst/>
          </a:prstGeom>
          <a:noFill/>
          <a:ln/>
        </p:spPr>
        <p:txBody>
          <a:bodyPr wrap="square" rtlCol="0" anchor="ctr"/>
          <a:lstStyle/>
          <a:p>
            <a:pPr marL="0" indent="0" algn="ctr">
              <a:buNone/>
            </a:pPr>
            <a:endParaRPr lang="en-US" sz="1200" dirty="0"/>
          </a:p>
        </p:txBody>
      </p:sp>
      <p:sp>
        <p:nvSpPr>
          <p:cNvPr id="8" name="Text 6"/>
          <p:cNvSpPr/>
          <p:nvPr/>
        </p:nvSpPr>
        <p:spPr>
          <a:xfrm>
            <a:off x="5989320" y="1188720"/>
            <a:ext cx="283464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Swagger permet :</a:t>
            </a:r>
            <a:endParaRPr lang="en-US" sz="1100" dirty="0"/>
          </a:p>
        </p:txBody>
      </p:sp>
      <p:sp>
        <p:nvSpPr>
          <p:cNvPr id="9" name="Shape 7"/>
          <p:cNvSpPr/>
          <p:nvPr/>
        </p:nvSpPr>
        <p:spPr>
          <a:xfrm>
            <a:off x="5989320" y="1581912"/>
            <a:ext cx="182880" cy="182880"/>
          </a:xfrm>
          <a:prstGeom prst="ellipse">
            <a:avLst/>
          </a:prstGeom>
          <a:solidFill>
            <a:srgbClr val="8E44AD"/>
          </a:solidFill>
          <a:ln w="12700">
            <a:solidFill>
              <a:srgbClr val="8E44AD"/>
            </a:solidFill>
            <a:prstDash val="solid"/>
          </a:ln>
        </p:spPr>
      </p:sp>
      <p:sp>
        <p:nvSpPr>
          <p:cNvPr id="10" name="Text 8"/>
          <p:cNvSpPr/>
          <p:nvPr/>
        </p:nvSpPr>
        <p:spPr>
          <a:xfrm>
            <a:off x="6263640" y="1554480"/>
            <a:ext cx="2514600" cy="25603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Voir tous les endpoints disponibles</a:t>
            </a:r>
            <a:endParaRPr lang="en-US" sz="1000" dirty="0"/>
          </a:p>
        </p:txBody>
      </p:sp>
      <p:sp>
        <p:nvSpPr>
          <p:cNvPr id="11" name="Shape 9"/>
          <p:cNvSpPr/>
          <p:nvPr/>
        </p:nvSpPr>
        <p:spPr>
          <a:xfrm>
            <a:off x="5989320" y="2002536"/>
            <a:ext cx="182880" cy="182880"/>
          </a:xfrm>
          <a:prstGeom prst="ellipse">
            <a:avLst/>
          </a:prstGeom>
          <a:solidFill>
            <a:srgbClr val="8E44AD"/>
          </a:solidFill>
          <a:ln w="12700">
            <a:solidFill>
              <a:srgbClr val="8E44AD"/>
            </a:solidFill>
            <a:prstDash val="solid"/>
          </a:ln>
        </p:spPr>
      </p:sp>
      <p:sp>
        <p:nvSpPr>
          <p:cNvPr id="12" name="Text 10"/>
          <p:cNvSpPr/>
          <p:nvPr/>
        </p:nvSpPr>
        <p:spPr>
          <a:xfrm>
            <a:off x="6263640" y="1975104"/>
            <a:ext cx="2514600" cy="25603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Comprendre les paramètres requis</a:t>
            </a:r>
            <a:endParaRPr lang="en-US" sz="1000" dirty="0"/>
          </a:p>
        </p:txBody>
      </p:sp>
      <p:sp>
        <p:nvSpPr>
          <p:cNvPr id="13" name="Shape 11"/>
          <p:cNvSpPr/>
          <p:nvPr/>
        </p:nvSpPr>
        <p:spPr>
          <a:xfrm>
            <a:off x="5989320" y="2423160"/>
            <a:ext cx="182880" cy="182880"/>
          </a:xfrm>
          <a:prstGeom prst="ellipse">
            <a:avLst/>
          </a:prstGeom>
          <a:solidFill>
            <a:srgbClr val="8E44AD"/>
          </a:solidFill>
          <a:ln w="12700">
            <a:solidFill>
              <a:srgbClr val="8E44AD"/>
            </a:solidFill>
            <a:prstDash val="solid"/>
          </a:ln>
        </p:spPr>
      </p:sp>
      <p:sp>
        <p:nvSpPr>
          <p:cNvPr id="14" name="Text 12"/>
          <p:cNvSpPr/>
          <p:nvPr/>
        </p:nvSpPr>
        <p:spPr>
          <a:xfrm>
            <a:off x="6263640" y="2395728"/>
            <a:ext cx="2514600" cy="25603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Tester les requêtes directement</a:t>
            </a:r>
            <a:endParaRPr lang="en-US" sz="1000" dirty="0"/>
          </a:p>
        </p:txBody>
      </p:sp>
      <p:sp>
        <p:nvSpPr>
          <p:cNvPr id="15" name="Shape 13"/>
          <p:cNvSpPr/>
          <p:nvPr/>
        </p:nvSpPr>
        <p:spPr>
          <a:xfrm>
            <a:off x="5989320" y="2843784"/>
            <a:ext cx="182880" cy="182880"/>
          </a:xfrm>
          <a:prstGeom prst="ellipse">
            <a:avLst/>
          </a:prstGeom>
          <a:solidFill>
            <a:srgbClr val="8E44AD"/>
          </a:solidFill>
          <a:ln w="12700">
            <a:solidFill>
              <a:srgbClr val="8E44AD"/>
            </a:solidFill>
            <a:prstDash val="solid"/>
          </a:ln>
        </p:spPr>
      </p:sp>
      <p:sp>
        <p:nvSpPr>
          <p:cNvPr id="16" name="Text 14"/>
          <p:cNvSpPr/>
          <p:nvPr/>
        </p:nvSpPr>
        <p:spPr>
          <a:xfrm>
            <a:off x="6263640" y="2816352"/>
            <a:ext cx="2514600" cy="25603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Consulter les schémas de données</a:t>
            </a:r>
            <a:endParaRPr lang="en-US" sz="1000" dirty="0"/>
          </a:p>
        </p:txBody>
      </p:sp>
      <p:sp>
        <p:nvSpPr>
          <p:cNvPr id="17" name="Shape 15"/>
          <p:cNvSpPr/>
          <p:nvPr/>
        </p:nvSpPr>
        <p:spPr>
          <a:xfrm>
            <a:off x="5989320" y="3264408"/>
            <a:ext cx="182880" cy="182880"/>
          </a:xfrm>
          <a:prstGeom prst="ellipse">
            <a:avLst/>
          </a:prstGeom>
          <a:solidFill>
            <a:srgbClr val="8E44AD"/>
          </a:solidFill>
          <a:ln w="12700">
            <a:solidFill>
              <a:srgbClr val="8E44AD"/>
            </a:solidFill>
            <a:prstDash val="solid"/>
          </a:ln>
        </p:spPr>
      </p:sp>
      <p:sp>
        <p:nvSpPr>
          <p:cNvPr id="18" name="Text 16"/>
          <p:cNvSpPr/>
          <p:nvPr/>
        </p:nvSpPr>
        <p:spPr>
          <a:xfrm>
            <a:off x="6263640" y="3236976"/>
            <a:ext cx="2514600" cy="256032"/>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Documentation auto-générée</a:t>
            </a:r>
            <a:endParaRPr lang="en-US" sz="1000" dirty="0"/>
          </a:p>
        </p:txBody>
      </p:sp>
      <p:sp>
        <p:nvSpPr>
          <p:cNvPr id="19" name="Text 17"/>
          <p:cNvSpPr/>
          <p:nvPr/>
        </p:nvSpPr>
        <p:spPr>
          <a:xfrm>
            <a:off x="274320" y="4480560"/>
            <a:ext cx="5486400" cy="201168"/>
          </a:xfrm>
          <a:prstGeom prst="rect">
            <a:avLst/>
          </a:prstGeom>
          <a:noFill/>
          <a:ln/>
        </p:spPr>
        <p:txBody>
          <a:bodyPr wrap="square" rtlCol="0" anchor="ctr"/>
          <a:lstStyle/>
          <a:p>
            <a:pPr marL="0" indent="0" algn="ctr">
              <a:buNone/>
            </a:pPr>
            <a:r>
              <a:rPr lang="en-US" sz="800" i="1" dirty="0">
                <a:solidFill>
                  <a:srgbClr val="6C757D"/>
                </a:solidFill>
                <a:latin typeface="Calibri" pitchFamily="34" charset="0"/>
                <a:ea typeface="Calibri" pitchFamily="34" charset="-122"/>
                <a:cs typeface="Calibri" pitchFamily="34" charset="-120"/>
              </a:rPr>
              <a:t>Figure 30 — Documentation Swagger de l'API REST</a:t>
            </a:r>
            <a:endParaRPr lang="en-US" sz="800" dirty="0"/>
          </a:p>
        </p:txBody>
      </p:sp>
      <p:pic>
        <p:nvPicPr>
          <p:cNvPr id="20" name="Image 19"/>
          <p:cNvPicPr/>
          <p:nvPr/>
        </p:nvPicPr>
        <p:blipFill>
          <a:blip r:embed="rId3"/>
          <a:stretch>
            <a:fillRect/>
          </a:stretch>
        </p:blipFill>
        <p:spPr>
          <a:xfrm>
            <a:off x="365760" y="1232662"/>
            <a:ext cx="5263515" cy="3034538"/>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Sécurité &amp; Gestion des permissions</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17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17 / 19</a:t>
            </a:r>
            <a:endParaRPr lang="en-US" sz="900" dirty="0"/>
          </a:p>
        </p:txBody>
      </p:sp>
      <p:sp>
        <p:nvSpPr>
          <p:cNvPr id="6" name="Shape 4"/>
          <p:cNvSpPr/>
          <p:nvPr/>
        </p:nvSpPr>
        <p:spPr>
          <a:xfrm>
            <a:off x="274320" y="1097280"/>
            <a:ext cx="8412480" cy="347472"/>
          </a:xfrm>
          <a:prstGeom prst="rect">
            <a:avLst/>
          </a:prstGeom>
          <a:solidFill>
            <a:srgbClr val="1E3A5F"/>
          </a:solidFill>
          <a:ln w="12700">
            <a:solidFill>
              <a:srgbClr val="1E3A5F"/>
            </a:solidFill>
            <a:prstDash val="solid"/>
          </a:ln>
        </p:spPr>
      </p:sp>
      <p:sp>
        <p:nvSpPr>
          <p:cNvPr id="7" name="Text 5"/>
          <p:cNvSpPr/>
          <p:nvPr/>
        </p:nvSpPr>
        <p:spPr>
          <a:xfrm>
            <a:off x="274320" y="1097280"/>
            <a:ext cx="8412480" cy="347472"/>
          </a:xfrm>
          <a:prstGeom prst="rect">
            <a:avLst/>
          </a:prstGeom>
          <a:noFill/>
          <a:ln/>
        </p:spPr>
        <p:txBody>
          <a:bodyPr wrap="square" lIns="101600" tIns="101600" rIns="101600" bIns="10160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  Authentification par JSON Web Tokens (JWT)</a:t>
            </a:r>
            <a:endParaRPr lang="en-US" sz="1300" dirty="0"/>
          </a:p>
        </p:txBody>
      </p:sp>
      <p:sp>
        <p:nvSpPr>
          <p:cNvPr id="8" name="Shape 6"/>
          <p:cNvSpPr/>
          <p:nvPr/>
        </p:nvSpPr>
        <p:spPr>
          <a:xfrm>
            <a:off x="320040" y="1554480"/>
            <a:ext cx="182880" cy="182880"/>
          </a:xfrm>
          <a:prstGeom prst="ellipse">
            <a:avLst/>
          </a:prstGeom>
          <a:solidFill>
            <a:srgbClr val="2E86AB"/>
          </a:solidFill>
          <a:ln w="12700">
            <a:solidFill>
              <a:srgbClr val="2E86AB"/>
            </a:solidFill>
            <a:prstDash val="solid"/>
          </a:ln>
        </p:spPr>
      </p:sp>
      <p:sp>
        <p:nvSpPr>
          <p:cNvPr id="9" name="Text 7"/>
          <p:cNvSpPr/>
          <p:nvPr/>
        </p:nvSpPr>
        <p:spPr>
          <a:xfrm>
            <a:off x="594360" y="1527048"/>
            <a:ext cx="7955280" cy="256032"/>
          </a:xfrm>
          <a:prstGeom prst="rect">
            <a:avLst/>
          </a:prstGeom>
          <a:noFill/>
          <a:ln/>
        </p:spPr>
        <p:txBody>
          <a:bodyPr wrap="square" rtlCol="0" anchor="ctr"/>
          <a:lstStyle/>
          <a:p>
            <a:pPr marL="0" indent="0">
              <a:buNone/>
            </a:pPr>
            <a:r>
              <a:rPr lang="en-US" sz="1000" dirty="0">
                <a:solidFill>
                  <a:srgbClr val="222222"/>
                </a:solidFill>
                <a:latin typeface="Calibri" pitchFamily="34" charset="0"/>
                <a:ea typeface="Calibri" pitchFamily="34" charset="-122"/>
                <a:cs typeface="Calibri" pitchFamily="34" charset="-120"/>
              </a:rPr>
              <a:t>Connexion → access_token (15 min) + refresh_token (7 jours)</a:t>
            </a:r>
            <a:endParaRPr lang="en-US" sz="1000" dirty="0"/>
          </a:p>
        </p:txBody>
      </p:sp>
      <p:sp>
        <p:nvSpPr>
          <p:cNvPr id="10" name="Shape 8"/>
          <p:cNvSpPr/>
          <p:nvPr/>
        </p:nvSpPr>
        <p:spPr>
          <a:xfrm>
            <a:off x="320040" y="1901952"/>
            <a:ext cx="182880" cy="182880"/>
          </a:xfrm>
          <a:prstGeom prst="ellipse">
            <a:avLst/>
          </a:prstGeom>
          <a:solidFill>
            <a:srgbClr val="2E86AB"/>
          </a:solidFill>
          <a:ln w="12700">
            <a:solidFill>
              <a:srgbClr val="2E86AB"/>
            </a:solidFill>
            <a:prstDash val="solid"/>
          </a:ln>
        </p:spPr>
      </p:sp>
      <p:sp>
        <p:nvSpPr>
          <p:cNvPr id="11" name="Text 9"/>
          <p:cNvSpPr/>
          <p:nvPr/>
        </p:nvSpPr>
        <p:spPr>
          <a:xfrm>
            <a:off x="594360" y="1874520"/>
            <a:ext cx="7955280" cy="256032"/>
          </a:xfrm>
          <a:prstGeom prst="rect">
            <a:avLst/>
          </a:prstGeom>
          <a:noFill/>
          <a:ln/>
        </p:spPr>
        <p:txBody>
          <a:bodyPr wrap="square" rtlCol="0" anchor="ctr"/>
          <a:lstStyle/>
          <a:p>
            <a:pPr marL="0" indent="0">
              <a:buNone/>
            </a:pPr>
            <a:r>
              <a:rPr lang="en-US" sz="1000" dirty="0">
                <a:solidFill>
                  <a:srgbClr val="222222"/>
                </a:solidFill>
                <a:latin typeface="Calibri" pitchFamily="34" charset="0"/>
                <a:ea typeface="Calibri" pitchFamily="34" charset="-122"/>
                <a:cs typeface="Calibri" pitchFamily="34" charset="-120"/>
              </a:rPr>
              <a:t>Chaque requête → Authorization: Bearer &lt;access_token&gt;</a:t>
            </a:r>
            <a:endParaRPr lang="en-US" sz="1000" dirty="0"/>
          </a:p>
        </p:txBody>
      </p:sp>
      <p:sp>
        <p:nvSpPr>
          <p:cNvPr id="12" name="Shape 10"/>
          <p:cNvSpPr/>
          <p:nvPr/>
        </p:nvSpPr>
        <p:spPr>
          <a:xfrm>
            <a:off x="320040" y="2249424"/>
            <a:ext cx="182880" cy="182880"/>
          </a:xfrm>
          <a:prstGeom prst="ellipse">
            <a:avLst/>
          </a:prstGeom>
          <a:solidFill>
            <a:srgbClr val="2E86AB"/>
          </a:solidFill>
          <a:ln w="12700">
            <a:solidFill>
              <a:srgbClr val="2E86AB"/>
            </a:solidFill>
            <a:prstDash val="solid"/>
          </a:ln>
        </p:spPr>
      </p:sp>
      <p:sp>
        <p:nvSpPr>
          <p:cNvPr id="13" name="Text 11"/>
          <p:cNvSpPr/>
          <p:nvPr/>
        </p:nvSpPr>
        <p:spPr>
          <a:xfrm>
            <a:off x="594360" y="2221992"/>
            <a:ext cx="7955280" cy="256032"/>
          </a:xfrm>
          <a:prstGeom prst="rect">
            <a:avLst/>
          </a:prstGeom>
          <a:noFill/>
          <a:ln/>
        </p:spPr>
        <p:txBody>
          <a:bodyPr wrap="square" rtlCol="0" anchor="ctr"/>
          <a:lstStyle/>
          <a:p>
            <a:pPr marL="0" indent="0">
              <a:buNone/>
            </a:pPr>
            <a:r>
              <a:rPr lang="en-US" sz="1000" dirty="0">
                <a:solidFill>
                  <a:srgbClr val="222222"/>
                </a:solidFill>
                <a:latin typeface="Calibri" pitchFamily="34" charset="0"/>
                <a:ea typeface="Calibri" pitchFamily="34" charset="-122"/>
                <a:cs typeface="Calibri" pitchFamily="34" charset="-120"/>
              </a:rPr>
              <a:t>Token expiré → refresh automatique sans reconnexion</a:t>
            </a:r>
            <a:endParaRPr lang="en-US" sz="1000" dirty="0"/>
          </a:p>
        </p:txBody>
      </p:sp>
      <p:sp>
        <p:nvSpPr>
          <p:cNvPr id="14" name="Text 12"/>
          <p:cNvSpPr/>
          <p:nvPr/>
        </p:nvSpPr>
        <p:spPr>
          <a:xfrm>
            <a:off x="274320" y="2651760"/>
            <a:ext cx="457200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Matrice des permissions par rôle :</a:t>
            </a:r>
            <a:endParaRPr lang="en-US" sz="1100" dirty="0"/>
          </a:p>
        </p:txBody>
      </p:sp>
      <p:sp>
        <p:nvSpPr>
          <p:cNvPr id="15" name="Shape 13"/>
          <p:cNvSpPr/>
          <p:nvPr/>
        </p:nvSpPr>
        <p:spPr>
          <a:xfrm>
            <a:off x="274320" y="2971800"/>
            <a:ext cx="3200400" cy="329184"/>
          </a:xfrm>
          <a:prstGeom prst="rect">
            <a:avLst/>
          </a:prstGeom>
          <a:solidFill>
            <a:srgbClr val="1E3A5F"/>
          </a:solidFill>
          <a:ln w="12700">
            <a:solidFill>
              <a:srgbClr val="D0D8E0"/>
            </a:solidFill>
            <a:prstDash val="solid"/>
          </a:ln>
        </p:spPr>
      </p:sp>
      <p:sp>
        <p:nvSpPr>
          <p:cNvPr id="16" name="Text 14"/>
          <p:cNvSpPr/>
          <p:nvPr/>
        </p:nvSpPr>
        <p:spPr>
          <a:xfrm>
            <a:off x="274320" y="2971800"/>
            <a:ext cx="3200400" cy="329184"/>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Fonctionnalité</a:t>
            </a:r>
            <a:endParaRPr lang="en-US" sz="1000" dirty="0"/>
          </a:p>
        </p:txBody>
      </p:sp>
      <p:sp>
        <p:nvSpPr>
          <p:cNvPr id="17" name="Shape 15"/>
          <p:cNvSpPr/>
          <p:nvPr/>
        </p:nvSpPr>
        <p:spPr>
          <a:xfrm>
            <a:off x="3474720" y="2971800"/>
            <a:ext cx="1371600" cy="329184"/>
          </a:xfrm>
          <a:prstGeom prst="rect">
            <a:avLst/>
          </a:prstGeom>
          <a:solidFill>
            <a:srgbClr val="1E3A5F"/>
          </a:solidFill>
          <a:ln w="12700">
            <a:solidFill>
              <a:srgbClr val="D0D8E0"/>
            </a:solidFill>
            <a:prstDash val="solid"/>
          </a:ln>
        </p:spPr>
      </p:sp>
      <p:sp>
        <p:nvSpPr>
          <p:cNvPr id="18" name="Text 16"/>
          <p:cNvSpPr/>
          <p:nvPr/>
        </p:nvSpPr>
        <p:spPr>
          <a:xfrm>
            <a:off x="3474720" y="2971800"/>
            <a:ext cx="137160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Client</a:t>
            </a:r>
            <a:endParaRPr lang="en-US" sz="1000" dirty="0"/>
          </a:p>
        </p:txBody>
      </p:sp>
      <p:sp>
        <p:nvSpPr>
          <p:cNvPr id="19" name="Shape 17"/>
          <p:cNvSpPr/>
          <p:nvPr/>
        </p:nvSpPr>
        <p:spPr>
          <a:xfrm>
            <a:off x="4846320" y="2971800"/>
            <a:ext cx="1371600" cy="329184"/>
          </a:xfrm>
          <a:prstGeom prst="rect">
            <a:avLst/>
          </a:prstGeom>
          <a:solidFill>
            <a:srgbClr val="1E3A5F"/>
          </a:solidFill>
          <a:ln w="12700">
            <a:solidFill>
              <a:srgbClr val="D0D8E0"/>
            </a:solidFill>
            <a:prstDash val="solid"/>
          </a:ln>
        </p:spPr>
      </p:sp>
      <p:sp>
        <p:nvSpPr>
          <p:cNvPr id="20" name="Text 18"/>
          <p:cNvSpPr/>
          <p:nvPr/>
        </p:nvSpPr>
        <p:spPr>
          <a:xfrm>
            <a:off x="4846320" y="2971800"/>
            <a:ext cx="137160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Coach</a:t>
            </a:r>
            <a:endParaRPr lang="en-US" sz="1000" dirty="0"/>
          </a:p>
        </p:txBody>
      </p:sp>
      <p:sp>
        <p:nvSpPr>
          <p:cNvPr id="21" name="Shape 19"/>
          <p:cNvSpPr/>
          <p:nvPr/>
        </p:nvSpPr>
        <p:spPr>
          <a:xfrm>
            <a:off x="6217920" y="2971800"/>
            <a:ext cx="1371600" cy="329184"/>
          </a:xfrm>
          <a:prstGeom prst="rect">
            <a:avLst/>
          </a:prstGeom>
          <a:solidFill>
            <a:srgbClr val="1E3A5F"/>
          </a:solidFill>
          <a:ln w="12700">
            <a:solidFill>
              <a:srgbClr val="D0D8E0"/>
            </a:solidFill>
            <a:prstDash val="solid"/>
          </a:ln>
        </p:spPr>
      </p:sp>
      <p:sp>
        <p:nvSpPr>
          <p:cNvPr id="22" name="Text 20"/>
          <p:cNvSpPr/>
          <p:nvPr/>
        </p:nvSpPr>
        <p:spPr>
          <a:xfrm>
            <a:off x="6217920" y="2971800"/>
            <a:ext cx="137160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Admin</a:t>
            </a:r>
            <a:endParaRPr lang="en-US" sz="1000" dirty="0"/>
          </a:p>
        </p:txBody>
      </p:sp>
      <p:sp>
        <p:nvSpPr>
          <p:cNvPr id="23" name="Shape 21"/>
          <p:cNvSpPr/>
          <p:nvPr/>
        </p:nvSpPr>
        <p:spPr>
          <a:xfrm>
            <a:off x="274320" y="3319272"/>
            <a:ext cx="3200400" cy="329184"/>
          </a:xfrm>
          <a:prstGeom prst="rect">
            <a:avLst/>
          </a:prstGeom>
          <a:solidFill>
            <a:srgbClr val="FFFFFF"/>
          </a:solidFill>
          <a:ln w="12700">
            <a:solidFill>
              <a:srgbClr val="D0D8E0"/>
            </a:solidFill>
            <a:prstDash val="solid"/>
          </a:ln>
        </p:spPr>
      </p:sp>
      <p:sp>
        <p:nvSpPr>
          <p:cNvPr id="24" name="Text 22"/>
          <p:cNvSpPr/>
          <p:nvPr/>
        </p:nvSpPr>
        <p:spPr>
          <a:xfrm>
            <a:off x="274320" y="3319272"/>
            <a:ext cx="3200400" cy="329184"/>
          </a:xfrm>
          <a:prstGeom prst="rect">
            <a:avLst/>
          </a:prstGeom>
          <a:noFill/>
          <a:ln/>
        </p:spPr>
        <p:txBody>
          <a:bodyPr wrap="square" lIns="63500" tIns="63500" rIns="63500" bIns="63500" rtlCol="0" anchor="ctr"/>
          <a:lstStyle/>
          <a:p>
            <a:pPr marL="0" indent="0" algn="l">
              <a:buNone/>
            </a:pPr>
            <a:r>
              <a:rPr lang="en-US" sz="1000" dirty="0">
                <a:solidFill>
                  <a:srgbClr val="222222"/>
                </a:solidFill>
                <a:latin typeface="Calibri" pitchFamily="34" charset="0"/>
                <a:ea typeface="Calibri" pitchFamily="34" charset="-122"/>
                <a:cs typeface="Calibri" pitchFamily="34" charset="-120"/>
              </a:rPr>
              <a:t>Créer un programme</a:t>
            </a:r>
            <a:endParaRPr lang="en-US" sz="1000" dirty="0"/>
          </a:p>
        </p:txBody>
      </p:sp>
      <p:sp>
        <p:nvSpPr>
          <p:cNvPr id="25" name="Shape 23"/>
          <p:cNvSpPr/>
          <p:nvPr/>
        </p:nvSpPr>
        <p:spPr>
          <a:xfrm>
            <a:off x="3474720" y="3319272"/>
            <a:ext cx="1371600" cy="329184"/>
          </a:xfrm>
          <a:prstGeom prst="rect">
            <a:avLst/>
          </a:prstGeom>
          <a:solidFill>
            <a:srgbClr val="FFFFFF"/>
          </a:solidFill>
          <a:ln w="12700">
            <a:solidFill>
              <a:srgbClr val="D0D8E0"/>
            </a:solidFill>
            <a:prstDash val="solid"/>
          </a:ln>
        </p:spPr>
      </p:sp>
      <p:sp>
        <p:nvSpPr>
          <p:cNvPr id="26" name="Text 24"/>
          <p:cNvSpPr/>
          <p:nvPr/>
        </p:nvSpPr>
        <p:spPr>
          <a:xfrm>
            <a:off x="3474720" y="3319272"/>
            <a:ext cx="1371600" cy="329184"/>
          </a:xfrm>
          <a:prstGeom prst="rect">
            <a:avLst/>
          </a:prstGeom>
          <a:noFill/>
          <a:ln/>
        </p:spPr>
        <p:txBody>
          <a:bodyPr wrap="square" lIns="63500" tIns="63500" rIns="63500" bIns="63500" rtlCol="0" anchor="ctr"/>
          <a:lstStyle/>
          <a:p>
            <a:pPr marL="0" indent="0" algn="ctr">
              <a:buNone/>
            </a:pPr>
            <a:r>
              <a:rPr lang="en-US" sz="1000" dirty="0">
                <a:solidFill>
                  <a:srgbClr val="E74C3C"/>
                </a:solidFill>
                <a:latin typeface="Calibri" pitchFamily="34" charset="0"/>
                <a:ea typeface="Calibri" pitchFamily="34" charset="-122"/>
                <a:cs typeface="Calibri" pitchFamily="34" charset="-120"/>
              </a:rPr>
              <a:t>✗</a:t>
            </a:r>
            <a:endParaRPr lang="en-US" sz="1000" dirty="0"/>
          </a:p>
        </p:txBody>
      </p:sp>
      <p:sp>
        <p:nvSpPr>
          <p:cNvPr id="27" name="Shape 25"/>
          <p:cNvSpPr/>
          <p:nvPr/>
        </p:nvSpPr>
        <p:spPr>
          <a:xfrm>
            <a:off x="4846320" y="3319272"/>
            <a:ext cx="1371600" cy="329184"/>
          </a:xfrm>
          <a:prstGeom prst="rect">
            <a:avLst/>
          </a:prstGeom>
          <a:solidFill>
            <a:srgbClr val="FFFFFF"/>
          </a:solidFill>
          <a:ln w="12700">
            <a:solidFill>
              <a:srgbClr val="D0D8E0"/>
            </a:solidFill>
            <a:prstDash val="solid"/>
          </a:ln>
        </p:spPr>
      </p:sp>
      <p:sp>
        <p:nvSpPr>
          <p:cNvPr id="28" name="Text 26"/>
          <p:cNvSpPr/>
          <p:nvPr/>
        </p:nvSpPr>
        <p:spPr>
          <a:xfrm>
            <a:off x="4846320" y="3319272"/>
            <a:ext cx="1371600" cy="329184"/>
          </a:xfrm>
          <a:prstGeom prst="rect">
            <a:avLst/>
          </a:prstGeom>
          <a:noFill/>
          <a:ln/>
        </p:spPr>
        <p:txBody>
          <a:bodyPr wrap="square" lIns="63500" tIns="63500" rIns="63500" bIns="63500" rtlCol="0" anchor="ctr"/>
          <a:lstStyle/>
          <a:p>
            <a:pPr marL="0" indent="0" algn="ctr">
              <a:buNone/>
            </a:pPr>
            <a:r>
              <a:rPr lang="en-US" sz="1000" dirty="0">
                <a:solidFill>
                  <a:srgbClr val="27AE60"/>
                </a:solidFill>
                <a:latin typeface="Calibri" pitchFamily="34" charset="0"/>
                <a:ea typeface="Calibri" pitchFamily="34" charset="-122"/>
                <a:cs typeface="Calibri" pitchFamily="34" charset="-120"/>
              </a:rPr>
              <a:t>✓</a:t>
            </a:r>
            <a:endParaRPr lang="en-US" sz="1000" dirty="0"/>
          </a:p>
        </p:txBody>
      </p:sp>
      <p:sp>
        <p:nvSpPr>
          <p:cNvPr id="29" name="Shape 27"/>
          <p:cNvSpPr/>
          <p:nvPr/>
        </p:nvSpPr>
        <p:spPr>
          <a:xfrm>
            <a:off x="6217920" y="3319272"/>
            <a:ext cx="1371600" cy="329184"/>
          </a:xfrm>
          <a:prstGeom prst="rect">
            <a:avLst/>
          </a:prstGeom>
          <a:solidFill>
            <a:srgbClr val="FFFFFF"/>
          </a:solidFill>
          <a:ln w="12700">
            <a:solidFill>
              <a:srgbClr val="D0D8E0"/>
            </a:solidFill>
            <a:prstDash val="solid"/>
          </a:ln>
        </p:spPr>
      </p:sp>
      <p:sp>
        <p:nvSpPr>
          <p:cNvPr id="30" name="Text 28"/>
          <p:cNvSpPr/>
          <p:nvPr/>
        </p:nvSpPr>
        <p:spPr>
          <a:xfrm>
            <a:off x="6217920" y="3319272"/>
            <a:ext cx="1371600" cy="329184"/>
          </a:xfrm>
          <a:prstGeom prst="rect">
            <a:avLst/>
          </a:prstGeom>
          <a:noFill/>
          <a:ln/>
        </p:spPr>
        <p:txBody>
          <a:bodyPr wrap="square" lIns="63500" tIns="63500" rIns="63500" bIns="63500" rtlCol="0" anchor="ctr"/>
          <a:lstStyle/>
          <a:p>
            <a:pPr marL="0" indent="0" algn="ctr">
              <a:buNone/>
            </a:pPr>
            <a:r>
              <a:rPr lang="en-US" sz="1000" dirty="0">
                <a:solidFill>
                  <a:srgbClr val="27AE60"/>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274320" y="3666744"/>
            <a:ext cx="3200400" cy="329184"/>
          </a:xfrm>
          <a:prstGeom prst="rect">
            <a:avLst/>
          </a:prstGeom>
          <a:solidFill>
            <a:srgbClr val="EEF7FF"/>
          </a:solidFill>
          <a:ln w="12700">
            <a:solidFill>
              <a:srgbClr val="D0D8E0"/>
            </a:solidFill>
            <a:prstDash val="solid"/>
          </a:ln>
        </p:spPr>
      </p:sp>
      <p:sp>
        <p:nvSpPr>
          <p:cNvPr id="32" name="Text 30"/>
          <p:cNvSpPr/>
          <p:nvPr/>
        </p:nvSpPr>
        <p:spPr>
          <a:xfrm>
            <a:off x="274320" y="3666744"/>
            <a:ext cx="3200400" cy="329184"/>
          </a:xfrm>
          <a:prstGeom prst="rect">
            <a:avLst/>
          </a:prstGeom>
          <a:noFill/>
          <a:ln/>
        </p:spPr>
        <p:txBody>
          <a:bodyPr wrap="square" lIns="63500" tIns="63500" rIns="63500" bIns="63500" rtlCol="0" anchor="ctr"/>
          <a:lstStyle/>
          <a:p>
            <a:pPr marL="0" indent="0" algn="l">
              <a:buNone/>
            </a:pPr>
            <a:r>
              <a:rPr lang="en-US" sz="1000" dirty="0">
                <a:solidFill>
                  <a:srgbClr val="222222"/>
                </a:solidFill>
                <a:latin typeface="Calibri" pitchFamily="34" charset="0"/>
                <a:ea typeface="Calibri" pitchFamily="34" charset="-122"/>
                <a:cs typeface="Calibri" pitchFamily="34" charset="-120"/>
              </a:rPr>
              <a:t>Consulter ses données</a:t>
            </a:r>
            <a:endParaRPr lang="en-US" sz="1000" dirty="0"/>
          </a:p>
        </p:txBody>
      </p:sp>
      <p:sp>
        <p:nvSpPr>
          <p:cNvPr id="33" name="Shape 31"/>
          <p:cNvSpPr/>
          <p:nvPr/>
        </p:nvSpPr>
        <p:spPr>
          <a:xfrm>
            <a:off x="3474720" y="3666744"/>
            <a:ext cx="1371600" cy="329184"/>
          </a:xfrm>
          <a:prstGeom prst="rect">
            <a:avLst/>
          </a:prstGeom>
          <a:solidFill>
            <a:srgbClr val="EEF7FF"/>
          </a:solidFill>
          <a:ln w="12700">
            <a:solidFill>
              <a:srgbClr val="D0D8E0"/>
            </a:solidFill>
            <a:prstDash val="solid"/>
          </a:ln>
        </p:spPr>
      </p:sp>
      <p:sp>
        <p:nvSpPr>
          <p:cNvPr id="34" name="Text 32"/>
          <p:cNvSpPr/>
          <p:nvPr/>
        </p:nvSpPr>
        <p:spPr>
          <a:xfrm>
            <a:off x="3474720" y="3666744"/>
            <a:ext cx="1371600" cy="329184"/>
          </a:xfrm>
          <a:prstGeom prst="rect">
            <a:avLst/>
          </a:prstGeom>
          <a:noFill/>
          <a:ln/>
        </p:spPr>
        <p:txBody>
          <a:bodyPr wrap="square" lIns="63500" tIns="63500" rIns="63500" bIns="63500" rtlCol="0" anchor="ctr"/>
          <a:lstStyle/>
          <a:p>
            <a:pPr marL="0" indent="0" algn="ctr">
              <a:buNone/>
            </a:pPr>
            <a:r>
              <a:rPr lang="en-US" sz="1000" dirty="0">
                <a:solidFill>
                  <a:srgbClr val="27AE60"/>
                </a:solidFill>
                <a:latin typeface="Calibri" pitchFamily="34" charset="0"/>
                <a:ea typeface="Calibri" pitchFamily="34" charset="-122"/>
                <a:cs typeface="Calibri" pitchFamily="34" charset="-120"/>
              </a:rPr>
              <a:t>✓</a:t>
            </a:r>
            <a:endParaRPr lang="en-US" sz="1000" dirty="0"/>
          </a:p>
        </p:txBody>
      </p:sp>
      <p:sp>
        <p:nvSpPr>
          <p:cNvPr id="35" name="Shape 33"/>
          <p:cNvSpPr/>
          <p:nvPr/>
        </p:nvSpPr>
        <p:spPr>
          <a:xfrm>
            <a:off x="4846320" y="3666744"/>
            <a:ext cx="1371600" cy="329184"/>
          </a:xfrm>
          <a:prstGeom prst="rect">
            <a:avLst/>
          </a:prstGeom>
          <a:solidFill>
            <a:srgbClr val="EEF7FF"/>
          </a:solidFill>
          <a:ln w="12700">
            <a:solidFill>
              <a:srgbClr val="D0D8E0"/>
            </a:solidFill>
            <a:prstDash val="solid"/>
          </a:ln>
        </p:spPr>
      </p:sp>
      <p:sp>
        <p:nvSpPr>
          <p:cNvPr id="36" name="Text 34"/>
          <p:cNvSpPr/>
          <p:nvPr/>
        </p:nvSpPr>
        <p:spPr>
          <a:xfrm>
            <a:off x="4846320" y="3666744"/>
            <a:ext cx="1371600" cy="329184"/>
          </a:xfrm>
          <a:prstGeom prst="rect">
            <a:avLst/>
          </a:prstGeom>
          <a:noFill/>
          <a:ln/>
        </p:spPr>
        <p:txBody>
          <a:bodyPr wrap="square" lIns="63500" tIns="63500" rIns="63500" bIns="63500" rtlCol="0" anchor="ctr"/>
          <a:lstStyle/>
          <a:p>
            <a:pPr marL="0" indent="0" algn="ctr">
              <a:buNone/>
            </a:pPr>
            <a:r>
              <a:rPr lang="en-US" sz="1000" dirty="0">
                <a:solidFill>
                  <a:srgbClr val="27AE60"/>
                </a:solidFill>
                <a:latin typeface="Calibri" pitchFamily="34" charset="0"/>
                <a:ea typeface="Calibri" pitchFamily="34" charset="-122"/>
                <a:cs typeface="Calibri" pitchFamily="34" charset="-120"/>
              </a:rPr>
              <a:t>✓</a:t>
            </a:r>
            <a:endParaRPr lang="en-US" sz="1000" dirty="0"/>
          </a:p>
        </p:txBody>
      </p:sp>
      <p:sp>
        <p:nvSpPr>
          <p:cNvPr id="37" name="Shape 35"/>
          <p:cNvSpPr/>
          <p:nvPr/>
        </p:nvSpPr>
        <p:spPr>
          <a:xfrm>
            <a:off x="6217920" y="3666744"/>
            <a:ext cx="1371600" cy="329184"/>
          </a:xfrm>
          <a:prstGeom prst="rect">
            <a:avLst/>
          </a:prstGeom>
          <a:solidFill>
            <a:srgbClr val="EEF7FF"/>
          </a:solidFill>
          <a:ln w="12700">
            <a:solidFill>
              <a:srgbClr val="D0D8E0"/>
            </a:solidFill>
            <a:prstDash val="solid"/>
          </a:ln>
        </p:spPr>
      </p:sp>
      <p:sp>
        <p:nvSpPr>
          <p:cNvPr id="38" name="Text 36"/>
          <p:cNvSpPr/>
          <p:nvPr/>
        </p:nvSpPr>
        <p:spPr>
          <a:xfrm>
            <a:off x="6217920" y="3666744"/>
            <a:ext cx="1371600" cy="329184"/>
          </a:xfrm>
          <a:prstGeom prst="rect">
            <a:avLst/>
          </a:prstGeom>
          <a:noFill/>
          <a:ln/>
        </p:spPr>
        <p:txBody>
          <a:bodyPr wrap="square" lIns="63500" tIns="63500" rIns="63500" bIns="63500" rtlCol="0" anchor="ctr"/>
          <a:lstStyle/>
          <a:p>
            <a:pPr marL="0" indent="0" algn="ctr">
              <a:buNone/>
            </a:pPr>
            <a:r>
              <a:rPr lang="en-US" sz="1000" dirty="0">
                <a:solidFill>
                  <a:srgbClr val="27AE60"/>
                </a:solidFill>
                <a:latin typeface="Calibri" pitchFamily="34" charset="0"/>
                <a:ea typeface="Calibri" pitchFamily="34" charset="-122"/>
                <a:cs typeface="Calibri" pitchFamily="34" charset="-120"/>
              </a:rPr>
              <a:t>✓</a:t>
            </a:r>
            <a:endParaRPr lang="en-US" sz="1000" dirty="0"/>
          </a:p>
        </p:txBody>
      </p:sp>
      <p:sp>
        <p:nvSpPr>
          <p:cNvPr id="39" name="Shape 37"/>
          <p:cNvSpPr/>
          <p:nvPr/>
        </p:nvSpPr>
        <p:spPr>
          <a:xfrm>
            <a:off x="274320" y="4014216"/>
            <a:ext cx="3200400" cy="329184"/>
          </a:xfrm>
          <a:prstGeom prst="rect">
            <a:avLst/>
          </a:prstGeom>
          <a:solidFill>
            <a:srgbClr val="FFFFFF"/>
          </a:solidFill>
          <a:ln w="12700">
            <a:solidFill>
              <a:srgbClr val="D0D8E0"/>
            </a:solidFill>
            <a:prstDash val="solid"/>
          </a:ln>
        </p:spPr>
      </p:sp>
      <p:sp>
        <p:nvSpPr>
          <p:cNvPr id="40" name="Text 38"/>
          <p:cNvSpPr/>
          <p:nvPr/>
        </p:nvSpPr>
        <p:spPr>
          <a:xfrm>
            <a:off x="274320" y="4014216"/>
            <a:ext cx="3200400" cy="329184"/>
          </a:xfrm>
          <a:prstGeom prst="rect">
            <a:avLst/>
          </a:prstGeom>
          <a:noFill/>
          <a:ln/>
        </p:spPr>
        <p:txBody>
          <a:bodyPr wrap="square" lIns="63500" tIns="63500" rIns="63500" bIns="63500" rtlCol="0" anchor="ctr"/>
          <a:lstStyle/>
          <a:p>
            <a:pPr marL="0" indent="0" algn="l">
              <a:buNone/>
            </a:pPr>
            <a:r>
              <a:rPr lang="en-US" sz="1000" dirty="0">
                <a:solidFill>
                  <a:srgbClr val="222222"/>
                </a:solidFill>
                <a:latin typeface="Calibri" pitchFamily="34" charset="0"/>
                <a:ea typeface="Calibri" pitchFamily="34" charset="-122"/>
                <a:cs typeface="Calibri" pitchFamily="34" charset="-120"/>
              </a:rPr>
              <a:t>Confirmer un RDV</a:t>
            </a:r>
            <a:endParaRPr lang="en-US" sz="1000" dirty="0"/>
          </a:p>
        </p:txBody>
      </p:sp>
      <p:sp>
        <p:nvSpPr>
          <p:cNvPr id="41" name="Shape 39"/>
          <p:cNvSpPr/>
          <p:nvPr/>
        </p:nvSpPr>
        <p:spPr>
          <a:xfrm>
            <a:off x="3474720" y="4014216"/>
            <a:ext cx="1371600" cy="329184"/>
          </a:xfrm>
          <a:prstGeom prst="rect">
            <a:avLst/>
          </a:prstGeom>
          <a:solidFill>
            <a:srgbClr val="FFFFFF"/>
          </a:solidFill>
          <a:ln w="12700">
            <a:solidFill>
              <a:srgbClr val="D0D8E0"/>
            </a:solidFill>
            <a:prstDash val="solid"/>
          </a:ln>
        </p:spPr>
      </p:sp>
      <p:sp>
        <p:nvSpPr>
          <p:cNvPr id="42" name="Text 40"/>
          <p:cNvSpPr/>
          <p:nvPr/>
        </p:nvSpPr>
        <p:spPr>
          <a:xfrm>
            <a:off x="3474720" y="4014216"/>
            <a:ext cx="1371600" cy="329184"/>
          </a:xfrm>
          <a:prstGeom prst="rect">
            <a:avLst/>
          </a:prstGeom>
          <a:noFill/>
          <a:ln/>
        </p:spPr>
        <p:txBody>
          <a:bodyPr wrap="square" lIns="63500" tIns="63500" rIns="63500" bIns="63500" rtlCol="0" anchor="ctr"/>
          <a:lstStyle/>
          <a:p>
            <a:pPr marL="0" indent="0" algn="ctr">
              <a:buNone/>
            </a:pPr>
            <a:r>
              <a:rPr lang="en-US" sz="1000" dirty="0">
                <a:solidFill>
                  <a:srgbClr val="E74C3C"/>
                </a:solidFill>
                <a:latin typeface="Calibri" pitchFamily="34" charset="0"/>
                <a:ea typeface="Calibri" pitchFamily="34" charset="-122"/>
                <a:cs typeface="Calibri" pitchFamily="34" charset="-120"/>
              </a:rPr>
              <a:t>✗</a:t>
            </a:r>
            <a:endParaRPr lang="en-US" sz="1000" dirty="0"/>
          </a:p>
        </p:txBody>
      </p:sp>
      <p:sp>
        <p:nvSpPr>
          <p:cNvPr id="43" name="Shape 41"/>
          <p:cNvSpPr/>
          <p:nvPr/>
        </p:nvSpPr>
        <p:spPr>
          <a:xfrm>
            <a:off x="4846320" y="4014216"/>
            <a:ext cx="1371600" cy="329184"/>
          </a:xfrm>
          <a:prstGeom prst="rect">
            <a:avLst/>
          </a:prstGeom>
          <a:solidFill>
            <a:srgbClr val="FFFFFF"/>
          </a:solidFill>
          <a:ln w="12700">
            <a:solidFill>
              <a:srgbClr val="D0D8E0"/>
            </a:solidFill>
            <a:prstDash val="solid"/>
          </a:ln>
        </p:spPr>
      </p:sp>
      <p:sp>
        <p:nvSpPr>
          <p:cNvPr id="44" name="Text 42"/>
          <p:cNvSpPr/>
          <p:nvPr/>
        </p:nvSpPr>
        <p:spPr>
          <a:xfrm>
            <a:off x="4846320" y="4014216"/>
            <a:ext cx="1371600" cy="329184"/>
          </a:xfrm>
          <a:prstGeom prst="rect">
            <a:avLst/>
          </a:prstGeom>
          <a:noFill/>
          <a:ln/>
        </p:spPr>
        <p:txBody>
          <a:bodyPr wrap="square" lIns="63500" tIns="63500" rIns="63500" bIns="63500" rtlCol="0" anchor="ctr"/>
          <a:lstStyle/>
          <a:p>
            <a:pPr marL="0" indent="0" algn="ctr">
              <a:buNone/>
            </a:pPr>
            <a:r>
              <a:rPr lang="en-US" sz="1000" dirty="0">
                <a:solidFill>
                  <a:srgbClr val="27AE60"/>
                </a:solidFill>
                <a:latin typeface="Calibri" pitchFamily="34" charset="0"/>
                <a:ea typeface="Calibri" pitchFamily="34" charset="-122"/>
                <a:cs typeface="Calibri" pitchFamily="34" charset="-120"/>
              </a:rPr>
              <a:t>✓</a:t>
            </a:r>
            <a:endParaRPr lang="en-US" sz="1000" dirty="0"/>
          </a:p>
        </p:txBody>
      </p:sp>
      <p:sp>
        <p:nvSpPr>
          <p:cNvPr id="45" name="Shape 43"/>
          <p:cNvSpPr/>
          <p:nvPr/>
        </p:nvSpPr>
        <p:spPr>
          <a:xfrm>
            <a:off x="6217920" y="4014216"/>
            <a:ext cx="1371600" cy="329184"/>
          </a:xfrm>
          <a:prstGeom prst="rect">
            <a:avLst/>
          </a:prstGeom>
          <a:solidFill>
            <a:srgbClr val="FFFFFF"/>
          </a:solidFill>
          <a:ln w="12700">
            <a:solidFill>
              <a:srgbClr val="D0D8E0"/>
            </a:solidFill>
            <a:prstDash val="solid"/>
          </a:ln>
        </p:spPr>
      </p:sp>
      <p:sp>
        <p:nvSpPr>
          <p:cNvPr id="46" name="Text 44"/>
          <p:cNvSpPr/>
          <p:nvPr/>
        </p:nvSpPr>
        <p:spPr>
          <a:xfrm>
            <a:off x="6217920" y="4014216"/>
            <a:ext cx="1371600" cy="329184"/>
          </a:xfrm>
          <a:prstGeom prst="rect">
            <a:avLst/>
          </a:prstGeom>
          <a:noFill/>
          <a:ln/>
        </p:spPr>
        <p:txBody>
          <a:bodyPr wrap="square" lIns="63500" tIns="63500" rIns="63500" bIns="63500" rtlCol="0" anchor="ctr"/>
          <a:lstStyle/>
          <a:p>
            <a:pPr marL="0" indent="0" algn="ctr">
              <a:buNone/>
            </a:pPr>
            <a:r>
              <a:rPr lang="en-US" sz="1000" dirty="0">
                <a:solidFill>
                  <a:srgbClr val="27AE60"/>
                </a:solidFill>
                <a:latin typeface="Calibri" pitchFamily="34" charset="0"/>
                <a:ea typeface="Calibri" pitchFamily="34" charset="-122"/>
                <a:cs typeface="Calibri" pitchFamily="34" charset="-120"/>
              </a:rPr>
              <a:t>✓</a:t>
            </a:r>
            <a:endParaRPr lang="en-US" sz="1000" dirty="0"/>
          </a:p>
        </p:txBody>
      </p:sp>
      <p:sp>
        <p:nvSpPr>
          <p:cNvPr id="47" name="Shape 45"/>
          <p:cNvSpPr/>
          <p:nvPr/>
        </p:nvSpPr>
        <p:spPr>
          <a:xfrm>
            <a:off x="274320" y="4361688"/>
            <a:ext cx="3200400" cy="329184"/>
          </a:xfrm>
          <a:prstGeom prst="rect">
            <a:avLst/>
          </a:prstGeom>
          <a:solidFill>
            <a:srgbClr val="EEF7FF"/>
          </a:solidFill>
          <a:ln w="12700">
            <a:solidFill>
              <a:srgbClr val="D0D8E0"/>
            </a:solidFill>
            <a:prstDash val="solid"/>
          </a:ln>
        </p:spPr>
      </p:sp>
      <p:sp>
        <p:nvSpPr>
          <p:cNvPr id="48" name="Text 46"/>
          <p:cNvSpPr/>
          <p:nvPr/>
        </p:nvSpPr>
        <p:spPr>
          <a:xfrm>
            <a:off x="274320" y="4361688"/>
            <a:ext cx="3200400" cy="329184"/>
          </a:xfrm>
          <a:prstGeom prst="rect">
            <a:avLst/>
          </a:prstGeom>
          <a:noFill/>
          <a:ln/>
        </p:spPr>
        <p:txBody>
          <a:bodyPr wrap="square" lIns="63500" tIns="63500" rIns="63500" bIns="63500" rtlCol="0" anchor="ctr"/>
          <a:lstStyle/>
          <a:p>
            <a:pPr marL="0" indent="0" algn="l">
              <a:buNone/>
            </a:pPr>
            <a:r>
              <a:rPr lang="en-US" sz="1000" dirty="0">
                <a:solidFill>
                  <a:srgbClr val="222222"/>
                </a:solidFill>
                <a:latin typeface="Calibri" pitchFamily="34" charset="0"/>
                <a:ea typeface="Calibri" pitchFamily="34" charset="-122"/>
                <a:cs typeface="Calibri" pitchFamily="34" charset="-120"/>
              </a:rPr>
              <a:t>Accès Django Admin</a:t>
            </a:r>
            <a:endParaRPr lang="en-US" sz="1000" dirty="0"/>
          </a:p>
        </p:txBody>
      </p:sp>
      <p:sp>
        <p:nvSpPr>
          <p:cNvPr id="49" name="Shape 47"/>
          <p:cNvSpPr/>
          <p:nvPr/>
        </p:nvSpPr>
        <p:spPr>
          <a:xfrm>
            <a:off x="3474720" y="4361688"/>
            <a:ext cx="1371600" cy="329184"/>
          </a:xfrm>
          <a:prstGeom prst="rect">
            <a:avLst/>
          </a:prstGeom>
          <a:solidFill>
            <a:srgbClr val="EEF7FF"/>
          </a:solidFill>
          <a:ln w="12700">
            <a:solidFill>
              <a:srgbClr val="D0D8E0"/>
            </a:solidFill>
            <a:prstDash val="solid"/>
          </a:ln>
        </p:spPr>
      </p:sp>
      <p:sp>
        <p:nvSpPr>
          <p:cNvPr id="50" name="Text 48"/>
          <p:cNvSpPr/>
          <p:nvPr/>
        </p:nvSpPr>
        <p:spPr>
          <a:xfrm>
            <a:off x="3474720" y="4361688"/>
            <a:ext cx="1371600" cy="329184"/>
          </a:xfrm>
          <a:prstGeom prst="rect">
            <a:avLst/>
          </a:prstGeom>
          <a:noFill/>
          <a:ln/>
        </p:spPr>
        <p:txBody>
          <a:bodyPr wrap="square" lIns="63500" tIns="63500" rIns="63500" bIns="63500" rtlCol="0" anchor="ctr"/>
          <a:lstStyle/>
          <a:p>
            <a:pPr marL="0" indent="0" algn="ctr">
              <a:buNone/>
            </a:pPr>
            <a:r>
              <a:rPr lang="en-US" sz="1000" dirty="0">
                <a:solidFill>
                  <a:srgbClr val="E74C3C"/>
                </a:solidFill>
                <a:latin typeface="Calibri" pitchFamily="34" charset="0"/>
                <a:ea typeface="Calibri" pitchFamily="34" charset="-122"/>
                <a:cs typeface="Calibri" pitchFamily="34" charset="-120"/>
              </a:rPr>
              <a:t>✗</a:t>
            </a:r>
            <a:endParaRPr lang="en-US" sz="1000" dirty="0"/>
          </a:p>
        </p:txBody>
      </p:sp>
      <p:sp>
        <p:nvSpPr>
          <p:cNvPr id="51" name="Shape 49"/>
          <p:cNvSpPr/>
          <p:nvPr/>
        </p:nvSpPr>
        <p:spPr>
          <a:xfrm>
            <a:off x="4846320" y="4361688"/>
            <a:ext cx="1371600" cy="329184"/>
          </a:xfrm>
          <a:prstGeom prst="rect">
            <a:avLst/>
          </a:prstGeom>
          <a:solidFill>
            <a:srgbClr val="EEF7FF"/>
          </a:solidFill>
          <a:ln w="12700">
            <a:solidFill>
              <a:srgbClr val="D0D8E0"/>
            </a:solidFill>
            <a:prstDash val="solid"/>
          </a:ln>
        </p:spPr>
      </p:sp>
      <p:sp>
        <p:nvSpPr>
          <p:cNvPr id="52" name="Text 50"/>
          <p:cNvSpPr/>
          <p:nvPr/>
        </p:nvSpPr>
        <p:spPr>
          <a:xfrm>
            <a:off x="4846320" y="4361688"/>
            <a:ext cx="1371600" cy="329184"/>
          </a:xfrm>
          <a:prstGeom prst="rect">
            <a:avLst/>
          </a:prstGeom>
          <a:noFill/>
          <a:ln/>
        </p:spPr>
        <p:txBody>
          <a:bodyPr wrap="square" lIns="63500" tIns="63500" rIns="63500" bIns="63500" rtlCol="0" anchor="ctr"/>
          <a:lstStyle/>
          <a:p>
            <a:pPr marL="0" indent="0" algn="ctr">
              <a:buNone/>
            </a:pPr>
            <a:r>
              <a:rPr lang="en-US" sz="1000" dirty="0">
                <a:solidFill>
                  <a:srgbClr val="E74C3C"/>
                </a:solidFill>
                <a:latin typeface="Calibri" pitchFamily="34" charset="0"/>
                <a:ea typeface="Calibri" pitchFamily="34" charset="-122"/>
                <a:cs typeface="Calibri" pitchFamily="34" charset="-120"/>
              </a:rPr>
              <a:t>✗</a:t>
            </a:r>
            <a:endParaRPr lang="en-US" sz="1000" dirty="0"/>
          </a:p>
        </p:txBody>
      </p:sp>
      <p:sp>
        <p:nvSpPr>
          <p:cNvPr id="53" name="Shape 51"/>
          <p:cNvSpPr/>
          <p:nvPr/>
        </p:nvSpPr>
        <p:spPr>
          <a:xfrm>
            <a:off x="6217920" y="4361688"/>
            <a:ext cx="1371600" cy="329184"/>
          </a:xfrm>
          <a:prstGeom prst="rect">
            <a:avLst/>
          </a:prstGeom>
          <a:solidFill>
            <a:srgbClr val="EEF7FF"/>
          </a:solidFill>
          <a:ln w="12700">
            <a:solidFill>
              <a:srgbClr val="D0D8E0"/>
            </a:solidFill>
            <a:prstDash val="solid"/>
          </a:ln>
        </p:spPr>
      </p:sp>
      <p:sp>
        <p:nvSpPr>
          <p:cNvPr id="54" name="Text 52"/>
          <p:cNvSpPr/>
          <p:nvPr/>
        </p:nvSpPr>
        <p:spPr>
          <a:xfrm>
            <a:off x="6217920" y="4361688"/>
            <a:ext cx="1371600" cy="329184"/>
          </a:xfrm>
          <a:prstGeom prst="rect">
            <a:avLst/>
          </a:prstGeom>
          <a:noFill/>
          <a:ln/>
        </p:spPr>
        <p:txBody>
          <a:bodyPr wrap="square" lIns="63500" tIns="63500" rIns="63500" bIns="63500" rtlCol="0" anchor="ctr"/>
          <a:lstStyle/>
          <a:p>
            <a:pPr marL="0" indent="0" algn="ctr">
              <a:buNone/>
            </a:pPr>
            <a:r>
              <a:rPr lang="en-US" sz="1000" dirty="0">
                <a:solidFill>
                  <a:srgbClr val="27AE60"/>
                </a:solidFill>
                <a:latin typeface="Calibri" pitchFamily="34" charset="0"/>
                <a:ea typeface="Calibri" pitchFamily="34" charset="-122"/>
                <a:cs typeface="Calibri" pitchFamily="34" charset="-120"/>
              </a:rPr>
              <a:t>✓</a:t>
            </a:r>
            <a:endParaRPr lang="en-US" sz="1000" dirty="0"/>
          </a:p>
        </p:txBody>
      </p:sp>
      <p:sp>
        <p:nvSpPr>
          <p:cNvPr id="55" name="Text 53"/>
          <p:cNvSpPr/>
          <p:nvPr/>
        </p:nvSpPr>
        <p:spPr>
          <a:xfrm>
            <a:off x="274320" y="4773168"/>
            <a:ext cx="8412480" cy="256032"/>
          </a:xfrm>
          <a:prstGeom prst="rect">
            <a:avLst/>
          </a:prstGeom>
          <a:noFill/>
          <a:ln/>
        </p:spPr>
        <p:txBody>
          <a:bodyPr wrap="square" rtlCol="0" anchor="ctr"/>
          <a:lstStyle/>
          <a:p>
            <a:pPr marL="0" indent="0" algn="ctr">
              <a:buNone/>
            </a:pPr>
            <a:r>
              <a:rPr lang="en-US" sz="900" i="1" dirty="0">
                <a:solidFill>
                  <a:srgbClr val="6C757D"/>
                </a:solidFill>
                <a:latin typeface="Calibri" pitchFamily="34" charset="0"/>
                <a:ea typeface="Calibri" pitchFamily="34" charset="-122"/>
                <a:cs typeface="Calibri" pitchFamily="34" charset="-120"/>
              </a:rPr>
              <a:t>Un coach ne peut accéder qu'aux données de ses propres clients — vérification effectuée au niveau de l'API (403 Forbidden sinon).</a:t>
            </a:r>
            <a:endParaRPr lang="en-US" sz="9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94360"/>
          </a:xfrm>
          <a:prstGeom prst="rect">
            <a:avLst/>
          </a:prstGeom>
          <a:noFill/>
          <a:ln/>
        </p:spPr>
        <p:txBody>
          <a:bodyPr wrap="square" rtlCol="0" anchor="ctr"/>
          <a:lstStyle/>
          <a:p>
            <a:pPr marL="0" indent="0" algn="l">
              <a:buNone/>
            </a:pPr>
            <a:r>
              <a:rPr lang="en-US" sz="2600" b="1" dirty="0">
                <a:solidFill>
                  <a:srgbClr val="1E3A5F"/>
                </a:solidFill>
                <a:latin typeface="Calibri" pitchFamily="34" charset="0"/>
                <a:ea typeface="Calibri" pitchFamily="34" charset="-122"/>
                <a:cs typeface="Calibri" pitchFamily="34" charset="-120"/>
              </a:rPr>
              <a:t>Difficultés rencontrées &amp; Solutions</a:t>
            </a:r>
            <a:endParaRPr lang="en-US" sz="2600" dirty="0"/>
          </a:p>
        </p:txBody>
      </p:sp>
      <p:sp>
        <p:nvSpPr>
          <p:cNvPr id="3" name="Text 1"/>
          <p:cNvSpPr/>
          <p:nvPr/>
        </p:nvSpPr>
        <p:spPr>
          <a:xfrm>
            <a:off x="365760" y="749808"/>
            <a:ext cx="8412480" cy="256032"/>
          </a:xfrm>
          <a:prstGeom prst="rect">
            <a:avLst/>
          </a:prstGeom>
          <a:noFill/>
          <a:ln/>
        </p:spPr>
        <p:txBody>
          <a:bodyPr wrap="square" rtlCol="0" anchor="ctr"/>
          <a:lstStyle/>
          <a:p>
            <a:pPr marL="0" indent="0" algn="l">
              <a:buNone/>
            </a:pPr>
            <a:r>
              <a:rPr lang="en-US" sz="1200" i="1" dirty="0">
                <a:solidFill>
                  <a:srgbClr val="6C757D"/>
                </a:solidFill>
                <a:latin typeface="Calibri" pitchFamily="34" charset="0"/>
                <a:ea typeface="Calibri" pitchFamily="34" charset="-122"/>
                <a:cs typeface="Calibri" pitchFamily="34" charset="-120"/>
              </a:rPr>
              <a:t>Slide 18 / 19</a:t>
            </a:r>
            <a:endParaRPr lang="en-US" sz="1200" dirty="0"/>
          </a:p>
        </p:txBody>
      </p:sp>
      <p:sp>
        <p:nvSpPr>
          <p:cNvPr id="4" name="Shape 2"/>
          <p:cNvSpPr/>
          <p:nvPr/>
        </p:nvSpPr>
        <p:spPr>
          <a:xfrm>
            <a:off x="365760" y="960120"/>
            <a:ext cx="8412480" cy="36576"/>
          </a:xfrm>
          <a:prstGeom prst="rect">
            <a:avLst/>
          </a:prstGeom>
          <a:solidFill>
            <a:srgbClr val="2E86AB"/>
          </a:solidFill>
          <a:ln w="12700">
            <a:solidFill>
              <a:srgbClr val="2E86AB"/>
            </a:solidFill>
            <a:prstDash val="solid"/>
          </a:ln>
        </p:spPr>
      </p:sp>
      <p:sp>
        <p:nvSpPr>
          <p:cNvPr id="5" name="Text 3"/>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18 / 19</a:t>
            </a:r>
            <a:endParaRPr lang="en-US" sz="900" dirty="0"/>
          </a:p>
        </p:txBody>
      </p:sp>
      <p:sp>
        <p:nvSpPr>
          <p:cNvPr id="6" name="Shape 4"/>
          <p:cNvSpPr/>
          <p:nvPr/>
        </p:nvSpPr>
        <p:spPr>
          <a:xfrm>
            <a:off x="274320" y="1143000"/>
            <a:ext cx="4114800" cy="1554480"/>
          </a:xfrm>
          <a:prstGeom prst="rect">
            <a:avLst/>
          </a:prstGeom>
          <a:solidFill>
            <a:srgbClr val="FFFFFF"/>
          </a:solidFill>
          <a:ln w="19050">
            <a:solidFill>
              <a:srgbClr val="E74C3C"/>
            </a:solidFill>
            <a:prstDash val="solid"/>
          </a:ln>
          <a:effectLst>
            <a:outerShdw blurRad="101600" dist="38100" dir="8100000" algn="bl" rotWithShape="0">
              <a:srgbClr val="000000">
                <a:alpha val="12000"/>
              </a:srgbClr>
            </a:outerShdw>
          </a:effectLst>
        </p:spPr>
      </p:sp>
      <p:sp>
        <p:nvSpPr>
          <p:cNvPr id="7" name="Shape 5"/>
          <p:cNvSpPr/>
          <p:nvPr/>
        </p:nvSpPr>
        <p:spPr>
          <a:xfrm>
            <a:off x="274320" y="1143000"/>
            <a:ext cx="4114800" cy="320040"/>
          </a:xfrm>
          <a:prstGeom prst="rect">
            <a:avLst/>
          </a:prstGeom>
          <a:solidFill>
            <a:srgbClr val="E74C3C"/>
          </a:solidFill>
          <a:ln w="12700">
            <a:solidFill>
              <a:srgbClr val="E74C3C"/>
            </a:solidFill>
            <a:prstDash val="solid"/>
          </a:ln>
        </p:spPr>
      </p:sp>
      <p:sp>
        <p:nvSpPr>
          <p:cNvPr id="8" name="Text 6"/>
          <p:cNvSpPr/>
          <p:nvPr/>
        </p:nvSpPr>
        <p:spPr>
          <a:xfrm>
            <a:off x="365760" y="1143000"/>
            <a:ext cx="393192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CORS React ↔ Django</a:t>
            </a:r>
            <a:endParaRPr lang="en-US" sz="1100" dirty="0"/>
          </a:p>
        </p:txBody>
      </p:sp>
      <p:sp>
        <p:nvSpPr>
          <p:cNvPr id="9" name="Text 7"/>
          <p:cNvSpPr/>
          <p:nvPr/>
        </p:nvSpPr>
        <p:spPr>
          <a:xfrm>
            <a:off x="365760" y="1527048"/>
            <a:ext cx="1005840" cy="201168"/>
          </a:xfrm>
          <a:prstGeom prst="rect">
            <a:avLst/>
          </a:prstGeom>
          <a:noFill/>
          <a:ln/>
        </p:spPr>
        <p:txBody>
          <a:bodyPr wrap="square" rtlCol="0" anchor="ctr"/>
          <a:lstStyle/>
          <a:p>
            <a:pPr marL="0" indent="0">
              <a:buNone/>
            </a:pPr>
            <a:r>
              <a:rPr lang="en-US" sz="900" b="1" dirty="0">
                <a:solidFill>
                  <a:srgbClr val="E74C3C"/>
                </a:solidFill>
                <a:latin typeface="Calibri" pitchFamily="34" charset="0"/>
                <a:ea typeface="Calibri" pitchFamily="34" charset="-122"/>
                <a:cs typeface="Calibri" pitchFamily="34" charset="-120"/>
              </a:rPr>
              <a:t>Problème :</a:t>
            </a:r>
            <a:endParaRPr lang="en-US" sz="900" dirty="0"/>
          </a:p>
        </p:txBody>
      </p:sp>
      <p:sp>
        <p:nvSpPr>
          <p:cNvPr id="10" name="Text 8"/>
          <p:cNvSpPr/>
          <p:nvPr/>
        </p:nvSpPr>
        <p:spPr>
          <a:xfrm>
            <a:off x="1371600" y="1527048"/>
            <a:ext cx="2926080" cy="201168"/>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Requêtes bloquées par le navigateur</a:t>
            </a:r>
            <a:endParaRPr lang="en-US" sz="900" dirty="0"/>
          </a:p>
        </p:txBody>
      </p:sp>
      <p:sp>
        <p:nvSpPr>
          <p:cNvPr id="11" name="Text 9"/>
          <p:cNvSpPr/>
          <p:nvPr/>
        </p:nvSpPr>
        <p:spPr>
          <a:xfrm>
            <a:off x="365760" y="1801368"/>
            <a:ext cx="914400" cy="201168"/>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Solution :</a:t>
            </a:r>
            <a:endParaRPr lang="en-US" sz="900" dirty="0"/>
          </a:p>
        </p:txBody>
      </p:sp>
      <p:sp>
        <p:nvSpPr>
          <p:cNvPr id="12" name="Text 10"/>
          <p:cNvSpPr/>
          <p:nvPr/>
        </p:nvSpPr>
        <p:spPr>
          <a:xfrm>
            <a:off x="1280160" y="1801368"/>
            <a:ext cx="3017520" cy="457200"/>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django-cors-headers + configuration des origines</a:t>
            </a:r>
            <a:endParaRPr lang="en-US" sz="900" dirty="0"/>
          </a:p>
        </p:txBody>
      </p:sp>
      <p:sp>
        <p:nvSpPr>
          <p:cNvPr id="13" name="Shape 11"/>
          <p:cNvSpPr/>
          <p:nvPr/>
        </p:nvSpPr>
        <p:spPr>
          <a:xfrm>
            <a:off x="274320" y="2834640"/>
            <a:ext cx="4114800" cy="1554480"/>
          </a:xfrm>
          <a:prstGeom prst="rect">
            <a:avLst/>
          </a:prstGeom>
          <a:solidFill>
            <a:srgbClr val="FFFFFF"/>
          </a:solidFill>
          <a:ln w="19050">
            <a:solidFill>
              <a:srgbClr val="F4A261"/>
            </a:solidFill>
            <a:prstDash val="solid"/>
          </a:ln>
          <a:effectLst>
            <a:outerShdw blurRad="101600" dist="38100" dir="8100000" algn="bl" rotWithShape="0">
              <a:srgbClr val="000000">
                <a:alpha val="12000"/>
              </a:srgbClr>
            </a:outerShdw>
          </a:effectLst>
        </p:spPr>
      </p:sp>
      <p:sp>
        <p:nvSpPr>
          <p:cNvPr id="14" name="Shape 12"/>
          <p:cNvSpPr/>
          <p:nvPr/>
        </p:nvSpPr>
        <p:spPr>
          <a:xfrm>
            <a:off x="274320" y="2834640"/>
            <a:ext cx="4114800" cy="320040"/>
          </a:xfrm>
          <a:prstGeom prst="rect">
            <a:avLst/>
          </a:prstGeom>
          <a:solidFill>
            <a:srgbClr val="F4A261"/>
          </a:solidFill>
          <a:ln w="12700">
            <a:solidFill>
              <a:srgbClr val="F4A261"/>
            </a:solidFill>
            <a:prstDash val="solid"/>
          </a:ln>
        </p:spPr>
      </p:sp>
      <p:sp>
        <p:nvSpPr>
          <p:cNvPr id="15" name="Text 13"/>
          <p:cNvSpPr/>
          <p:nvPr/>
        </p:nvSpPr>
        <p:spPr>
          <a:xfrm>
            <a:off x="365760" y="2834640"/>
            <a:ext cx="393192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JWT en React</a:t>
            </a:r>
            <a:endParaRPr lang="en-US" sz="1100" dirty="0"/>
          </a:p>
        </p:txBody>
      </p:sp>
      <p:sp>
        <p:nvSpPr>
          <p:cNvPr id="16" name="Text 14"/>
          <p:cNvSpPr/>
          <p:nvPr/>
        </p:nvSpPr>
        <p:spPr>
          <a:xfrm>
            <a:off x="365760" y="3218688"/>
            <a:ext cx="1005840" cy="201168"/>
          </a:xfrm>
          <a:prstGeom prst="rect">
            <a:avLst/>
          </a:prstGeom>
          <a:noFill/>
          <a:ln/>
        </p:spPr>
        <p:txBody>
          <a:bodyPr wrap="square" rtlCol="0" anchor="ctr"/>
          <a:lstStyle/>
          <a:p>
            <a:pPr marL="0" indent="0">
              <a:buNone/>
            </a:pPr>
            <a:r>
              <a:rPr lang="en-US" sz="900" b="1" dirty="0">
                <a:solidFill>
                  <a:srgbClr val="E74C3C"/>
                </a:solidFill>
                <a:latin typeface="Calibri" pitchFamily="34" charset="0"/>
                <a:ea typeface="Calibri" pitchFamily="34" charset="-122"/>
                <a:cs typeface="Calibri" pitchFamily="34" charset="-120"/>
              </a:rPr>
              <a:t>Problème :</a:t>
            </a:r>
            <a:endParaRPr lang="en-US" sz="900" dirty="0"/>
          </a:p>
        </p:txBody>
      </p:sp>
      <p:sp>
        <p:nvSpPr>
          <p:cNvPr id="17" name="Text 15"/>
          <p:cNvSpPr/>
          <p:nvPr/>
        </p:nvSpPr>
        <p:spPr>
          <a:xfrm>
            <a:off x="1371600" y="3218688"/>
            <a:ext cx="2926080" cy="201168"/>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Renouvellement automatique du token</a:t>
            </a:r>
            <a:endParaRPr lang="en-US" sz="900" dirty="0"/>
          </a:p>
        </p:txBody>
      </p:sp>
      <p:sp>
        <p:nvSpPr>
          <p:cNvPr id="18" name="Text 16"/>
          <p:cNvSpPr/>
          <p:nvPr/>
        </p:nvSpPr>
        <p:spPr>
          <a:xfrm>
            <a:off x="365760" y="3493008"/>
            <a:ext cx="914400" cy="201168"/>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Solution :</a:t>
            </a:r>
            <a:endParaRPr lang="en-US" sz="900" dirty="0"/>
          </a:p>
        </p:txBody>
      </p:sp>
      <p:sp>
        <p:nvSpPr>
          <p:cNvPr id="19" name="Text 17"/>
          <p:cNvSpPr/>
          <p:nvPr/>
        </p:nvSpPr>
        <p:spPr>
          <a:xfrm>
            <a:off x="1280160" y="3493008"/>
            <a:ext cx="3017520" cy="457200"/>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Intercepteur Axios qui gère le refresh</a:t>
            </a:r>
            <a:endParaRPr lang="en-US" sz="900" dirty="0"/>
          </a:p>
        </p:txBody>
      </p:sp>
      <p:sp>
        <p:nvSpPr>
          <p:cNvPr id="20" name="Shape 18"/>
          <p:cNvSpPr/>
          <p:nvPr/>
        </p:nvSpPr>
        <p:spPr>
          <a:xfrm>
            <a:off x="4663440" y="1143000"/>
            <a:ext cx="4114800" cy="1554480"/>
          </a:xfrm>
          <a:prstGeom prst="rect">
            <a:avLst/>
          </a:prstGeom>
          <a:solidFill>
            <a:srgbClr val="FFFFFF"/>
          </a:solidFill>
          <a:ln w="19050">
            <a:solidFill>
              <a:srgbClr val="2E86AB"/>
            </a:solidFill>
            <a:prstDash val="solid"/>
          </a:ln>
          <a:effectLst>
            <a:outerShdw blurRad="101600" dist="38100" dir="8100000" algn="bl" rotWithShape="0">
              <a:srgbClr val="000000">
                <a:alpha val="12000"/>
              </a:srgbClr>
            </a:outerShdw>
          </a:effectLst>
        </p:spPr>
      </p:sp>
      <p:sp>
        <p:nvSpPr>
          <p:cNvPr id="21" name="Shape 19"/>
          <p:cNvSpPr/>
          <p:nvPr/>
        </p:nvSpPr>
        <p:spPr>
          <a:xfrm>
            <a:off x="4663440" y="1143000"/>
            <a:ext cx="4114800" cy="320040"/>
          </a:xfrm>
          <a:prstGeom prst="rect">
            <a:avLst/>
          </a:prstGeom>
          <a:solidFill>
            <a:srgbClr val="2E86AB"/>
          </a:solidFill>
          <a:ln w="12700">
            <a:solidFill>
              <a:srgbClr val="2E86AB"/>
            </a:solidFill>
            <a:prstDash val="solid"/>
          </a:ln>
        </p:spPr>
      </p:sp>
      <p:sp>
        <p:nvSpPr>
          <p:cNvPr id="22" name="Text 20"/>
          <p:cNvSpPr/>
          <p:nvPr/>
        </p:nvSpPr>
        <p:spPr>
          <a:xfrm>
            <a:off x="4754880" y="1143000"/>
            <a:ext cx="393192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Serializers DRF</a:t>
            </a:r>
            <a:endParaRPr lang="en-US" sz="1100" dirty="0"/>
          </a:p>
        </p:txBody>
      </p:sp>
      <p:sp>
        <p:nvSpPr>
          <p:cNvPr id="23" name="Text 21"/>
          <p:cNvSpPr/>
          <p:nvPr/>
        </p:nvSpPr>
        <p:spPr>
          <a:xfrm>
            <a:off x="4754880" y="1527048"/>
            <a:ext cx="1005840" cy="201168"/>
          </a:xfrm>
          <a:prstGeom prst="rect">
            <a:avLst/>
          </a:prstGeom>
          <a:noFill/>
          <a:ln/>
        </p:spPr>
        <p:txBody>
          <a:bodyPr wrap="square" rtlCol="0" anchor="ctr"/>
          <a:lstStyle/>
          <a:p>
            <a:pPr marL="0" indent="0">
              <a:buNone/>
            </a:pPr>
            <a:r>
              <a:rPr lang="en-US" sz="900" b="1" dirty="0">
                <a:solidFill>
                  <a:srgbClr val="E74C3C"/>
                </a:solidFill>
                <a:latin typeface="Calibri" pitchFamily="34" charset="0"/>
                <a:ea typeface="Calibri" pitchFamily="34" charset="-122"/>
                <a:cs typeface="Calibri" pitchFamily="34" charset="-120"/>
              </a:rPr>
              <a:t>Problème :</a:t>
            </a:r>
            <a:endParaRPr lang="en-US" sz="900" dirty="0"/>
          </a:p>
        </p:txBody>
      </p:sp>
      <p:sp>
        <p:nvSpPr>
          <p:cNvPr id="24" name="Text 22"/>
          <p:cNvSpPr/>
          <p:nvPr/>
        </p:nvSpPr>
        <p:spPr>
          <a:xfrm>
            <a:off x="5760720" y="1527048"/>
            <a:ext cx="2926080" cy="201168"/>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Relations many-to-many complexes</a:t>
            </a:r>
            <a:endParaRPr lang="en-US" sz="900" dirty="0"/>
          </a:p>
        </p:txBody>
      </p:sp>
      <p:sp>
        <p:nvSpPr>
          <p:cNvPr id="25" name="Text 23"/>
          <p:cNvSpPr/>
          <p:nvPr/>
        </p:nvSpPr>
        <p:spPr>
          <a:xfrm>
            <a:off x="4754880" y="1801368"/>
            <a:ext cx="914400" cy="201168"/>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Solution :</a:t>
            </a:r>
            <a:endParaRPr lang="en-US" sz="900" dirty="0"/>
          </a:p>
        </p:txBody>
      </p:sp>
      <p:sp>
        <p:nvSpPr>
          <p:cNvPr id="26" name="Text 24"/>
          <p:cNvSpPr/>
          <p:nvPr/>
        </p:nvSpPr>
        <p:spPr>
          <a:xfrm>
            <a:off x="5669280" y="1801368"/>
            <a:ext cx="3017520" cy="457200"/>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SerializerMethodField + nested serializers</a:t>
            </a:r>
            <a:endParaRPr lang="en-US" sz="900" dirty="0"/>
          </a:p>
        </p:txBody>
      </p:sp>
      <p:sp>
        <p:nvSpPr>
          <p:cNvPr id="27" name="Shape 25"/>
          <p:cNvSpPr/>
          <p:nvPr/>
        </p:nvSpPr>
        <p:spPr>
          <a:xfrm>
            <a:off x="4663440" y="2834640"/>
            <a:ext cx="4114800" cy="1554480"/>
          </a:xfrm>
          <a:prstGeom prst="rect">
            <a:avLst/>
          </a:prstGeom>
          <a:solidFill>
            <a:srgbClr val="FFFFFF"/>
          </a:solidFill>
          <a:ln w="19050">
            <a:solidFill>
              <a:srgbClr val="27AE60"/>
            </a:solidFill>
            <a:prstDash val="solid"/>
          </a:ln>
          <a:effectLst>
            <a:outerShdw blurRad="101600" dist="38100" dir="8100000" algn="bl" rotWithShape="0">
              <a:srgbClr val="000000">
                <a:alpha val="12000"/>
              </a:srgbClr>
            </a:outerShdw>
          </a:effectLst>
        </p:spPr>
      </p:sp>
      <p:sp>
        <p:nvSpPr>
          <p:cNvPr id="28" name="Shape 26"/>
          <p:cNvSpPr/>
          <p:nvPr/>
        </p:nvSpPr>
        <p:spPr>
          <a:xfrm>
            <a:off x="4663440" y="2834640"/>
            <a:ext cx="4114800" cy="320040"/>
          </a:xfrm>
          <a:prstGeom prst="rect">
            <a:avLst/>
          </a:prstGeom>
          <a:solidFill>
            <a:srgbClr val="27AE60"/>
          </a:solidFill>
          <a:ln w="12700">
            <a:solidFill>
              <a:srgbClr val="27AE60"/>
            </a:solidFill>
            <a:prstDash val="solid"/>
          </a:ln>
        </p:spPr>
      </p:sp>
      <p:sp>
        <p:nvSpPr>
          <p:cNvPr id="29" name="Text 27"/>
          <p:cNvSpPr/>
          <p:nvPr/>
        </p:nvSpPr>
        <p:spPr>
          <a:xfrm>
            <a:off x="4754880" y="2834640"/>
            <a:ext cx="393192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Permissions fines</a:t>
            </a:r>
            <a:endParaRPr lang="en-US" sz="1100" dirty="0"/>
          </a:p>
        </p:txBody>
      </p:sp>
      <p:sp>
        <p:nvSpPr>
          <p:cNvPr id="30" name="Text 28"/>
          <p:cNvSpPr/>
          <p:nvPr/>
        </p:nvSpPr>
        <p:spPr>
          <a:xfrm>
            <a:off x="4754880" y="3218688"/>
            <a:ext cx="1005840" cy="201168"/>
          </a:xfrm>
          <a:prstGeom prst="rect">
            <a:avLst/>
          </a:prstGeom>
          <a:noFill/>
          <a:ln/>
        </p:spPr>
        <p:txBody>
          <a:bodyPr wrap="square" rtlCol="0" anchor="ctr"/>
          <a:lstStyle/>
          <a:p>
            <a:pPr marL="0" indent="0">
              <a:buNone/>
            </a:pPr>
            <a:r>
              <a:rPr lang="en-US" sz="900" b="1" dirty="0">
                <a:solidFill>
                  <a:srgbClr val="E74C3C"/>
                </a:solidFill>
                <a:latin typeface="Calibri" pitchFamily="34" charset="0"/>
                <a:ea typeface="Calibri" pitchFamily="34" charset="-122"/>
                <a:cs typeface="Calibri" pitchFamily="34" charset="-120"/>
              </a:rPr>
              <a:t>Problème :</a:t>
            </a:r>
            <a:endParaRPr lang="en-US" sz="900" dirty="0"/>
          </a:p>
        </p:txBody>
      </p:sp>
      <p:sp>
        <p:nvSpPr>
          <p:cNvPr id="31" name="Text 29"/>
          <p:cNvSpPr/>
          <p:nvPr/>
        </p:nvSpPr>
        <p:spPr>
          <a:xfrm>
            <a:off x="5760720" y="3218688"/>
            <a:ext cx="2926080" cy="201168"/>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Vérifier le rôle sur chaque endpoint</a:t>
            </a:r>
            <a:endParaRPr lang="en-US" sz="900" dirty="0"/>
          </a:p>
        </p:txBody>
      </p:sp>
      <p:sp>
        <p:nvSpPr>
          <p:cNvPr id="32" name="Text 30"/>
          <p:cNvSpPr/>
          <p:nvPr/>
        </p:nvSpPr>
        <p:spPr>
          <a:xfrm>
            <a:off x="4754880" y="3493008"/>
            <a:ext cx="914400" cy="201168"/>
          </a:xfrm>
          <a:prstGeom prst="rect">
            <a:avLst/>
          </a:prstGeom>
          <a:noFill/>
          <a:ln/>
        </p:spPr>
        <p:txBody>
          <a:bodyPr wrap="square" rtlCol="0" anchor="ctr"/>
          <a:lstStyle/>
          <a:p>
            <a:pPr marL="0" indent="0">
              <a:buNone/>
            </a:pPr>
            <a:r>
              <a:rPr lang="en-US" sz="900" b="1" dirty="0">
                <a:solidFill>
                  <a:srgbClr val="27AE60"/>
                </a:solidFill>
                <a:latin typeface="Calibri" pitchFamily="34" charset="0"/>
                <a:ea typeface="Calibri" pitchFamily="34" charset="-122"/>
                <a:cs typeface="Calibri" pitchFamily="34" charset="-120"/>
              </a:rPr>
              <a:t>Solution :</a:t>
            </a:r>
            <a:endParaRPr lang="en-US" sz="900" dirty="0"/>
          </a:p>
        </p:txBody>
      </p:sp>
      <p:sp>
        <p:nvSpPr>
          <p:cNvPr id="33" name="Text 31"/>
          <p:cNvSpPr/>
          <p:nvPr/>
        </p:nvSpPr>
        <p:spPr>
          <a:xfrm>
            <a:off x="5669280" y="3493008"/>
            <a:ext cx="3017520" cy="457200"/>
          </a:xfrm>
          <a:prstGeom prst="rect">
            <a:avLst/>
          </a:prstGeom>
          <a:noFill/>
          <a:ln/>
        </p:spPr>
        <p:txBody>
          <a:bodyPr wrap="square" rtlCol="0" anchor="ctr"/>
          <a:lstStyle/>
          <a:p>
            <a:pPr marL="0" indent="0">
              <a:buNone/>
            </a:pPr>
            <a:r>
              <a:rPr lang="en-US" sz="900" dirty="0">
                <a:solidFill>
                  <a:srgbClr val="333333"/>
                </a:solidFill>
                <a:latin typeface="Calibri" pitchFamily="34" charset="0"/>
                <a:ea typeface="Calibri" pitchFamily="34" charset="-122"/>
                <a:cs typeface="Calibri" pitchFamily="34" charset="-120"/>
              </a:rPr>
              <a:t>Classes de permissions personnalisées DRF</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4A261"/>
          </a:solidFill>
          <a:ln w="12700">
            <a:solidFill>
              <a:srgbClr val="F4A261"/>
            </a:solidFill>
            <a:prstDash val="solid"/>
          </a:ln>
        </p:spPr>
      </p:sp>
      <p:sp>
        <p:nvSpPr>
          <p:cNvPr id="3" name="Text 1"/>
          <p:cNvSpPr/>
          <p:nvPr/>
        </p:nvSpPr>
        <p:spPr>
          <a:xfrm>
            <a:off x="365760" y="228600"/>
            <a:ext cx="8412480" cy="411480"/>
          </a:xfrm>
          <a:prstGeom prst="rect">
            <a:avLst/>
          </a:prstGeom>
          <a:noFill/>
          <a:ln/>
        </p:spPr>
        <p:txBody>
          <a:bodyPr wrap="square" rtlCol="0" anchor="ctr"/>
          <a:lstStyle/>
          <a:p>
            <a:pPr marL="0" indent="0" algn="l">
              <a:buNone/>
            </a:pPr>
            <a:r>
              <a:rPr lang="en-US" sz="2800" b="1" kern="0" spc="400" dirty="0">
                <a:solidFill>
                  <a:srgbClr val="FFFFFF"/>
                </a:solidFill>
                <a:latin typeface="Calibri" pitchFamily="34" charset="0"/>
                <a:ea typeface="Calibri" pitchFamily="34" charset="-122"/>
                <a:cs typeface="Calibri" pitchFamily="34" charset="-120"/>
              </a:rPr>
              <a:t>CONCLUSION</a:t>
            </a:r>
            <a:endParaRPr lang="en-US" sz="2800" dirty="0"/>
          </a:p>
        </p:txBody>
      </p:sp>
      <p:sp>
        <p:nvSpPr>
          <p:cNvPr id="4" name="Shape 2"/>
          <p:cNvSpPr/>
          <p:nvPr/>
        </p:nvSpPr>
        <p:spPr>
          <a:xfrm>
            <a:off x="365760" y="822960"/>
            <a:ext cx="8412480" cy="713232"/>
          </a:xfrm>
          <a:prstGeom prst="rect">
            <a:avLst/>
          </a:prstGeom>
          <a:solidFill>
            <a:srgbClr val="FFFFFF">
              <a:alpha val="12000"/>
            </a:srgbClr>
          </a:solidFill>
          <a:ln w="12700">
            <a:solidFill>
              <a:srgbClr val="FFFFFF">
                <a:alpha val="30000"/>
              </a:srgbClr>
            </a:solidFill>
            <a:prstDash val="solid"/>
          </a:ln>
        </p:spPr>
      </p:sp>
      <p:sp>
        <p:nvSpPr>
          <p:cNvPr id="5" name="Shape 3"/>
          <p:cNvSpPr/>
          <p:nvPr/>
        </p:nvSpPr>
        <p:spPr>
          <a:xfrm>
            <a:off x="365760" y="822960"/>
            <a:ext cx="45720" cy="713232"/>
          </a:xfrm>
          <a:prstGeom prst="rect">
            <a:avLst/>
          </a:prstGeom>
          <a:solidFill>
            <a:srgbClr val="F4A261"/>
          </a:solidFill>
          <a:ln w="12700">
            <a:solidFill>
              <a:srgbClr val="F4A261"/>
            </a:solidFill>
            <a:prstDash val="solid"/>
          </a:ln>
        </p:spPr>
      </p:sp>
      <p:sp>
        <p:nvSpPr>
          <p:cNvPr id="6" name="Text 4"/>
          <p:cNvSpPr/>
          <p:nvPr/>
        </p:nvSpPr>
        <p:spPr>
          <a:xfrm>
            <a:off x="502920" y="877824"/>
            <a:ext cx="8229600" cy="256032"/>
          </a:xfrm>
          <a:prstGeom prst="rect">
            <a:avLst/>
          </a:prstGeom>
          <a:noFill/>
          <a:ln/>
        </p:spPr>
        <p:txBody>
          <a:bodyPr wrap="square" rtlCol="0" anchor="ctr"/>
          <a:lstStyle/>
          <a:p>
            <a:pPr marL="0" indent="0">
              <a:buNone/>
            </a:pPr>
            <a:r>
              <a:rPr lang="en-US" sz="1200" b="1" dirty="0">
                <a:solidFill>
                  <a:srgbClr val="F4A261"/>
                </a:solidFill>
                <a:latin typeface="Calibri" pitchFamily="34" charset="0"/>
                <a:ea typeface="Calibri" pitchFamily="34" charset="-122"/>
                <a:cs typeface="Calibri" pitchFamily="34" charset="-120"/>
              </a:rPr>
              <a:t>📐  Conception complète</a:t>
            </a:r>
            <a:endParaRPr lang="en-US" sz="1200" dirty="0"/>
          </a:p>
        </p:txBody>
      </p:sp>
      <p:sp>
        <p:nvSpPr>
          <p:cNvPr id="7" name="Text 5"/>
          <p:cNvSpPr/>
          <p:nvPr/>
        </p:nvSpPr>
        <p:spPr>
          <a:xfrm>
            <a:off x="502920" y="1152144"/>
            <a:ext cx="8229600" cy="320040"/>
          </a:xfrm>
          <a:prstGeom prst="rect">
            <a:avLst/>
          </a:prstGeom>
          <a:noFill/>
          <a:ln/>
        </p:spPr>
        <p:txBody>
          <a:bodyPr wrap="square" rtlCol="0" anchor="ctr"/>
          <a:lstStyle/>
          <a:p>
            <a:pPr marL="0" indent="0">
              <a:buNone/>
            </a:pPr>
            <a:r>
              <a:rPr lang="en-US" sz="1000" dirty="0">
                <a:solidFill>
                  <a:srgbClr val="DDDDDD"/>
                </a:solidFill>
                <a:latin typeface="Calibri" pitchFamily="34" charset="0"/>
                <a:ea typeface="Calibri" pitchFamily="34" charset="-122"/>
                <a:cs typeface="Calibri" pitchFamily="34" charset="-120"/>
              </a:rPr>
              <a:t>Architecture REST moderne, 8 modèles UML, séquences et diagrammes de classes.</a:t>
            </a:r>
            <a:endParaRPr lang="en-US" sz="1000" dirty="0"/>
          </a:p>
        </p:txBody>
      </p:sp>
      <p:sp>
        <p:nvSpPr>
          <p:cNvPr id="8" name="Shape 6"/>
          <p:cNvSpPr/>
          <p:nvPr/>
        </p:nvSpPr>
        <p:spPr>
          <a:xfrm>
            <a:off x="365760" y="1627632"/>
            <a:ext cx="8412480" cy="713232"/>
          </a:xfrm>
          <a:prstGeom prst="rect">
            <a:avLst/>
          </a:prstGeom>
          <a:solidFill>
            <a:srgbClr val="FFFFFF">
              <a:alpha val="12000"/>
            </a:srgbClr>
          </a:solidFill>
          <a:ln w="12700">
            <a:solidFill>
              <a:srgbClr val="FFFFFF">
                <a:alpha val="30000"/>
              </a:srgbClr>
            </a:solidFill>
            <a:prstDash val="solid"/>
          </a:ln>
        </p:spPr>
      </p:sp>
      <p:sp>
        <p:nvSpPr>
          <p:cNvPr id="9" name="Shape 7"/>
          <p:cNvSpPr/>
          <p:nvPr/>
        </p:nvSpPr>
        <p:spPr>
          <a:xfrm>
            <a:off x="365760" y="1627632"/>
            <a:ext cx="45720" cy="713232"/>
          </a:xfrm>
          <a:prstGeom prst="rect">
            <a:avLst/>
          </a:prstGeom>
          <a:solidFill>
            <a:srgbClr val="F4A261"/>
          </a:solidFill>
          <a:ln w="12700">
            <a:solidFill>
              <a:srgbClr val="F4A261"/>
            </a:solidFill>
            <a:prstDash val="solid"/>
          </a:ln>
        </p:spPr>
      </p:sp>
      <p:sp>
        <p:nvSpPr>
          <p:cNvPr id="10" name="Text 8"/>
          <p:cNvSpPr/>
          <p:nvPr/>
        </p:nvSpPr>
        <p:spPr>
          <a:xfrm>
            <a:off x="502920" y="1682496"/>
            <a:ext cx="8229600" cy="256032"/>
          </a:xfrm>
          <a:prstGeom prst="rect">
            <a:avLst/>
          </a:prstGeom>
          <a:noFill/>
          <a:ln/>
        </p:spPr>
        <p:txBody>
          <a:bodyPr wrap="square" rtlCol="0" anchor="ctr"/>
          <a:lstStyle/>
          <a:p>
            <a:pPr marL="0" indent="0">
              <a:buNone/>
            </a:pPr>
            <a:r>
              <a:rPr lang="en-US" sz="1200" b="1" dirty="0">
                <a:solidFill>
                  <a:srgbClr val="F4A261"/>
                </a:solidFill>
                <a:latin typeface="Calibri" pitchFamily="34" charset="0"/>
                <a:ea typeface="Calibri" pitchFamily="34" charset="-122"/>
                <a:cs typeface="Calibri" pitchFamily="34" charset="-120"/>
              </a:rPr>
              <a:t>💻  Full-stack réalisé</a:t>
            </a:r>
            <a:endParaRPr lang="en-US" sz="1200" dirty="0"/>
          </a:p>
        </p:txBody>
      </p:sp>
      <p:sp>
        <p:nvSpPr>
          <p:cNvPr id="11" name="Text 9"/>
          <p:cNvSpPr/>
          <p:nvPr/>
        </p:nvSpPr>
        <p:spPr>
          <a:xfrm>
            <a:off x="502920" y="1956816"/>
            <a:ext cx="8229600" cy="320040"/>
          </a:xfrm>
          <a:prstGeom prst="rect">
            <a:avLst/>
          </a:prstGeom>
          <a:noFill/>
          <a:ln/>
        </p:spPr>
        <p:txBody>
          <a:bodyPr wrap="square" rtlCol="0" anchor="ctr"/>
          <a:lstStyle/>
          <a:p>
            <a:pPr marL="0" indent="0">
              <a:buNone/>
            </a:pPr>
            <a:r>
              <a:rPr lang="en-US" sz="1000" dirty="0">
                <a:solidFill>
                  <a:srgbClr val="DDDDDD"/>
                </a:solidFill>
                <a:latin typeface="Calibri" pitchFamily="34" charset="0"/>
                <a:ea typeface="Calibri" pitchFamily="34" charset="-122"/>
                <a:cs typeface="Calibri" pitchFamily="34" charset="-120"/>
              </a:rPr>
              <a:t>React + Django DRF + JWT + Swagger + Django Admin — toutes les couches développées.</a:t>
            </a:r>
            <a:endParaRPr lang="en-US" sz="1000" dirty="0"/>
          </a:p>
        </p:txBody>
      </p:sp>
      <p:sp>
        <p:nvSpPr>
          <p:cNvPr id="12" name="Shape 10"/>
          <p:cNvSpPr/>
          <p:nvPr/>
        </p:nvSpPr>
        <p:spPr>
          <a:xfrm>
            <a:off x="365760" y="2432304"/>
            <a:ext cx="8412480" cy="713232"/>
          </a:xfrm>
          <a:prstGeom prst="rect">
            <a:avLst/>
          </a:prstGeom>
          <a:solidFill>
            <a:srgbClr val="FFFFFF">
              <a:alpha val="12000"/>
            </a:srgbClr>
          </a:solidFill>
          <a:ln w="12700">
            <a:solidFill>
              <a:srgbClr val="FFFFFF">
                <a:alpha val="30000"/>
              </a:srgbClr>
            </a:solidFill>
            <a:prstDash val="solid"/>
          </a:ln>
        </p:spPr>
      </p:sp>
      <p:sp>
        <p:nvSpPr>
          <p:cNvPr id="13" name="Shape 11"/>
          <p:cNvSpPr/>
          <p:nvPr/>
        </p:nvSpPr>
        <p:spPr>
          <a:xfrm>
            <a:off x="365760" y="2432304"/>
            <a:ext cx="45720" cy="713232"/>
          </a:xfrm>
          <a:prstGeom prst="rect">
            <a:avLst/>
          </a:prstGeom>
          <a:solidFill>
            <a:srgbClr val="F4A261"/>
          </a:solidFill>
          <a:ln w="12700">
            <a:solidFill>
              <a:srgbClr val="F4A261"/>
            </a:solidFill>
            <a:prstDash val="solid"/>
          </a:ln>
        </p:spPr>
      </p:sp>
      <p:sp>
        <p:nvSpPr>
          <p:cNvPr id="14" name="Text 12"/>
          <p:cNvSpPr/>
          <p:nvPr/>
        </p:nvSpPr>
        <p:spPr>
          <a:xfrm>
            <a:off x="502920" y="2487168"/>
            <a:ext cx="8229600" cy="256032"/>
          </a:xfrm>
          <a:prstGeom prst="rect">
            <a:avLst/>
          </a:prstGeom>
          <a:noFill/>
          <a:ln/>
        </p:spPr>
        <p:txBody>
          <a:bodyPr wrap="square" rtlCol="0" anchor="ctr"/>
          <a:lstStyle/>
          <a:p>
            <a:pPr marL="0" indent="0">
              <a:buNone/>
            </a:pPr>
            <a:r>
              <a:rPr lang="en-US" sz="1200" b="1" dirty="0">
                <a:solidFill>
                  <a:srgbClr val="F4A261"/>
                </a:solidFill>
                <a:latin typeface="Calibri" pitchFamily="34" charset="0"/>
                <a:ea typeface="Calibri" pitchFamily="34" charset="-122"/>
                <a:cs typeface="Calibri" pitchFamily="34" charset="-120"/>
              </a:rPr>
              <a:t>🔐  Sécurité maîtrisée</a:t>
            </a:r>
            <a:endParaRPr lang="en-US" sz="1200" dirty="0"/>
          </a:p>
        </p:txBody>
      </p:sp>
      <p:sp>
        <p:nvSpPr>
          <p:cNvPr id="15" name="Text 13"/>
          <p:cNvSpPr/>
          <p:nvPr/>
        </p:nvSpPr>
        <p:spPr>
          <a:xfrm>
            <a:off x="502920" y="2761488"/>
            <a:ext cx="8229600" cy="320040"/>
          </a:xfrm>
          <a:prstGeom prst="rect">
            <a:avLst/>
          </a:prstGeom>
          <a:noFill/>
          <a:ln/>
        </p:spPr>
        <p:txBody>
          <a:bodyPr wrap="square" rtlCol="0" anchor="ctr"/>
          <a:lstStyle/>
          <a:p>
            <a:pPr marL="0" indent="0">
              <a:buNone/>
            </a:pPr>
            <a:r>
              <a:rPr lang="en-US" sz="1000" dirty="0">
                <a:solidFill>
                  <a:srgbClr val="DDDDDD"/>
                </a:solidFill>
                <a:latin typeface="Calibri" pitchFamily="34" charset="0"/>
                <a:ea typeface="Calibri" pitchFamily="34" charset="-122"/>
                <a:cs typeface="Calibri" pitchFamily="34" charset="-120"/>
              </a:rPr>
              <a:t>Authentification JWT, permissions par rôle, accès aux données protégés.</a:t>
            </a:r>
            <a:endParaRPr lang="en-US" sz="1000" dirty="0"/>
          </a:p>
        </p:txBody>
      </p:sp>
      <p:sp>
        <p:nvSpPr>
          <p:cNvPr id="16" name="Shape 14"/>
          <p:cNvSpPr/>
          <p:nvPr/>
        </p:nvSpPr>
        <p:spPr>
          <a:xfrm>
            <a:off x="365760" y="3236976"/>
            <a:ext cx="8412480" cy="713232"/>
          </a:xfrm>
          <a:prstGeom prst="rect">
            <a:avLst/>
          </a:prstGeom>
          <a:solidFill>
            <a:srgbClr val="FFFFFF">
              <a:alpha val="12000"/>
            </a:srgbClr>
          </a:solidFill>
          <a:ln w="12700">
            <a:solidFill>
              <a:srgbClr val="FFFFFF">
                <a:alpha val="30000"/>
              </a:srgbClr>
            </a:solidFill>
            <a:prstDash val="solid"/>
          </a:ln>
        </p:spPr>
      </p:sp>
      <p:sp>
        <p:nvSpPr>
          <p:cNvPr id="17" name="Shape 15"/>
          <p:cNvSpPr/>
          <p:nvPr/>
        </p:nvSpPr>
        <p:spPr>
          <a:xfrm>
            <a:off x="365760" y="3236976"/>
            <a:ext cx="45720" cy="713232"/>
          </a:xfrm>
          <a:prstGeom prst="rect">
            <a:avLst/>
          </a:prstGeom>
          <a:solidFill>
            <a:srgbClr val="F4A261"/>
          </a:solidFill>
          <a:ln w="12700">
            <a:solidFill>
              <a:srgbClr val="F4A261"/>
            </a:solidFill>
            <a:prstDash val="solid"/>
          </a:ln>
        </p:spPr>
      </p:sp>
      <p:sp>
        <p:nvSpPr>
          <p:cNvPr id="18" name="Text 16"/>
          <p:cNvSpPr/>
          <p:nvPr/>
        </p:nvSpPr>
        <p:spPr>
          <a:xfrm>
            <a:off x="502920" y="3291840"/>
            <a:ext cx="8229600" cy="256032"/>
          </a:xfrm>
          <a:prstGeom prst="rect">
            <a:avLst/>
          </a:prstGeom>
          <a:noFill/>
          <a:ln/>
        </p:spPr>
        <p:txBody>
          <a:bodyPr wrap="square" rtlCol="0" anchor="ctr"/>
          <a:lstStyle/>
          <a:p>
            <a:pPr marL="0" indent="0">
              <a:buNone/>
            </a:pPr>
            <a:r>
              <a:rPr lang="en-US" sz="1200" b="1" dirty="0">
                <a:solidFill>
                  <a:srgbClr val="F4A261"/>
                </a:solidFill>
                <a:latin typeface="Calibri" pitchFamily="34" charset="0"/>
                <a:ea typeface="Calibri" pitchFamily="34" charset="-122"/>
                <a:cs typeface="Calibri" pitchFamily="34" charset="-120"/>
              </a:rPr>
              <a:t>📚  Compétences acquises</a:t>
            </a:r>
            <a:endParaRPr lang="en-US" sz="1200" dirty="0"/>
          </a:p>
        </p:txBody>
      </p:sp>
      <p:sp>
        <p:nvSpPr>
          <p:cNvPr id="19" name="Text 17"/>
          <p:cNvSpPr/>
          <p:nvPr/>
        </p:nvSpPr>
        <p:spPr>
          <a:xfrm>
            <a:off x="502920" y="3566160"/>
            <a:ext cx="8229600" cy="320040"/>
          </a:xfrm>
          <a:prstGeom prst="rect">
            <a:avLst/>
          </a:prstGeom>
          <a:noFill/>
          <a:ln/>
        </p:spPr>
        <p:txBody>
          <a:bodyPr wrap="square" rtlCol="0" anchor="ctr"/>
          <a:lstStyle/>
          <a:p>
            <a:pPr marL="0" indent="0">
              <a:buNone/>
            </a:pPr>
            <a:r>
              <a:rPr lang="en-US" sz="1000" dirty="0">
                <a:solidFill>
                  <a:srgbClr val="DDDDDD"/>
                </a:solidFill>
                <a:latin typeface="Calibri" pitchFamily="34" charset="0"/>
                <a:ea typeface="Calibri" pitchFamily="34" charset="-122"/>
                <a:cs typeface="Calibri" pitchFamily="34" charset="-120"/>
              </a:rPr>
              <a:t>Travail en équipe, choix techniques justifiés, résolution autonome de problèmes.</a:t>
            </a:r>
            <a:endParaRPr lang="en-US" sz="1000" dirty="0"/>
          </a:p>
        </p:txBody>
      </p:sp>
      <p:sp>
        <p:nvSpPr>
          <p:cNvPr id="20" name="Text 18"/>
          <p:cNvSpPr/>
          <p:nvPr/>
        </p:nvSpPr>
        <p:spPr>
          <a:xfrm>
            <a:off x="365760" y="4251960"/>
            <a:ext cx="8412480" cy="292608"/>
          </a:xfrm>
          <a:prstGeom prst="rect">
            <a:avLst/>
          </a:prstGeom>
          <a:noFill/>
          <a:ln/>
        </p:spPr>
        <p:txBody>
          <a:bodyPr wrap="square" rtlCol="0" anchor="ctr"/>
          <a:lstStyle/>
          <a:p>
            <a:pPr marL="0" indent="0" algn="ctr">
              <a:buNone/>
            </a:pPr>
            <a:r>
              <a:rPr lang="en-US" sz="950" i="1" dirty="0">
                <a:solidFill>
                  <a:srgbClr val="F4A261"/>
                </a:solidFill>
                <a:latin typeface="Calibri" pitchFamily="34" charset="0"/>
                <a:ea typeface="Calibri" pitchFamily="34" charset="-122"/>
                <a:cs typeface="Calibri" pitchFamily="34" charset="-120"/>
              </a:rPr>
              <a:t>Perspectives : application mobile React Native  |  Notifications WebSocket  |  Paiement Stripe  |  Déploiement cloud</a:t>
            </a:r>
            <a:endParaRPr lang="en-US" sz="950" dirty="0"/>
          </a:p>
        </p:txBody>
      </p:sp>
      <p:sp>
        <p:nvSpPr>
          <p:cNvPr id="21" name="Text 19"/>
          <p:cNvSpPr/>
          <p:nvPr/>
        </p:nvSpPr>
        <p:spPr>
          <a:xfrm>
            <a:off x="365760" y="4709160"/>
            <a:ext cx="8412480" cy="256032"/>
          </a:xfrm>
          <a:prstGeom prst="rect">
            <a:avLst/>
          </a:prstGeom>
          <a:noFill/>
          <a:ln/>
        </p:spPr>
        <p:txBody>
          <a:bodyPr wrap="square"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Merci pour votre attention — Nous sommes disponibles pour vos questions.</a:t>
            </a:r>
            <a:endParaRPr lang="en-US" sz="1000" dirty="0"/>
          </a:p>
        </p:txBody>
      </p:sp>
      <p:sp>
        <p:nvSpPr>
          <p:cNvPr id="22" name="Text 20"/>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19 / 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804</TotalTime>
  <Words>1457</Words>
  <Application>Microsoft Office PowerPoint</Application>
  <PresentationFormat>Affichage à l'écran (16:9)</PresentationFormat>
  <Paragraphs>338</Paragraphs>
  <Slides>22</Slides>
  <Notes>19</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22</vt:i4>
      </vt:variant>
    </vt:vector>
  </HeadingPairs>
  <TitlesOfParts>
    <vt:vector size="2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Web de Coaching Fitness</dc:title>
  <dc:subject>PptxGenJS Presentation</dc:subject>
  <dc:creator>EMSI Casablanca</dc:creator>
  <cp:lastModifiedBy>USER</cp:lastModifiedBy>
  <cp:revision>10</cp:revision>
  <dcterms:created xsi:type="dcterms:W3CDTF">2026-05-11T08:29:50Z</dcterms:created>
  <dcterms:modified xsi:type="dcterms:W3CDTF">2026-05-12T22:14:46Z</dcterms:modified>
</cp:coreProperties>
</file>