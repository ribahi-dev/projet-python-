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8" r:id="rId1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CDF258-7BB5-41DE-9AE8-B09DFF488E80}">
  <a:tblStyle styleId="{8ACDF258-7BB5-41DE-9AE8-B09DFF488E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11a72dfe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e11a72dfe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e11a72dfe4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EMSI – 3IIR G3 • Année universitaire 2025–2026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Blogora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9202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Plateforme de Blog Dynamique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51460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Publication · Interaction Sociale · Recommandation ML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154680"/>
            <a:ext cx="1371600" cy="36576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32918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Abdelaziz Chatit  ·  Younes El Bouamrani  ·  Meryem Zakariya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Encadrante : Mme. Kassid Asmaa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4B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4B49B"/>
                </a:solidFill>
                <a:latin typeface="Calibri"/>
                <a:ea typeface="Calibri"/>
                <a:cs typeface="Calibri"/>
                <a:sym typeface="Calibri"/>
              </a:rPr>
              <a:t>Casablanca, Maroc  |  Mai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DF8B6-04A7-F9C5-4A8E-B4E7BDE8D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80" y="16574"/>
            <a:ext cx="3771900" cy="1018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Contexte &amp; Problématique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868680"/>
            <a:ext cx="2560320" cy="109728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914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600M+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blogs actifs dans le monde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0" y="868680"/>
            <a:ext cx="2560320" cy="109728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91840" y="914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4,4 Mrd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9184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pages lues par jour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35040" y="868680"/>
            <a:ext cx="2560320" cy="109728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126480" y="914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+40%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12648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temps de visite grâce à l'interaction sociale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2176272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D6A4F"/>
                </a:solidFill>
                <a:latin typeface="Georgia"/>
                <a:ea typeface="Georgia"/>
                <a:cs typeface="Georgia"/>
                <a:sym typeface="Georgia"/>
              </a:rPr>
              <a:t>Limites des plateformes actuelles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" y="2560320"/>
            <a:ext cx="832104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Personnalisation limitée — thèmes figés, extensions payantes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Dépendance aux hébergeurs tiers — données hors contrôle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Coûts élevés pour les fonctionnalités avancées (analytics, reco, notifs)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Absence de conformité native avec la Loi 09-08 marocaine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Objectifs du projet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20040" y="91440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20040" y="91440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48056" y="102412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48056" y="1389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CRUD Éditeur WYSIWYG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48056" y="1755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Création, édition, publication et suppression d'articles avec éditeur riche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328416" y="102412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328416" y="1389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Interaction Sociale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328416" y="1755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Commentaires imbriqués, likes, sauvegardes, réactions emoji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080760" y="91440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080760" y="91440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208776" y="102412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208776" y="1389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Gestion des comptes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208776" y="1755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 sécurisée, profils, hiérarchie Lecteur · Auteur · Modérateur · Admin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" y="28346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" y="283464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48056" y="294436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48056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Notifications in-app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48056" y="367588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Alertes temps réel pour toutes les interactions sur les contenus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00400" y="283464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328416" y="294436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328416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Administration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328416" y="367588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Modération des contenus, approbation d'articles, gestion des utilisateurs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080760" y="28346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080760" y="283464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208776" y="294436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08776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Moteur de recommandation ML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208776" y="367588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SVD tronqué + signaux implicites pour une personnalisation fine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Stack Technologique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65760" y="996696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11480" y="10149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423160" y="1014984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3.11  ·  Django 4.2  ·  Django REST 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1655064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95D5B2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11480" y="1673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Base de données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423160" y="1673352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(utf8mb4)  ·  ORM Django  ·  select_related / prefetch_related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65760" y="2313432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11480" y="23317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423160" y="23317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  ·  CSS3  ·  Bootstrap 5  ·  JavaScript ES6+  ·  HTMX / AJAX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65760" y="2971800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95D5B2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11480" y="29900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Éditeur riche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423160" y="299008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TipTap / Quill.js (WYSIWYG)  ·  Pillow (images)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65760" y="3630168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11480" y="364845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ML / Recommandation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423160" y="3648456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 (TruncatedSVD)  ·  NumPy  ·  SciPy (matrices creuses)  ·  joblib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4288536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95D5B2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11480" y="43068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Auth &amp; Sécurité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423160" y="4306824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Django Auth  ·  Sessions sécurisées  ·  CSRF  ·  PBKDF2 / Argon2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Architecture Technique MVT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92608" y="868680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292608" y="868680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402336" y="9601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apps.blog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02336" y="1325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CRUD articles, WYSIWYG, slugs, pagination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200400" y="868680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3200400" y="868680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3310128" y="9601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apps.users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310128" y="1325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Auth, profils, rôles, préférences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108192" y="868680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108192" y="868680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217920" y="9601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apps.comments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Commentaires imbriqués, modération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92608" y="2221992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92608" y="2221992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02336" y="23134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apps.interactions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02336" y="26791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Like, SavedArticle, ArticleView, Reaction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200400" y="2221992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200400" y="2221992"/>
            <a:ext cx="2761488" cy="54864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310128" y="23134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52B788"/>
                </a:solidFill>
                <a:latin typeface="Consolas"/>
                <a:ea typeface="Consolas"/>
                <a:cs typeface="Consolas"/>
                <a:sym typeface="Consolas"/>
              </a:rPr>
              <a:t>apps.recommendations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310128" y="26791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SVD, features, cold start, API feed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108192" y="2221992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108192" y="2221992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217920" y="23134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apps.notifications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17920" y="26791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Signaux Django, dropdown, préférences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92608" y="3575304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92608" y="3575304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02336" y="36667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apps.taxonomy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02336" y="4032504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 &amp; Tag — M:N avec articles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200400" y="3575304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200400" y="3575304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310128" y="36667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apps.api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310128" y="4032504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Endpoints DRF : tracking, AJAX, reco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108192" y="3575304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6108192" y="3575304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217920" y="36667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apps.core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217920" y="4032504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Mixins communs, Timestamped, utilitaires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7406640" y="-731520"/>
            <a:ext cx="2743200" cy="27432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&amp; Perspectives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Points forts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Architecture modulaire Django en 9 applications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Moteur hybride SVD + cold start + préférences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Signaux implicites riches avec bonus durée de lecture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Workflow de publication complet avec modération admin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Interface réactive avec feedback immédiat (toast, AJAX)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Re-entraînement auto (Celery Beat, toutes les 24h)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Intégration des tags préférés dans le scoring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Cache Redis (TTL 30 min) pour les résultats fréquents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API REST OpenAPI/Swagger pour apps iOS/Android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Analytics auteur : rétention, durée moyenne, provenance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« La simplicité est la sophistication suprême. »  — Leonardo da Vinci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7498080" y="-274320"/>
            <a:ext cx="1828800" cy="1828800"/>
          </a:xfrm>
          <a:prstGeom prst="ellipse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Chapitre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160020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Conception UML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40080" y="2788920"/>
            <a:ext cx="1280160" cy="45720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40080" y="2971800"/>
            <a:ext cx="7315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cas d'utilisation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classes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sequence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communication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7498080" y="-274320"/>
            <a:ext cx="1828800" cy="1828800"/>
          </a:xfrm>
          <a:prstGeom prst="ellipse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-731520" y="3657600"/>
            <a:ext cx="2560200" cy="25602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Chapitre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40080" y="1600200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>
                <a:solidFill>
                  <a:srgbClr val="FFFFFF"/>
                </a:solidFill>
              </a:rPr>
              <a:t>Simulation Projet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40080" y="2788920"/>
            <a:ext cx="1280100" cy="45600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640080" y="2971800"/>
            <a:ext cx="73152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Après la présentation du projet, cette simulation permet de visualiser les différents scénarios d’utilisation et le comportement de l’application. 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_bg_1"/>
          <p:cNvSpPr/>
          <p:nvPr/>
        </p:nvSpPr>
        <p:spPr>
          <a:xfrm>
            <a:off x="7000000" y="-900000"/>
            <a:ext cx="3200400" cy="3200400"/>
          </a:xfrm>
          <a:prstGeom prst="ellipse">
            <a:avLst/>
          </a:prstGeom>
          <a:solidFill>
            <a:srgbClr val="2D6A4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ircle_bg_2"/>
          <p:cNvSpPr/>
          <p:nvPr/>
        </p:nvSpPr>
        <p:spPr>
          <a:xfrm>
            <a:off x="7600000" y="-400000"/>
            <a:ext cx="2000000" cy="200000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ircle_bg_3"/>
          <p:cNvSpPr/>
          <p:nvPr/>
        </p:nvSpPr>
        <p:spPr>
          <a:xfrm>
            <a:off x="-600000" y="4500000"/>
            <a:ext cx="2400000" cy="2400000"/>
          </a:xfrm>
          <a:prstGeom prst="ellipse">
            <a:avLst/>
          </a:prstGeom>
          <a:solidFill>
            <a:srgbClr val="2D6A4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ircle_bg_4"/>
          <p:cNvSpPr/>
          <p:nvPr/>
        </p:nvSpPr>
        <p:spPr>
          <a:xfrm>
            <a:off x="-200000" y="5000000"/>
            <a:ext cx="1200000" cy="120000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accent_pill"/>
          <p:cNvSpPr/>
          <p:nvPr/>
        </p:nvSpPr>
        <p:spPr>
          <a:xfrm>
            <a:off x="3200000" y="1050000"/>
            <a:ext cx="1600000" cy="2600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60960" tIns="30480" rIns="60960" bIns="30480" anchor="ctr" anchorCtr="1">
            <a:noAutofit/>
          </a:bodyPr>
          <a:lstStyle/>
          <a:p>
            <a:pPr algn="ctr">
              <a:buNone/>
            </a:pPr>
            <a:r>
              <a:rPr lang="fr-FR" sz="900" b="1" dirty="0">
                <a:solidFill>
                  <a:srgbClr val="1B4332"/>
                </a:solidFill>
                <a:latin typeface="Calibri"/>
              </a:rPr>
              <a:t>Blogora · 2026</a:t>
            </a:r>
          </a:p>
        </p:txBody>
      </p:sp>
      <p:sp>
        <p:nvSpPr>
          <p:cNvPr id="7" name="merci_title"/>
          <p:cNvSpPr/>
          <p:nvPr/>
        </p:nvSpPr>
        <p:spPr>
          <a:xfrm>
            <a:off x="457200" y="1300000"/>
            <a:ext cx="8686800" cy="1600000"/>
          </a:xfrm>
          <a:prstGeom prst="rect">
            <a:avLst/>
          </a:prstGeom>
          <a:noFill/>
        </p:spPr>
        <p:txBody>
          <a:bodyPr wrap="square" lIns="91425" tIns="45720" rIns="91425" bIns="4572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800" b="1" dirty="0">
                <a:solidFill>
                  <a:srgbClr val="FFFFFF"/>
                </a:solidFill>
                <a:latin typeface="Georgia"/>
              </a:rPr>
              <a:t>Merci !</a:t>
            </a:r>
          </a:p>
        </p:txBody>
      </p:sp>
      <p:sp>
        <p:nvSpPr>
          <p:cNvPr id="8" name="subtitle"/>
          <p:cNvSpPr/>
          <p:nvPr/>
        </p:nvSpPr>
        <p:spPr>
          <a:xfrm>
            <a:off x="457200" y="2920000"/>
            <a:ext cx="8686800" cy="500000"/>
          </a:xfrm>
          <a:prstGeom prst="rect">
            <a:avLst/>
          </a:prstGeom>
          <a:noFill/>
        </p:spPr>
        <p:txBody>
          <a:bodyPr wrap="square" lIns="91425" tIns="30480" rIns="91425" bIns="30480" anchor="ctr" anchorCtr="0">
            <a:noAutofit/>
          </a:bodyPr>
          <a:lstStyle/>
          <a:p>
            <a:pPr algn="ctr">
              <a:buNone/>
            </a:pPr>
            <a:r>
              <a:rPr lang="fr-FR" sz="2000" b="0" dirty="0">
                <a:solidFill>
                  <a:srgbClr val="95D5B2"/>
                </a:solidFill>
                <a:latin typeface="Calibri"/>
              </a:rPr>
              <a:t>Nous restons disponibles pour toute question.</a:t>
            </a:r>
          </a:p>
        </p:txBody>
      </p:sp>
      <p:sp>
        <p:nvSpPr>
          <p:cNvPr id="9" name="separator"/>
          <p:cNvSpPr/>
          <p:nvPr/>
        </p:nvSpPr>
        <p:spPr>
          <a:xfrm>
            <a:off x="3000000" y="3540000"/>
            <a:ext cx="3600000" cy="1905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am_names"/>
          <p:cNvSpPr/>
          <p:nvPr/>
        </p:nvSpPr>
        <p:spPr>
          <a:xfrm>
            <a:off x="457200" y="3620000"/>
            <a:ext cx="8686800" cy="400000"/>
          </a:xfrm>
          <a:prstGeom prst="rect">
            <a:avLst/>
          </a:prstGeom>
          <a:noFill/>
        </p:spPr>
        <p:txBody>
          <a:bodyPr wrap="square" lIns="91425" tIns="30480" rIns="91425" bIns="30480" anchor="ctr" anchorCtr="0">
            <a:no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Abdelaziz Chatit  ·  Younes El Bouamrani  ·  Meryem Zakariya</a:t>
            </a:r>
          </a:p>
        </p:txBody>
      </p:sp>
      <p:sp>
        <p:nvSpPr>
          <p:cNvPr id="11" name="encadrante"/>
          <p:cNvSpPr/>
          <p:nvPr/>
        </p:nvSpPr>
        <p:spPr>
          <a:xfrm>
            <a:off x="457200" y="4060000"/>
            <a:ext cx="8686800" cy="320000"/>
          </a:xfrm>
          <a:prstGeom prst="rect">
            <a:avLst/>
          </a:prstGeom>
          <a:noFill/>
        </p:spPr>
        <p:txBody>
          <a:bodyPr wrap="square" lIns="91425" tIns="30480" rIns="91425" bIns="30480" anchor="ctr" anchorCtr="0">
            <a:noAutofit/>
          </a:bodyPr>
          <a:lstStyle/>
          <a:p>
            <a:pPr algn="ctr">
              <a:buNone/>
            </a:pPr>
            <a:r>
              <a:rPr lang="fr-FR" sz="1100" b="0" i="1" dirty="0">
                <a:solidFill>
                  <a:srgbClr val="74C69D"/>
                </a:solidFill>
                <a:latin typeface="Calibri"/>
              </a:rPr>
              <a:t>Encadrante : Mme. Kassid Asmaa  ·  EMSI – 3IIR G3  ·  Casablanca, Maroc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On-screen Show (16:9)</PresentationFormat>
  <Paragraphs>106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Abdelaziz Chatit</cp:lastModifiedBy>
  <cp:revision>1</cp:revision>
  <dcterms:modified xsi:type="dcterms:W3CDTF">2026-05-12T10:52:22Z</dcterms:modified>
</cp:coreProperties>
</file>